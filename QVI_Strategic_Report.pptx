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4.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5.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6.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1" i="0" u="none" strike="noStrike">
                <a:solidFill>
                  <a:srgbClr val="0D1B2A"/>
                </a:solidFill>
                <a:latin typeface="Arial"/>
              </a:defRPr>
            </a:pPr>
            <a:r>
              <a:rPr sz="1300" b="1" i="0" u="none" strike="noStrike">
                <a:solidFill>
                  <a:srgbClr val="0D1B2A"/>
                </a:solidFill>
                <a:latin typeface="Arial"/>
              </a:rPr>
              <a:t>Revenue by Customer Tier</a:t>
            </a:r>
          </a:p>
        </c:rich>
      </c:tx>
      <c:layout/>
      <c:overlay val="0"/>
    </c:title>
    <c:autoTitleDeleted val="0"/>
    <c:plotArea>
      <c:layout/>
      <c:doughnutChart>
        <c:varyColors val="1"/>
        <c:ser>
          <c:idx val="0"/>
          <c:order val="0"/>
          <c:tx>
            <c:strRef>
              <c:f>Sheet1!$B$1</c:f>
              <c:strCache>
                <c:ptCount val="1"/>
                <c:pt idx="0">
                  <c:v>Share of Sales</c:v>
                </c:pt>
              </c:strCache>
            </c:strRef>
          </c:tx>
          <c:spPr>
            <a:solidFill>
              <a:schemeClr val="accent1"/>
            </a:solidFill>
            <a:ln w="9525" cap="flat">
              <a:solidFill>
                <a:srgbClr val="F9F9F9"/>
              </a:solidFill>
              <a:prstDash val="solid"/>
              <a:round/>
            </a:ln>
            <a:effectLst/>
          </c:spPr>
          <c:dPt>
            <c:idx val="0"/>
            <c:bubble3D val="0"/>
            <c:spPr>
              <a:solidFill>
                <a:srgbClr val="2E86C1"/>
              </a:solidFill>
              <a:effectLst/>
            </c:spPr>
          </c:dPt>
          <c:dPt>
            <c:idx val="1"/>
            <c:bubble3D val="0"/>
            <c:spPr>
              <a:solidFill>
                <a:srgbClr val="148F77"/>
              </a:solidFill>
              <a:effectLst/>
            </c:spPr>
          </c:dPt>
          <c:dPt>
            <c:idx val="2"/>
            <c:bubble3D val="0"/>
            <c:spPr>
              <a:solidFill>
                <a:srgbClr val="D4AC0D"/>
              </a:solidFill>
              <a:effectLst/>
            </c:spPr>
          </c:dPt>
          <c:dLbls>
            <c:dLbl>
              <c:idx val="0"/>
              <c:numFmt formatCode="0%" sourceLinked="0"/>
              <c:spPr/>
              <c:txPr>
                <a:bodyPr/>
                <a:lstStyle/>
                <a:p>
                  <a:pPr>
                    <a:defRPr sz="1100" b="0" i="0" u="none" strike="noStrike">
                      <a:solidFill>
                        <a:srgbClr val="000000"/>
                      </a:solidFill>
                      <a:latin typeface="Arial"/>
                    </a:defRPr>
                  </a:pPr>
                </a:p>
              </c:txPr>
              <c:showLegendKey val="0"/>
              <c:showVal val="0"/>
              <c:showCatName val="1"/>
              <c:showSerName val="0"/>
              <c:showPercent val="1"/>
              <c:showBubbleSize val="0"/>
            </c:dLbl>
            <c:dLbl>
              <c:idx val="1"/>
              <c:numFmt formatCode="0%" sourceLinked="0"/>
              <c:spPr/>
              <c:txPr>
                <a:bodyPr/>
                <a:lstStyle/>
                <a:p>
                  <a:pPr>
                    <a:defRPr sz="1100" b="0" i="0" u="none" strike="noStrike">
                      <a:solidFill>
                        <a:srgbClr val="000000"/>
                      </a:solidFill>
                      <a:latin typeface="Arial"/>
                    </a:defRPr>
                  </a:pPr>
                </a:p>
              </c:txPr>
              <c:showLegendKey val="0"/>
              <c:showVal val="0"/>
              <c:showCatName val="1"/>
              <c:showSerName val="0"/>
              <c:showPercent val="1"/>
              <c:showBubbleSize val="0"/>
            </c:dLbl>
            <c:dLbl>
              <c:idx val="2"/>
              <c:numFmt formatCode="0%" sourceLinked="0"/>
              <c:spPr/>
              <c:txPr>
                <a:bodyPr/>
                <a:lstStyle/>
                <a:p>
                  <a:pPr>
                    <a:defRPr sz="1100" b="0" i="0" u="none" strike="noStrike">
                      <a:solidFill>
                        <a:srgbClr val="000000"/>
                      </a:solidFill>
                      <a:latin typeface="Arial"/>
                    </a:defRPr>
                  </a:pPr>
                </a:p>
              </c:txPr>
              <c:showLegendKey val="0"/>
              <c:showVal val="0"/>
              <c:showCatName val="1"/>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Mainstream
38.8%</c:v>
                </c:pt>
                <c:pt idx="1">
                  <c:v>Budget
35.0%</c:v>
                </c:pt>
                <c:pt idx="2">
                  <c:v>Premium
26.2%</c:v>
                </c:pt>
              </c:strCache>
            </c:strRef>
          </c:cat>
          <c:val>
            <c:numRef>
              <c:f>Sheet1!$B$2:$B$4</c:f>
              <c:numCache>
                <c:ptCount val="3"/>
                <c:pt idx="0">
                  <c:v>750744</c:v>
                </c:pt>
                <c:pt idx="1">
                  <c:v>676212</c:v>
                </c:pt>
                <c:pt idx="2">
                  <c:v>506159</c:v>
                </c:pt>
              </c:numCache>
            </c:numRef>
          </c:val>
        </c:ser>
        <c:firstSliceAng val="0"/>
        <c:holeSize val="55"/>
      </c:doughnutChart>
      <c:spPr>
        <a:noFill/>
        <a:ln>
          <a:noFill/>
        </a:ln>
        <a:effectLst/>
      </c:spPr>
    </c:plotArea>
    <c:legend>
      <c:legendPos val="b"/>
      <c:overlay val="0"/>
    </c:legend>
    <c:plotVisOnly val="1"/>
    <c:dispBlanksAs val="span"/>
  </c:chart>
  <c:spPr>
    <a:solidFill>
      <a:srgbClr val="F7F9FC"/>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Total Sales ($)</c:v>
                </c:pt>
              </c:strCache>
            </c:strRef>
          </c:tx>
          <c:spPr>
            <a:solidFill>
              <a:srgbClr val="1B4F72"/>
            </a:solidFill>
            <a:effectLst/>
          </c:spPr>
          <c:invertIfNegative val="0"/>
          <c:dLbls>
            <c:numFmt formatCode="#,##0" sourceLinked="0"/>
            <c:txPr>
              <a:bodyPr/>
              <a:lstStyle/>
              <a:p>
                <a:pPr>
                  <a:defRPr b="0" i="0" strike="noStrike" sz="1100" u="none">
                    <a:solidFill>
                      <a:srgbClr val="0D1B2A"/>
                    </a:solidFill>
                    <a:latin typeface="Arial"/>
                  </a:defRPr>
                </a:pPr>
              </a:p>
            </c:txPr>
            <c:showLegendKey val="0"/>
            <c:showVal val="1"/>
            <c:showCatName val="0"/>
            <c:showSerName val="0"/>
            <c:showPercent val="0"/>
            <c:showBubbleSize val="0"/>
            <c:showLeaderLines val="0"/>
          </c:dLbls>
          <c:dPt>
            <c:idx val="0"/>
            <c:invertIfNegative val="0"/>
            <c:bubble3D val="0"/>
            <c:spPr>
              <a:solidFill>
                <a:srgbClr val="1B4F72"/>
              </a:solidFill>
              <a:effectLst/>
            </c:spPr>
          </c:dPt>
          <c:dPt>
            <c:idx val="1"/>
            <c:invertIfNegative val="0"/>
            <c:bubble3D val="0"/>
            <c:spPr>
              <a:solidFill>
                <a:srgbClr val="2E86C1"/>
              </a:solidFill>
              <a:effectLst/>
            </c:spPr>
          </c:dPt>
          <c:dPt>
            <c:idx val="2"/>
            <c:invertIfNegative val="0"/>
            <c:bubble3D val="0"/>
            <c:spPr>
              <a:solidFill>
                <a:srgbClr val="148F77"/>
              </a:solidFill>
              <a:effectLst/>
            </c:spPr>
          </c:dPt>
          <c:dPt>
            <c:idx val="3"/>
            <c:invertIfNegative val="0"/>
            <c:bubble3D val="0"/>
            <c:spPr>
              <a:solidFill>
                <a:srgbClr val="1E8449"/>
              </a:solidFill>
              <a:effectLst/>
            </c:spPr>
          </c:dPt>
          <c:dPt>
            <c:idx val="4"/>
            <c:invertIfNegative val="0"/>
            <c:bubble3D val="0"/>
            <c:spPr>
              <a:solidFill>
                <a:srgbClr val="52BE80"/>
              </a:solidFill>
              <a:effectLst/>
            </c:spPr>
          </c:dPt>
          <c:cat>
            <c:multiLvlStrRef>
              <c:f>Sheet1!$A$2:$A$6</c:f>
              <c:multiLvlStrCache>
                <c:ptCount val="5"/>
                <c:lvl>
                  <c:pt idx="0">
                    <c:v>Older Families
(Budget)</c:v>
                  </c:pt>
                  <c:pt idx="1">
                    <c:v>Young Singles
(Mainstream)</c:v>
                  </c:pt>
                  <c:pt idx="2">
                    <c:v>Retirees
(Mainstream)</c:v>
                  </c:pt>
                  <c:pt idx="3">
                    <c:v>Young Families
(Budget)</c:v>
                  </c:pt>
                  <c:pt idx="4">
                    <c:v>Older Singles
(Budget)</c:v>
                  </c:pt>
                </c:lvl>
              </c:multiLvlStrCache>
            </c:multiLvlStrRef>
          </c:cat>
          <c:val>
            <c:numRef>
              <c:f>Sheet1!$B$2:$B$6</c:f>
              <c:numCache>
                <c:formatCode>General</c:formatCode>
                <c:ptCount val="5"/>
                <c:pt idx="0">
                  <c:v>168363</c:v>
                </c:pt>
                <c:pt idx="1">
                  <c:v>157622</c:v>
                </c:pt>
                <c:pt idx="2">
                  <c:v>155677</c:v>
                </c:pt>
                <c:pt idx="3">
                  <c:v>139346</c:v>
                </c:pt>
                <c:pt idx="4">
                  <c:v>136770</c:v>
                </c:pt>
              </c:numCache>
            </c:numRef>
          </c:val>
        </c:ser>
        <c:dLbls>
          <c:numFmt formatCode="#,##0" sourceLinked="0"/>
          <c:txPr>
            <a:bodyPr/>
            <a:lstStyle/>
            <a:p>
              <a:pPr>
                <a:defRPr b="0" i="0" strike="noStrike" sz="1100" u="none">
                  <a:solidFill>
                    <a:srgbClr val="0D1B2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66573"/>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5E8E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66573"/>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7F9FC"/>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D1B2A"/>
                </a:solidFill>
                <a:latin typeface="Arial"/>
              </a:defRPr>
            </a:pPr>
            <a:r>
              <a:rPr sz="1200" b="0" i="0" u="none" strike="noStrike">
                <a:solidFill>
                  <a:srgbClr val="0D1B2A"/>
                </a:solidFill>
                <a:latin typeface="Arial"/>
              </a:rPr>
              <a:t>Monthly Sales ($) — Jul 2018 to Jun 2019</a:t>
            </a:r>
          </a:p>
        </c:rich>
      </c:tx>
      <c:layout/>
      <c:overlay val="0"/>
    </c:title>
    <c:autoTitleDeleted val="0"/>
    <c:plotArea>
      <c:layout/>
      <c:lineChart>
        <c:varyColors val="0"/>
        <c:ser>
          <c:idx val="0"/>
          <c:order val="0"/>
          <c:tx>
            <c:strRef>
              <c:f>Sheet1!$B$1</c:f>
              <c:strCache>
                <c:ptCount val="1"/>
                <c:pt idx="0">
                  <c:v>Trial Store 77</c:v>
                </c:pt>
              </c:strCache>
            </c:strRef>
          </c:tx>
          <c:spPr>
            <a:solidFill>
              <a:srgbClr val="1B4F72"/>
            </a:solidFill>
            <a:ln w="31750" cap="flat">
              <a:solidFill>
                <a:srgbClr val="1B4F7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B4F72"/>
              </a:solidFill>
              <a:ln w="9525" cap="flat">
                <a:solidFill>
                  <a:srgbClr val="1B4F72"/>
                </a:solidFill>
                <a:prstDash val="solid"/>
                <a:round/>
              </a:ln>
              <a:effectLst/>
            </c:spPr>
          </c:marker>
          <c:cat>
            <c:multiLvlStrRef>
              <c:f>Sheet1!$A$2:$A$13</c:f>
              <c:multiLvlStrCache>
                <c:ptCount val="12"/>
                <c:lvl>
                  <c:pt idx="0">
                    <c:v>Jul</c:v>
                  </c:pt>
                  <c:pt idx="1">
                    <c:v>Aug</c:v>
                  </c:pt>
                  <c:pt idx="2">
                    <c:v>Sep</c:v>
                  </c:pt>
                  <c:pt idx="3">
                    <c:v>Oct</c:v>
                  </c:pt>
                  <c:pt idx="4">
                    <c:v>Nov</c:v>
                  </c:pt>
                  <c:pt idx="5">
                    <c:v>Dec</c:v>
                  </c:pt>
                  <c:pt idx="6">
                    <c:v>Jan</c:v>
                  </c:pt>
                  <c:pt idx="7">
                    <c:v>Feb</c:v>
                  </c:pt>
                  <c:pt idx="8">
                    <c:v>Mar</c:v>
                  </c:pt>
                  <c:pt idx="9">
                    <c:v>Apr</c:v>
                  </c:pt>
                  <c:pt idx="10">
                    <c:v>May</c:v>
                  </c:pt>
                  <c:pt idx="11">
                    <c:v>Jun</c:v>
                  </c:pt>
                </c:lvl>
              </c:multiLvlStrCache>
            </c:multiLvlStrRef>
          </c:cat>
          <c:val>
            <c:numRef>
              <c:f>Sheet1!$B$2:$B$13</c:f>
              <c:numCache>
                <c:formatCode>General</c:formatCode>
                <c:ptCount val="12"/>
                <c:pt idx="0">
                  <c:v>297</c:v>
                </c:pt>
                <c:pt idx="1">
                  <c:v>256</c:v>
                </c:pt>
                <c:pt idx="2">
                  <c:v>225</c:v>
                </c:pt>
                <c:pt idx="3">
                  <c:v>204</c:v>
                </c:pt>
                <c:pt idx="4">
                  <c:v>245</c:v>
                </c:pt>
                <c:pt idx="5">
                  <c:v>267</c:v>
                </c:pt>
                <c:pt idx="6">
                  <c:v>204</c:v>
                </c:pt>
                <c:pt idx="7">
                  <c:v>235</c:v>
                </c:pt>
                <c:pt idx="8">
                  <c:v>278</c:v>
                </c:pt>
                <c:pt idx="9">
                  <c:v>264</c:v>
                </c:pt>
                <c:pt idx="10">
                  <c:v>299</c:v>
                </c:pt>
                <c:pt idx="11">
                  <c:v>265</c:v>
                </c:pt>
              </c:numCache>
            </c:numRef>
          </c:val>
          <c:smooth val="0"/>
        </c:ser>
        <c:ser>
          <c:idx val="1"/>
          <c:order val="1"/>
          <c:tx>
            <c:strRef>
              <c:f>Sheet1!$C$1</c:f>
              <c:strCache>
                <c:ptCount val="1"/>
                <c:pt idx="0">
                  <c:v>Control Store 233 (scaled)</c:v>
                </c:pt>
              </c:strCache>
            </c:strRef>
          </c:tx>
          <c:spPr>
            <a:solidFill>
              <a:srgbClr val="CA6F1E"/>
            </a:solidFill>
            <a:ln w="31750" cap="flat">
              <a:solidFill>
                <a:srgbClr val="CA6F1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CA6F1E"/>
              </a:solidFill>
              <a:ln w="9525" cap="flat">
                <a:solidFill>
                  <a:srgbClr val="CA6F1E"/>
                </a:solidFill>
                <a:prstDash val="solid"/>
                <a:round/>
              </a:ln>
              <a:effectLst/>
            </c:spPr>
          </c:marker>
          <c:cat>
            <c:multiLvlStrRef>
              <c:f>Sheet1!$A$2:$A$13</c:f>
              <c:multiLvlStrCache>
                <c:ptCount val="12"/>
                <c:lvl>
                  <c:pt idx="0">
                    <c:v>Jul</c:v>
                  </c:pt>
                  <c:pt idx="1">
                    <c:v>Aug</c:v>
                  </c:pt>
                  <c:pt idx="2">
                    <c:v>Sep</c:v>
                  </c:pt>
                  <c:pt idx="3">
                    <c:v>Oct</c:v>
                  </c:pt>
                  <c:pt idx="4">
                    <c:v>Nov</c:v>
                  </c:pt>
                  <c:pt idx="5">
                    <c:v>Dec</c:v>
                  </c:pt>
                  <c:pt idx="6">
                    <c:v>Jan</c:v>
                  </c:pt>
                  <c:pt idx="7">
                    <c:v>Feb</c:v>
                  </c:pt>
                  <c:pt idx="8">
                    <c:v>Mar</c:v>
                  </c:pt>
                  <c:pt idx="9">
                    <c:v>Apr</c:v>
                  </c:pt>
                  <c:pt idx="10">
                    <c:v>May</c:v>
                  </c:pt>
                  <c:pt idx="11">
                    <c:v>Jun</c:v>
                  </c:pt>
                </c:lvl>
              </c:multiLvlStrCache>
            </c:multiLvlStrRef>
          </c:cat>
          <c:val>
            <c:numRef>
              <c:f>Sheet1!$C$2:$C$13</c:f>
              <c:numCache>
                <c:formatCode>General</c:formatCode>
                <c:ptCount val="12"/>
                <c:pt idx="0">
                  <c:v>298</c:v>
                </c:pt>
                <c:pt idx="1">
                  <c:v>293</c:v>
                </c:pt>
                <c:pt idx="2">
                  <c:v>234</c:v>
                </c:pt>
                <c:pt idx="3">
                  <c:v>190</c:v>
                </c:pt>
                <c:pt idx="4">
                  <c:v>217</c:v>
                </c:pt>
                <c:pt idx="5">
                  <c:v>286</c:v>
                </c:pt>
                <c:pt idx="6">
                  <c:v>182</c:v>
                </c:pt>
                <c:pt idx="7">
                  <c:v>250</c:v>
                </c:pt>
                <c:pt idx="8">
                  <c:v>204</c:v>
                </c:pt>
                <c:pt idx="9">
                  <c:v>162</c:v>
                </c:pt>
                <c:pt idx="10">
                  <c:v>353</c:v>
                </c:pt>
                <c:pt idx="11">
                  <c:v>226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66573"/>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5E8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66573"/>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chart>
  <c:spPr>
    <a:solidFill>
      <a:srgbClr val="F7F9FC"/>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D1B2A"/>
                </a:solidFill>
                <a:latin typeface="Arial"/>
              </a:defRPr>
            </a:pPr>
            <a:r>
              <a:rPr sz="1200" b="0" i="0" u="none" strike="noStrike">
                <a:solidFill>
                  <a:srgbClr val="0D1B2A"/>
                </a:solidFill>
                <a:latin typeface="Arial"/>
              </a:rPr>
              <a:t>Monthly Sales ($) — Jul 2018 to Jun 2019</a:t>
            </a:r>
          </a:p>
        </c:rich>
      </c:tx>
      <c:layout/>
      <c:overlay val="0"/>
    </c:title>
    <c:autoTitleDeleted val="0"/>
    <c:plotArea>
      <c:layout/>
      <c:lineChart>
        <c:varyColors val="0"/>
        <c:ser>
          <c:idx val="0"/>
          <c:order val="0"/>
          <c:tx>
            <c:strRef>
              <c:f>Sheet1!$B$1</c:f>
              <c:strCache>
                <c:ptCount val="1"/>
                <c:pt idx="0">
                  <c:v>Trial Store 86</c:v>
                </c:pt>
              </c:strCache>
            </c:strRef>
          </c:tx>
          <c:spPr>
            <a:solidFill>
              <a:srgbClr val="1B4F72"/>
            </a:solidFill>
            <a:ln w="31750" cap="flat">
              <a:solidFill>
                <a:srgbClr val="1B4F7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B4F72"/>
              </a:solidFill>
              <a:ln w="9525" cap="flat">
                <a:solidFill>
                  <a:srgbClr val="1B4F72"/>
                </a:solidFill>
                <a:prstDash val="solid"/>
                <a:round/>
              </a:ln>
              <a:effectLst/>
            </c:spPr>
          </c:marker>
          <c:cat>
            <c:multiLvlStrRef>
              <c:f>Sheet1!$A$2:$A$13</c:f>
              <c:multiLvlStrCache>
                <c:ptCount val="12"/>
                <c:lvl>
                  <c:pt idx="0">
                    <c:v>Jul</c:v>
                  </c:pt>
                  <c:pt idx="1">
                    <c:v>Aug</c:v>
                  </c:pt>
                  <c:pt idx="2">
                    <c:v>Sep</c:v>
                  </c:pt>
                  <c:pt idx="3">
                    <c:v>Oct</c:v>
                  </c:pt>
                  <c:pt idx="4">
                    <c:v>Nov</c:v>
                  </c:pt>
                  <c:pt idx="5">
                    <c:v>Dec</c:v>
                  </c:pt>
                  <c:pt idx="6">
                    <c:v>Jan</c:v>
                  </c:pt>
                  <c:pt idx="7">
                    <c:v>Feb</c:v>
                  </c:pt>
                  <c:pt idx="8">
                    <c:v>Mar</c:v>
                  </c:pt>
                  <c:pt idx="9">
                    <c:v>Apr</c:v>
                  </c:pt>
                  <c:pt idx="10">
                    <c:v>May</c:v>
                  </c:pt>
                  <c:pt idx="11">
                    <c:v>Jun</c:v>
                  </c:pt>
                </c:lvl>
              </c:multiLvlStrCache>
            </c:multiLvlStrRef>
          </c:cat>
          <c:val>
            <c:numRef>
              <c:f>Sheet1!$B$2:$B$13</c:f>
              <c:numCache>
                <c:formatCode>General</c:formatCode>
                <c:ptCount val="12"/>
                <c:pt idx="0">
                  <c:v>892</c:v>
                </c:pt>
                <c:pt idx="1">
                  <c:v>764</c:v>
                </c:pt>
                <c:pt idx="2">
                  <c:v>915</c:v>
                </c:pt>
                <c:pt idx="3">
                  <c:v>948</c:v>
                </c:pt>
                <c:pt idx="4">
                  <c:v>918</c:v>
                </c:pt>
                <c:pt idx="5">
                  <c:v>841</c:v>
                </c:pt>
                <c:pt idx="6">
                  <c:v>841</c:v>
                </c:pt>
                <c:pt idx="7">
                  <c:v>913</c:v>
                </c:pt>
                <c:pt idx="8">
                  <c:v>1027</c:v>
                </c:pt>
                <c:pt idx="9">
                  <c:v>848</c:v>
                </c:pt>
                <c:pt idx="10">
                  <c:v>889</c:v>
                </c:pt>
                <c:pt idx="11">
                  <c:v>838</c:v>
                </c:pt>
              </c:numCache>
            </c:numRef>
          </c:val>
          <c:smooth val="0"/>
        </c:ser>
        <c:ser>
          <c:idx val="1"/>
          <c:order val="1"/>
          <c:tx>
            <c:strRef>
              <c:f>Sheet1!$C$1</c:f>
              <c:strCache>
                <c:ptCount val="1"/>
                <c:pt idx="0">
                  <c:v>Control Store 155 (scaled)</c:v>
                </c:pt>
              </c:strCache>
            </c:strRef>
          </c:tx>
          <c:spPr>
            <a:solidFill>
              <a:srgbClr val="CA6F1E"/>
            </a:solidFill>
            <a:ln w="31750" cap="flat">
              <a:solidFill>
                <a:srgbClr val="CA6F1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CA6F1E"/>
              </a:solidFill>
              <a:ln w="9525" cap="flat">
                <a:solidFill>
                  <a:srgbClr val="CA6F1E"/>
                </a:solidFill>
                <a:prstDash val="solid"/>
                <a:round/>
              </a:ln>
              <a:effectLst/>
            </c:spPr>
          </c:marker>
          <c:cat>
            <c:multiLvlStrRef>
              <c:f>Sheet1!$A$2:$A$13</c:f>
              <c:multiLvlStrCache>
                <c:ptCount val="12"/>
                <c:lvl>
                  <c:pt idx="0">
                    <c:v>Jul</c:v>
                  </c:pt>
                  <c:pt idx="1">
                    <c:v>Aug</c:v>
                  </c:pt>
                  <c:pt idx="2">
                    <c:v>Sep</c:v>
                  </c:pt>
                  <c:pt idx="3">
                    <c:v>Oct</c:v>
                  </c:pt>
                  <c:pt idx="4">
                    <c:v>Nov</c:v>
                  </c:pt>
                  <c:pt idx="5">
                    <c:v>Dec</c:v>
                  </c:pt>
                  <c:pt idx="6">
                    <c:v>Jan</c:v>
                  </c:pt>
                  <c:pt idx="7">
                    <c:v>Feb</c:v>
                  </c:pt>
                  <c:pt idx="8">
                    <c:v>Mar</c:v>
                  </c:pt>
                  <c:pt idx="9">
                    <c:v>Apr</c:v>
                  </c:pt>
                  <c:pt idx="10">
                    <c:v>May</c:v>
                  </c:pt>
                  <c:pt idx="11">
                    <c:v>Jun</c:v>
                  </c:pt>
                </c:lvl>
              </c:multiLvlStrCache>
            </c:multiLvlStrRef>
          </c:cat>
          <c:val>
            <c:numRef>
              <c:f>Sheet1!$C$2:$C$13</c:f>
              <c:numCache>
                <c:formatCode>General</c:formatCode>
                <c:ptCount val="12"/>
                <c:pt idx="0">
                  <c:v>897</c:v>
                </c:pt>
                <c:pt idx="1">
                  <c:v>759</c:v>
                </c:pt>
                <c:pt idx="2">
                  <c:v>984</c:v>
                </c:pt>
                <c:pt idx="3">
                  <c:v>935</c:v>
                </c:pt>
                <c:pt idx="4">
                  <c:v>872</c:v>
                </c:pt>
                <c:pt idx="5">
                  <c:v>824</c:v>
                </c:pt>
                <c:pt idx="6">
                  <c:v>848</c:v>
                </c:pt>
                <c:pt idx="7">
                  <c:v>865</c:v>
                </c:pt>
                <c:pt idx="8">
                  <c:v>780</c:v>
                </c:pt>
                <c:pt idx="9">
                  <c:v>819</c:v>
                </c:pt>
                <c:pt idx="10">
                  <c:v>895</c:v>
                </c:pt>
                <c:pt idx="11">
                  <c:v>832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66573"/>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5E8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66573"/>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chart>
  <c:spPr>
    <a:solidFill>
      <a:srgbClr val="F7F9FC"/>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D1B2A"/>
                </a:solidFill>
                <a:latin typeface="Arial"/>
              </a:defRPr>
            </a:pPr>
            <a:r>
              <a:rPr sz="1200" b="0" i="0" u="none" strike="noStrike">
                <a:solidFill>
                  <a:srgbClr val="0D1B2A"/>
                </a:solidFill>
                <a:latin typeface="Arial"/>
              </a:rPr>
              <a:t>Monthly Sales ($) — Jul 2018 to Jun 2019</a:t>
            </a:r>
          </a:p>
        </c:rich>
      </c:tx>
      <c:layout/>
      <c:overlay val="0"/>
    </c:title>
    <c:autoTitleDeleted val="0"/>
    <c:plotArea>
      <c:layout/>
      <c:lineChart>
        <c:varyColors val="0"/>
        <c:ser>
          <c:idx val="0"/>
          <c:order val="0"/>
          <c:tx>
            <c:strRef>
              <c:f>Sheet1!$B$1</c:f>
              <c:strCache>
                <c:ptCount val="1"/>
                <c:pt idx="0">
                  <c:v>Trial Store 88</c:v>
                </c:pt>
              </c:strCache>
            </c:strRef>
          </c:tx>
          <c:spPr>
            <a:solidFill>
              <a:srgbClr val="1B4F72"/>
            </a:solidFill>
            <a:ln w="31750" cap="flat">
              <a:solidFill>
                <a:srgbClr val="1B4F7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B4F72"/>
              </a:solidFill>
              <a:ln w="9525" cap="flat">
                <a:solidFill>
                  <a:srgbClr val="1B4F72"/>
                </a:solidFill>
                <a:prstDash val="solid"/>
                <a:round/>
              </a:ln>
              <a:effectLst/>
            </c:spPr>
          </c:marker>
          <c:cat>
            <c:multiLvlStrRef>
              <c:f>Sheet1!$A$2:$A$13</c:f>
              <c:multiLvlStrCache>
                <c:ptCount val="12"/>
                <c:lvl>
                  <c:pt idx="0">
                    <c:v>Jul</c:v>
                  </c:pt>
                  <c:pt idx="1">
                    <c:v>Aug</c:v>
                  </c:pt>
                  <c:pt idx="2">
                    <c:v>Sep</c:v>
                  </c:pt>
                  <c:pt idx="3">
                    <c:v>Oct</c:v>
                  </c:pt>
                  <c:pt idx="4">
                    <c:v>Nov</c:v>
                  </c:pt>
                  <c:pt idx="5">
                    <c:v>Dec</c:v>
                  </c:pt>
                  <c:pt idx="6">
                    <c:v>Jan</c:v>
                  </c:pt>
                  <c:pt idx="7">
                    <c:v>Feb</c:v>
                  </c:pt>
                  <c:pt idx="8">
                    <c:v>Mar</c:v>
                  </c:pt>
                  <c:pt idx="9">
                    <c:v>Apr</c:v>
                  </c:pt>
                  <c:pt idx="10">
                    <c:v>May</c:v>
                  </c:pt>
                  <c:pt idx="11">
                    <c:v>Jun</c:v>
                  </c:pt>
                </c:lvl>
              </c:multiLvlStrCache>
            </c:multiLvlStrRef>
          </c:cat>
          <c:val>
            <c:numRef>
              <c:f>Sheet1!$B$2:$B$13</c:f>
              <c:numCache>
                <c:formatCode>General</c:formatCode>
                <c:ptCount val="12"/>
                <c:pt idx="0">
                  <c:v>1310</c:v>
                </c:pt>
                <c:pt idx="1">
                  <c:v>1324</c:v>
                </c:pt>
                <c:pt idx="2">
                  <c:v>1423</c:v>
                </c:pt>
                <c:pt idx="3">
                  <c:v>1352</c:v>
                </c:pt>
                <c:pt idx="4">
                  <c:v>1383</c:v>
                </c:pt>
                <c:pt idx="5">
                  <c:v>1325</c:v>
                </c:pt>
                <c:pt idx="6">
                  <c:v>1266</c:v>
                </c:pt>
                <c:pt idx="7">
                  <c:v>1370</c:v>
                </c:pt>
                <c:pt idx="8">
                  <c:v>1477</c:v>
                </c:pt>
                <c:pt idx="9">
                  <c:v>1439</c:v>
                </c:pt>
                <c:pt idx="10">
                  <c:v>1308</c:v>
                </c:pt>
                <c:pt idx="11">
                  <c:v>1355</c:v>
                </c:pt>
              </c:numCache>
            </c:numRef>
          </c:val>
          <c:smooth val="0"/>
        </c:ser>
        <c:ser>
          <c:idx val="1"/>
          <c:order val="1"/>
          <c:tx>
            <c:strRef>
              <c:f>Sheet1!$C$1</c:f>
              <c:strCache>
                <c:ptCount val="1"/>
                <c:pt idx="0">
                  <c:v>Control Store 91 (scaled)</c:v>
                </c:pt>
              </c:strCache>
            </c:strRef>
          </c:tx>
          <c:spPr>
            <a:solidFill>
              <a:srgbClr val="CA6F1E"/>
            </a:solidFill>
            <a:ln w="31750" cap="flat">
              <a:solidFill>
                <a:srgbClr val="CA6F1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CA6F1E"/>
              </a:solidFill>
              <a:ln w="9525" cap="flat">
                <a:solidFill>
                  <a:srgbClr val="CA6F1E"/>
                </a:solidFill>
                <a:prstDash val="solid"/>
                <a:round/>
              </a:ln>
              <a:effectLst/>
            </c:spPr>
          </c:marker>
          <c:cat>
            <c:multiLvlStrRef>
              <c:f>Sheet1!$A$2:$A$13</c:f>
              <c:multiLvlStrCache>
                <c:ptCount val="12"/>
                <c:lvl>
                  <c:pt idx="0">
                    <c:v>Jul</c:v>
                  </c:pt>
                  <c:pt idx="1">
                    <c:v>Aug</c:v>
                  </c:pt>
                  <c:pt idx="2">
                    <c:v>Sep</c:v>
                  </c:pt>
                  <c:pt idx="3">
                    <c:v>Oct</c:v>
                  </c:pt>
                  <c:pt idx="4">
                    <c:v>Nov</c:v>
                  </c:pt>
                  <c:pt idx="5">
                    <c:v>Dec</c:v>
                  </c:pt>
                  <c:pt idx="6">
                    <c:v>Jan</c:v>
                  </c:pt>
                  <c:pt idx="7">
                    <c:v>Feb</c:v>
                  </c:pt>
                  <c:pt idx="8">
                    <c:v>Mar</c:v>
                  </c:pt>
                  <c:pt idx="9">
                    <c:v>Apr</c:v>
                  </c:pt>
                  <c:pt idx="10">
                    <c:v>May</c:v>
                  </c:pt>
                  <c:pt idx="11">
                    <c:v>Jun</c:v>
                  </c:pt>
                </c:lvl>
              </c:multiLvlStrCache>
            </c:multiLvlStrRef>
          </c:cat>
          <c:val>
            <c:numRef>
              <c:f>Sheet1!$C$2:$C$13</c:f>
              <c:numCache>
                <c:formatCode>General</c:formatCode>
                <c:ptCount val="12"/>
                <c:pt idx="0">
                  <c:v>1247</c:v>
                </c:pt>
                <c:pt idx="1">
                  <c:v>1380</c:v>
                </c:pt>
                <c:pt idx="2">
                  <c:v>1506</c:v>
                </c:pt>
                <c:pt idx="3">
                  <c:v>1283</c:v>
                </c:pt>
                <c:pt idx="4">
                  <c:v>1372</c:v>
                </c:pt>
                <c:pt idx="5">
                  <c:v>1306</c:v>
                </c:pt>
                <c:pt idx="6">
                  <c:v>1290</c:v>
                </c:pt>
                <c:pt idx="7">
                  <c:v>1378</c:v>
                </c:pt>
                <c:pt idx="8">
                  <c:v>1376</c:v>
                </c:pt>
                <c:pt idx="9">
                  <c:v>1367</c:v>
                </c:pt>
                <c:pt idx="10">
                  <c:v>1632</c:v>
                </c:pt>
                <c:pt idx="11">
                  <c:v>1465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66573"/>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5E8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66573"/>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chart>
  <c:spPr>
    <a:solidFill>
      <a:srgbClr val="F7F9FC"/>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D1B2A"/>
                </a:solidFill>
                <a:latin typeface="Arial"/>
              </a:defRPr>
            </a:pPr>
            <a:r>
              <a:rPr sz="1200" b="0" i="0" u="none" strike="noStrike">
                <a:solidFill>
                  <a:srgbClr val="0D1B2A"/>
                </a:solidFill>
                <a:latin typeface="Arial"/>
              </a:rPr>
              <a:t>Sales Uplift (%) — Trial Period vs Scaled Control</a:t>
            </a:r>
          </a:p>
        </c:rich>
      </c:tx>
      <c:layout/>
      <c:overlay val="0"/>
    </c:title>
    <c:autoTitleDeleted val="0"/>
    <c:plotArea>
      <c:layout/>
      <c:barChart>
        <c:barDir val="col"/>
        <c:grouping val="clustered"/>
        <c:varyColors val="0"/>
        <c:ser>
          <c:idx val="0"/>
          <c:order val="0"/>
          <c:tx>
            <c:strRef>
              <c:f>Sheet1!$B$1</c:f>
              <c:strCache>
                <c:ptCount val="1"/>
                <c:pt idx="0">
                  <c:v>Sales Uplift %</c:v>
                </c:pt>
              </c:strCache>
            </c:strRef>
          </c:tx>
          <c:spPr>
            <a:solidFill>
              <a:srgbClr val="1B4F72"/>
            </a:solidFill>
            <a:effectLst/>
          </c:spPr>
          <c:invertIfNegative val="0"/>
          <c:dLbls>
            <c:numFmt formatCode="#,##0" sourceLinked="0"/>
            <c:txPr>
              <a:bodyPr/>
              <a:lstStyle/>
              <a:p>
                <a:pPr>
                  <a:defRPr b="0" i="0" strike="noStrike" sz="1400" u="none">
                    <a:solidFill>
                      <a:srgbClr val="0D1B2A"/>
                    </a:solidFill>
                    <a:latin typeface="Arial"/>
                  </a:defRPr>
                </a:pPr>
              </a:p>
            </c:txPr>
            <c:showLegendKey val="0"/>
            <c:showVal val="1"/>
            <c:showCatName val="0"/>
            <c:showSerName val="0"/>
            <c:showPercent val="0"/>
            <c:showBubbleSize val="0"/>
            <c:showLeaderLines val="0"/>
          </c:dLbls>
          <c:dPt>
            <c:idx val="0"/>
            <c:invertIfNegative val="0"/>
            <c:bubble3D val="0"/>
            <c:spPr>
              <a:solidFill>
                <a:srgbClr val="1B4F72"/>
              </a:solidFill>
              <a:effectLst/>
            </c:spPr>
          </c:dPt>
          <c:dPt>
            <c:idx val="1"/>
            <c:invertIfNegative val="0"/>
            <c:bubble3D val="0"/>
            <c:spPr>
              <a:solidFill>
                <a:srgbClr val="2E86C1"/>
              </a:solidFill>
              <a:effectLst/>
            </c:spPr>
          </c:dPt>
          <c:dPt>
            <c:idx val="2"/>
            <c:invertIfNegative val="0"/>
            <c:bubble3D val="0"/>
            <c:spPr>
              <a:solidFill>
                <a:srgbClr val="AEB6BF"/>
              </a:solidFill>
              <a:effectLst/>
            </c:spPr>
          </c:dPt>
          <c:cat>
            <c:multiLvlStrRef>
              <c:f>Sheet1!$A$2:$A$4</c:f>
              <c:multiLvlStrCache>
                <c:ptCount val="3"/>
                <c:lvl>
                  <c:pt idx="0">
                    <c:v>Store 77
vs Control 233</c:v>
                  </c:pt>
                  <c:pt idx="1">
                    <c:v>Store 86
vs Control 155</c:v>
                  </c:pt>
                  <c:pt idx="2">
                    <c:v>Store 88
vs Control 91</c:v>
                  </c:pt>
                </c:lvl>
              </c:multiLvlStrCache>
            </c:multiLvlStrRef>
          </c:cat>
          <c:val>
            <c:numRef>
              <c:f>Sheet1!$B$2:$B$4</c:f>
              <c:numCache>
                <c:formatCode>General</c:formatCode>
                <c:ptCount val="3"/>
                <c:pt idx="0">
                  <c:v>26.2</c:v>
                </c:pt>
                <c:pt idx="1">
                  <c:v>13.2</c:v>
                </c:pt>
                <c:pt idx="2">
                  <c:v>4</c:v>
                </c:pt>
              </c:numCache>
            </c:numRef>
          </c:val>
        </c:ser>
        <c:dLbls>
          <c:numFmt formatCode="#,##0" sourceLinked="0"/>
          <c:txPr>
            <a:bodyPr/>
            <a:lstStyle/>
            <a:p>
              <a:pPr>
                <a:defRPr b="0" i="0" strike="noStrike" sz="1400" u="none">
                  <a:solidFill>
                    <a:srgbClr val="0D1B2A"/>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66573"/>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5E8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66573"/>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7F9FC"/>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D4AC0D"/>
          </a:solidFill>
          <a:ln w="12700">
            <a:solidFill>
              <a:srgbClr val="D4AC0D"/>
            </a:solidFill>
            <a:prstDash val="solid"/>
          </a:ln>
        </p:spPr>
      </p:sp>
      <p:sp>
        <p:nvSpPr>
          <p:cNvPr id="3" name="Shape 1"/>
          <p:cNvSpPr/>
          <p:nvPr/>
        </p:nvSpPr>
        <p:spPr>
          <a:xfrm>
            <a:off x="164592" y="5669280"/>
            <a:ext cx="11996928" cy="73152"/>
          </a:xfrm>
          <a:prstGeom prst="rect">
            <a:avLst/>
          </a:prstGeom>
          <a:solidFill>
            <a:srgbClr val="148F77"/>
          </a:solidFill>
          <a:ln w="12700">
            <a:solidFill>
              <a:srgbClr val="148F77"/>
            </a:solidFill>
            <a:prstDash val="solid"/>
          </a:ln>
        </p:spPr>
      </p:sp>
      <p:sp>
        <p:nvSpPr>
          <p:cNvPr id="4" name="Text 2"/>
          <p:cNvSpPr/>
          <p:nvPr/>
        </p:nvSpPr>
        <p:spPr>
          <a:xfrm>
            <a:off x="914400" y="1188720"/>
            <a:ext cx="10058400" cy="548640"/>
          </a:xfrm>
          <a:prstGeom prst="rect">
            <a:avLst/>
          </a:prstGeom>
          <a:noFill/>
          <a:ln/>
        </p:spPr>
        <p:txBody>
          <a:bodyPr wrap="square" rtlCol="0" anchor="ctr"/>
          <a:lstStyle/>
          <a:p>
            <a:pPr indent="0" marL="0">
              <a:buNone/>
            </a:pPr>
            <a:r>
              <a:rPr lang="en-US" sz="1600" spc="600" kern="0" dirty="0">
                <a:solidFill>
                  <a:srgbClr val="D4AC0D"/>
                </a:solidFill>
                <a:latin typeface="Calibri" pitchFamily="34" charset="0"/>
                <a:ea typeface="Calibri" pitchFamily="34" charset="-122"/>
                <a:cs typeface="Calibri" pitchFamily="34" charset="-120"/>
              </a:rPr>
              <a:t>CHIPS CATEGORY</a:t>
            </a:r>
            <a:endParaRPr lang="en-US" sz="1600" dirty="0"/>
          </a:p>
        </p:txBody>
      </p:sp>
      <p:sp>
        <p:nvSpPr>
          <p:cNvPr id="5" name="Text 3"/>
          <p:cNvSpPr/>
          <p:nvPr/>
        </p:nvSpPr>
        <p:spPr>
          <a:xfrm>
            <a:off x="914400" y="1737360"/>
            <a:ext cx="10058400" cy="1280160"/>
          </a:xfrm>
          <a:prstGeom prst="rect">
            <a:avLst/>
          </a:prstGeom>
          <a:noFill/>
          <a:ln/>
        </p:spPr>
        <p:txBody>
          <a:bodyPr wrap="square"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Strategic Review</a:t>
            </a:r>
            <a:endParaRPr lang="en-US" sz="5400" dirty="0"/>
          </a:p>
        </p:txBody>
      </p:sp>
      <p:sp>
        <p:nvSpPr>
          <p:cNvPr id="6" name="Text 4"/>
          <p:cNvSpPr/>
          <p:nvPr/>
        </p:nvSpPr>
        <p:spPr>
          <a:xfrm>
            <a:off x="914400" y="3108960"/>
            <a:ext cx="9144000" cy="548640"/>
          </a:xfrm>
          <a:prstGeom prst="rect">
            <a:avLst/>
          </a:prstGeom>
          <a:noFill/>
          <a:ln/>
        </p:spPr>
        <p:txBody>
          <a:bodyPr wrap="square" rtlCol="0" anchor="ctr"/>
          <a:lstStyle/>
          <a:p>
            <a:pPr indent="0" marL="0">
              <a:buNone/>
            </a:pPr>
            <a:r>
              <a:rPr lang="en-US" sz="1800" i="1" dirty="0">
                <a:solidFill>
                  <a:srgbClr val="A9CCE3"/>
                </a:solidFill>
                <a:latin typeface="Calibri" pitchFamily="34" charset="0"/>
                <a:ea typeface="Calibri" pitchFamily="34" charset="-122"/>
                <a:cs typeface="Calibri" pitchFamily="34" charset="-120"/>
              </a:rPr>
              <a:t>Trial Store Performance &amp; Customer Segment Insights</a:t>
            </a:r>
            <a:endParaRPr lang="en-US" sz="1800" dirty="0"/>
          </a:p>
        </p:txBody>
      </p:sp>
      <p:sp>
        <p:nvSpPr>
          <p:cNvPr id="7" name="Shape 5"/>
          <p:cNvSpPr/>
          <p:nvPr/>
        </p:nvSpPr>
        <p:spPr>
          <a:xfrm>
            <a:off x="914400" y="3794760"/>
            <a:ext cx="8229600" cy="0"/>
          </a:xfrm>
          <a:prstGeom prst="line">
            <a:avLst/>
          </a:prstGeom>
          <a:noFill/>
          <a:ln w="19050">
            <a:solidFill>
              <a:srgbClr val="D4AC0D"/>
            </a:solidFill>
            <a:prstDash val="solid"/>
          </a:ln>
        </p:spPr>
      </p:sp>
      <p:sp>
        <p:nvSpPr>
          <p:cNvPr id="8" name="Text 6"/>
          <p:cNvSpPr/>
          <p:nvPr/>
        </p:nvSpPr>
        <p:spPr>
          <a:xfrm>
            <a:off x="914400" y="3977640"/>
            <a:ext cx="8229600" cy="320040"/>
          </a:xfrm>
          <a:prstGeom prst="rect">
            <a:avLst/>
          </a:prstGeom>
          <a:noFill/>
          <a:ln/>
        </p:spPr>
        <p:txBody>
          <a:bodyPr wrap="square" rtlCol="0" anchor="ctr"/>
          <a:lstStyle/>
          <a:p>
            <a:pPr indent="0" marL="0">
              <a:buNone/>
            </a:pPr>
            <a:r>
              <a:rPr lang="en-US" sz="1300" b="1" dirty="0">
                <a:solidFill>
                  <a:srgbClr val="BDC3C7"/>
                </a:solidFill>
                <a:latin typeface="Calibri" pitchFamily="34" charset="0"/>
                <a:ea typeface="Calibri" pitchFamily="34" charset="-122"/>
                <a:cs typeface="Calibri" pitchFamily="34" charset="-120"/>
              </a:rPr>
              <a:t>Prepared for: </a:t>
            </a:r>
            <a:pPr indent="0" marL="0">
              <a:buNone/>
            </a:pPr>
            <a:r>
              <a:rPr lang="en-US" sz="1300" dirty="0">
                <a:solidFill>
                  <a:srgbClr val="FFFFFF"/>
                </a:solidFill>
                <a:latin typeface="Calibri" pitchFamily="34" charset="0"/>
                <a:ea typeface="Calibri" pitchFamily="34" charset="-122"/>
                <a:cs typeface="Calibri" pitchFamily="34" charset="-120"/>
              </a:rPr>
              <a:t>Julia — Category Manager, Chips</a:t>
            </a:r>
            <a:endParaRPr lang="en-US" sz="1300" dirty="0"/>
          </a:p>
        </p:txBody>
      </p:sp>
      <p:sp>
        <p:nvSpPr>
          <p:cNvPr id="9" name="Text 7"/>
          <p:cNvSpPr/>
          <p:nvPr/>
        </p:nvSpPr>
        <p:spPr>
          <a:xfrm>
            <a:off x="914400" y="4343400"/>
            <a:ext cx="8229600" cy="320040"/>
          </a:xfrm>
          <a:prstGeom prst="rect">
            <a:avLst/>
          </a:prstGeom>
          <a:noFill/>
          <a:ln/>
        </p:spPr>
        <p:txBody>
          <a:bodyPr wrap="square" rtlCol="0" anchor="ctr"/>
          <a:lstStyle/>
          <a:p>
            <a:pPr indent="0" marL="0">
              <a:buNone/>
            </a:pPr>
            <a:r>
              <a:rPr lang="en-US" sz="1300" b="1" dirty="0">
                <a:solidFill>
                  <a:srgbClr val="BDC3C7"/>
                </a:solidFill>
                <a:latin typeface="Calibri" pitchFamily="34" charset="0"/>
                <a:ea typeface="Calibri" pitchFamily="34" charset="-122"/>
                <a:cs typeface="Calibri" pitchFamily="34" charset="-120"/>
              </a:rPr>
              <a:t>Prepared by: </a:t>
            </a:r>
            <a:pPr indent="0" marL="0">
              <a:buNone/>
            </a:pPr>
            <a:r>
              <a:rPr lang="en-US" sz="1300" dirty="0">
                <a:solidFill>
                  <a:srgbClr val="FFFFFF"/>
                </a:solidFill>
                <a:latin typeface="Calibri" pitchFamily="34" charset="0"/>
                <a:ea typeface="Calibri" pitchFamily="34" charset="-122"/>
                <a:cs typeface="Calibri" pitchFamily="34" charset="-120"/>
              </a:rPr>
              <a:t>Quantium Retail Analytics Team</a:t>
            </a:r>
            <a:endParaRPr lang="en-US" sz="1300" dirty="0"/>
          </a:p>
        </p:txBody>
      </p:sp>
      <p:sp>
        <p:nvSpPr>
          <p:cNvPr id="10" name="Text 8"/>
          <p:cNvSpPr/>
          <p:nvPr/>
        </p:nvSpPr>
        <p:spPr>
          <a:xfrm>
            <a:off x="914400" y="4709160"/>
            <a:ext cx="8229600" cy="320040"/>
          </a:xfrm>
          <a:prstGeom prst="rect">
            <a:avLst/>
          </a:prstGeom>
          <a:noFill/>
          <a:ln/>
        </p:spPr>
        <p:txBody>
          <a:bodyPr wrap="square" rtlCol="0" anchor="ctr"/>
          <a:lstStyle/>
          <a:p>
            <a:pPr indent="0" marL="0">
              <a:buNone/>
            </a:pPr>
            <a:r>
              <a:rPr lang="en-US" sz="1300" b="1" dirty="0">
                <a:solidFill>
                  <a:srgbClr val="BDC3C7"/>
                </a:solidFill>
                <a:latin typeface="Calibri" pitchFamily="34" charset="0"/>
                <a:ea typeface="Calibri" pitchFamily="34" charset="-122"/>
                <a:cs typeface="Calibri" pitchFamily="34" charset="-120"/>
              </a:rPr>
              <a:t>Date: </a:t>
            </a:r>
            <a:pPr indent="0" marL="0">
              <a:buNone/>
            </a:pPr>
            <a:r>
              <a:rPr lang="en-US" sz="1300" dirty="0">
                <a:solidFill>
                  <a:srgbClr val="FFFFFF"/>
                </a:solidFill>
                <a:latin typeface="Calibri" pitchFamily="34" charset="0"/>
                <a:ea typeface="Calibri" pitchFamily="34" charset="-122"/>
                <a:cs typeface="Calibri" pitchFamily="34" charset="-120"/>
              </a:rPr>
              <a:t>March 2026</a:t>
            </a:r>
            <a:endParaRPr lang="en-US" sz="1300" dirty="0"/>
          </a:p>
        </p:txBody>
      </p:sp>
      <p:sp>
        <p:nvSpPr>
          <p:cNvPr id="11" name="Text 9"/>
          <p:cNvSpPr/>
          <p:nvPr/>
        </p:nvSpPr>
        <p:spPr>
          <a:xfrm>
            <a:off x="914400" y="5943600"/>
            <a:ext cx="3657600" cy="365760"/>
          </a:xfrm>
          <a:prstGeom prst="rect">
            <a:avLst/>
          </a:prstGeom>
          <a:noFill/>
          <a:ln/>
        </p:spPr>
        <p:txBody>
          <a:bodyPr wrap="square" rtlCol="0" anchor="ctr"/>
          <a:lstStyle/>
          <a:p>
            <a:pPr indent="0" marL="0">
              <a:buNone/>
            </a:pPr>
            <a:r>
              <a:rPr lang="en-US" sz="1000" spc="300" kern="0" dirty="0">
                <a:solidFill>
                  <a:srgbClr val="BDC3C7"/>
                </a:solidFill>
                <a:latin typeface="Calibri" pitchFamily="34" charset="0"/>
                <a:ea typeface="Calibri" pitchFamily="34" charset="-122"/>
                <a:cs typeface="Calibri" pitchFamily="34" charset="-120"/>
              </a:rPr>
              <a:t>CONFIDENTIAL</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0D1B2A"/>
          </a:solidFill>
          <a:ln w="12700">
            <a:solidFill>
              <a:srgbClr val="0D1B2A"/>
            </a:solidFill>
            <a:prstDash val="solid"/>
          </a:ln>
        </p:spPr>
      </p:sp>
      <p:sp>
        <p:nvSpPr>
          <p:cNvPr id="3" name="Shape 1"/>
          <p:cNvSpPr/>
          <p:nvPr/>
        </p:nvSpPr>
        <p:spPr>
          <a:xfrm>
            <a:off x="0" y="960120"/>
            <a:ext cx="12161520" cy="54864"/>
          </a:xfrm>
          <a:prstGeom prst="rect">
            <a:avLst/>
          </a:prstGeom>
          <a:solidFill>
            <a:srgbClr val="D4AC0D"/>
          </a:solidFill>
          <a:ln w="12700">
            <a:solidFill>
              <a:srgbClr val="D4AC0D"/>
            </a:solidFill>
            <a:prstDash val="solid"/>
          </a:ln>
        </p:spPr>
      </p:sp>
      <p:sp>
        <p:nvSpPr>
          <p:cNvPr id="4" name="Text 2"/>
          <p:cNvSpPr/>
          <p:nvPr/>
        </p:nvSpPr>
        <p:spPr>
          <a:xfrm>
            <a:off x="365760" y="64008"/>
            <a:ext cx="9601200" cy="41148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Executive Summary</a:t>
            </a:r>
            <a:endParaRPr lang="en-US" sz="2200" dirty="0"/>
          </a:p>
        </p:txBody>
      </p:sp>
      <p:sp>
        <p:nvSpPr>
          <p:cNvPr id="5" name="Text 3"/>
          <p:cNvSpPr/>
          <p:nvPr/>
        </p:nvSpPr>
        <p:spPr>
          <a:xfrm>
            <a:off x="365760" y="512064"/>
            <a:ext cx="9601200" cy="347472"/>
          </a:xfrm>
          <a:prstGeom prst="rect">
            <a:avLst/>
          </a:prstGeom>
          <a:noFill/>
          <a:ln/>
        </p:spPr>
        <p:txBody>
          <a:bodyPr wrap="square" lIns="0" tIns="0" rIns="0" bIns="0" rtlCol="0" anchor="ctr"/>
          <a:lstStyle/>
          <a:p>
            <a:pPr indent="0" marL="0">
              <a:buNone/>
            </a:pPr>
            <a:r>
              <a:rPr lang="en-US" sz="1200" i="1" dirty="0">
                <a:solidFill>
                  <a:srgbClr val="A9CCE3"/>
                </a:solidFill>
                <a:latin typeface="Calibri" pitchFamily="34" charset="0"/>
                <a:ea typeface="Calibri" pitchFamily="34" charset="-122"/>
                <a:cs typeface="Calibri" pitchFamily="34" charset="-120"/>
              </a:rPr>
              <a:t>The headline recommendation — supported by evidence</a:t>
            </a:r>
            <a:endParaRPr lang="en-US" sz="1200" dirty="0"/>
          </a:p>
        </p:txBody>
      </p:sp>
      <p:sp>
        <p:nvSpPr>
          <p:cNvPr id="6" name="Text 4"/>
          <p:cNvSpPr/>
          <p:nvPr/>
        </p:nvSpPr>
        <p:spPr>
          <a:xfrm>
            <a:off x="9144000" y="109728"/>
            <a:ext cx="2834640" cy="320040"/>
          </a:xfrm>
          <a:prstGeom prst="rect">
            <a:avLst/>
          </a:prstGeom>
          <a:noFill/>
          <a:ln/>
        </p:spPr>
        <p:txBody>
          <a:bodyPr wrap="square" lIns="0" tIns="0" rIns="0" bIns="0" rtlCol="0" anchor="ctr"/>
          <a:lstStyle/>
          <a:p>
            <a:pPr algn="r" indent="0" marL="0">
              <a:buNone/>
            </a:pPr>
            <a:r>
              <a:rPr lang="en-US" sz="900" dirty="0">
                <a:solidFill>
                  <a:srgbClr val="BDC3C7"/>
                </a:solidFill>
                <a:latin typeface="Calibri" pitchFamily="34" charset="0"/>
                <a:ea typeface="Calibri" pitchFamily="34" charset="-122"/>
                <a:cs typeface="Calibri" pitchFamily="34" charset="-120"/>
              </a:rPr>
              <a:t>QUANTIUM | RETAIL ANALYTICS</a:t>
            </a:r>
            <a:endParaRPr lang="en-US" sz="900" dirty="0"/>
          </a:p>
        </p:txBody>
      </p:sp>
      <p:sp>
        <p:nvSpPr>
          <p:cNvPr id="7" name="Shape 5"/>
          <p:cNvSpPr/>
          <p:nvPr/>
        </p:nvSpPr>
        <p:spPr>
          <a:xfrm>
            <a:off x="274320" y="1005840"/>
            <a:ext cx="11612880" cy="960120"/>
          </a:xfrm>
          <a:prstGeom prst="rect">
            <a:avLst/>
          </a:prstGeom>
          <a:solidFill>
            <a:srgbClr val="0D1B2A"/>
          </a:solidFill>
          <a:ln w="12700">
            <a:solidFill>
              <a:srgbClr val="0D1B2A"/>
            </a:solidFill>
            <a:prstDash val="solid"/>
          </a:ln>
          <a:effectLst>
            <a:outerShdw sx="100000" sy="100000" kx="0" ky="0" algn="bl" rotWithShape="0" blurRad="101600" dist="38100" dir="8100000">
              <a:srgbClr val="000000">
                <a:alpha val="12000"/>
              </a:srgbClr>
            </a:outerShdw>
          </a:effectLst>
        </p:spPr>
      </p:sp>
      <p:sp>
        <p:nvSpPr>
          <p:cNvPr id="8" name="Text 6"/>
          <p:cNvSpPr/>
          <p:nvPr/>
        </p:nvSpPr>
        <p:spPr>
          <a:xfrm>
            <a:off x="365760" y="1024128"/>
            <a:ext cx="2286000" cy="228600"/>
          </a:xfrm>
          <a:prstGeom prst="rect">
            <a:avLst/>
          </a:prstGeom>
          <a:noFill/>
          <a:ln/>
        </p:spPr>
        <p:txBody>
          <a:bodyPr wrap="square" lIns="0" tIns="0" rIns="0" bIns="0" rtlCol="0" anchor="ctr"/>
          <a:lstStyle/>
          <a:p>
            <a:pPr indent="0" marL="0">
              <a:buNone/>
            </a:pPr>
            <a:r>
              <a:rPr lang="en-US" sz="900" b="1" spc="200" kern="0" dirty="0">
                <a:solidFill>
                  <a:srgbClr val="D4AC0D"/>
                </a:solidFill>
                <a:latin typeface="Calibri" pitchFamily="34" charset="0"/>
                <a:ea typeface="Calibri" pitchFamily="34" charset="-122"/>
                <a:cs typeface="Calibri" pitchFamily="34" charset="-120"/>
              </a:rPr>
              <a:t>RECOMMENDATION</a:t>
            </a:r>
            <a:endParaRPr lang="en-US" sz="900" dirty="0"/>
          </a:p>
        </p:txBody>
      </p:sp>
      <p:sp>
        <p:nvSpPr>
          <p:cNvPr id="9" name="Text 7"/>
          <p:cNvSpPr/>
          <p:nvPr/>
        </p:nvSpPr>
        <p:spPr>
          <a:xfrm>
            <a:off x="365760" y="1252728"/>
            <a:ext cx="11338560" cy="62179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The chip trial format is delivering positive sales uplift. Stores 77 and 86 demonstrate strong commercial results and are ready for broader rollout. Mainstream and Budget customers drive the highest revenue — marketing strategy should prioritise these segments to maximise half-year growth.</a:t>
            </a:r>
            <a:endParaRPr lang="en-US" sz="1350" dirty="0"/>
          </a:p>
        </p:txBody>
      </p:sp>
      <p:sp>
        <p:nvSpPr>
          <p:cNvPr id="10" name="Shape 8"/>
          <p:cNvSpPr/>
          <p:nvPr/>
        </p:nvSpPr>
        <p:spPr>
          <a:xfrm>
            <a:off x="274320" y="2148840"/>
            <a:ext cx="3840480" cy="4434840"/>
          </a:xfrm>
          <a:prstGeom prst="rect">
            <a:avLst/>
          </a:prstGeom>
          <a:solidFill>
            <a:srgbClr val="FFFFFF"/>
          </a:solidFill>
          <a:ln w="12700">
            <a:solidFill>
              <a:srgbClr val="E5E8E8"/>
            </a:solidFill>
            <a:prstDash val="solid"/>
          </a:ln>
          <a:effectLst>
            <a:outerShdw sx="100000" sy="100000" kx="0" ky="0" algn="bl" rotWithShape="0" blurRad="101600" dist="38100" dir="8100000">
              <a:srgbClr val="000000">
                <a:alpha val="12000"/>
              </a:srgbClr>
            </a:outerShdw>
          </a:effectLst>
        </p:spPr>
      </p:sp>
      <p:sp>
        <p:nvSpPr>
          <p:cNvPr id="11" name="Shape 9"/>
          <p:cNvSpPr/>
          <p:nvPr/>
        </p:nvSpPr>
        <p:spPr>
          <a:xfrm>
            <a:off x="274320" y="2148840"/>
            <a:ext cx="3840480" cy="73152"/>
          </a:xfrm>
          <a:prstGeom prst="rect">
            <a:avLst/>
          </a:prstGeom>
          <a:solidFill>
            <a:srgbClr val="1B4F72"/>
          </a:solidFill>
          <a:ln w="12700">
            <a:solidFill>
              <a:srgbClr val="1B4F72"/>
            </a:solidFill>
            <a:prstDash val="solid"/>
          </a:ln>
        </p:spPr>
      </p:sp>
      <p:sp>
        <p:nvSpPr>
          <p:cNvPr id="12" name="Shape 10"/>
          <p:cNvSpPr/>
          <p:nvPr/>
        </p:nvSpPr>
        <p:spPr>
          <a:xfrm>
            <a:off x="411480" y="2286000"/>
            <a:ext cx="502920" cy="502920"/>
          </a:xfrm>
          <a:prstGeom prst="ellipse">
            <a:avLst/>
          </a:prstGeom>
          <a:solidFill>
            <a:srgbClr val="1B4F72"/>
          </a:solidFill>
          <a:ln w="12700">
            <a:solidFill>
              <a:srgbClr val="1B4F72"/>
            </a:solidFill>
            <a:prstDash val="solid"/>
          </a:ln>
        </p:spPr>
      </p:sp>
      <p:sp>
        <p:nvSpPr>
          <p:cNvPr id="13" name="Text 11"/>
          <p:cNvSpPr/>
          <p:nvPr/>
        </p:nvSpPr>
        <p:spPr>
          <a:xfrm>
            <a:off x="411480" y="228600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01</a:t>
            </a:r>
            <a:endParaRPr lang="en-US" sz="1400" dirty="0"/>
          </a:p>
        </p:txBody>
      </p:sp>
      <p:sp>
        <p:nvSpPr>
          <p:cNvPr id="14" name="Text 12"/>
          <p:cNvSpPr/>
          <p:nvPr/>
        </p:nvSpPr>
        <p:spPr>
          <a:xfrm>
            <a:off x="1005840" y="2331720"/>
            <a:ext cx="2926080" cy="411480"/>
          </a:xfrm>
          <a:prstGeom prst="rect">
            <a:avLst/>
          </a:prstGeom>
          <a:noFill/>
          <a:ln/>
        </p:spPr>
        <p:txBody>
          <a:bodyPr wrap="square" lIns="0" tIns="0" rIns="0" bIns="0" rtlCol="0" anchor="ctr"/>
          <a:lstStyle/>
          <a:p>
            <a:pPr indent="0" marL="0">
              <a:buNone/>
            </a:pPr>
            <a:r>
              <a:rPr lang="en-US" sz="1400" b="1" dirty="0">
                <a:solidFill>
                  <a:srgbClr val="1B4F72"/>
                </a:solidFill>
                <a:latin typeface="Calibri" pitchFamily="34" charset="0"/>
                <a:ea typeface="Calibri" pitchFamily="34" charset="-122"/>
                <a:cs typeface="Calibri" pitchFamily="34" charset="-120"/>
              </a:rPr>
              <a:t>Customer Behaviour</a:t>
            </a:r>
            <a:endParaRPr lang="en-US" sz="1400" dirty="0"/>
          </a:p>
        </p:txBody>
      </p:sp>
      <p:sp>
        <p:nvSpPr>
          <p:cNvPr id="15" name="Text 13"/>
          <p:cNvSpPr/>
          <p:nvPr/>
        </p:nvSpPr>
        <p:spPr>
          <a:xfrm>
            <a:off x="411480" y="2926080"/>
            <a:ext cx="3566160" cy="3474720"/>
          </a:xfrm>
          <a:prstGeom prst="rect">
            <a:avLst/>
          </a:prstGeom>
          <a:noFill/>
          <a:ln/>
        </p:spPr>
        <p:txBody>
          <a:bodyPr wrap="square" lIns="0" tIns="0" rIns="0" bIns="0" rtlCol="0" anchor="ctr"/>
          <a:lstStyle/>
          <a:p>
            <a:pPr indent="0" marL="0">
              <a:buNone/>
            </a:pPr>
            <a:r>
              <a:rPr lang="en-US" sz="1200" dirty="0">
                <a:solidFill>
                  <a:srgbClr val="0D1B2A"/>
                </a:solidFill>
                <a:latin typeface="Calibri" pitchFamily="34" charset="0"/>
                <a:ea typeface="Calibri" pitchFamily="34" charset="-122"/>
                <a:cs typeface="Calibri" pitchFamily="34" charset="-120"/>
              </a:rPr>
              <a:t>Mainstream &amp; Budget segments account for 74% of all chip sales. Older Families (Budget) are the single highest-value segment at $168K in total sales.</a:t>
            </a:r>
            <a:endParaRPr lang="en-US" sz="1200" dirty="0"/>
          </a:p>
        </p:txBody>
      </p:sp>
      <p:sp>
        <p:nvSpPr>
          <p:cNvPr id="16" name="Shape 14"/>
          <p:cNvSpPr/>
          <p:nvPr/>
        </p:nvSpPr>
        <p:spPr>
          <a:xfrm>
            <a:off x="4251960" y="2148840"/>
            <a:ext cx="3840480" cy="4434840"/>
          </a:xfrm>
          <a:prstGeom prst="rect">
            <a:avLst/>
          </a:prstGeom>
          <a:solidFill>
            <a:srgbClr val="FFFFFF"/>
          </a:solidFill>
          <a:ln w="12700">
            <a:solidFill>
              <a:srgbClr val="E5E8E8"/>
            </a:solidFill>
            <a:prstDash val="solid"/>
          </a:ln>
          <a:effectLst>
            <a:outerShdw sx="100000" sy="100000" kx="0" ky="0" algn="bl" rotWithShape="0" blurRad="101600" dist="38100" dir="8100000">
              <a:srgbClr val="000000">
                <a:alpha val="12000"/>
              </a:srgbClr>
            </a:outerShdw>
          </a:effectLst>
        </p:spPr>
      </p:sp>
      <p:sp>
        <p:nvSpPr>
          <p:cNvPr id="17" name="Shape 15"/>
          <p:cNvSpPr/>
          <p:nvPr/>
        </p:nvSpPr>
        <p:spPr>
          <a:xfrm>
            <a:off x="4251960" y="2148840"/>
            <a:ext cx="3840480" cy="73152"/>
          </a:xfrm>
          <a:prstGeom prst="rect">
            <a:avLst/>
          </a:prstGeom>
          <a:solidFill>
            <a:srgbClr val="148F77"/>
          </a:solidFill>
          <a:ln w="12700">
            <a:solidFill>
              <a:srgbClr val="148F77"/>
            </a:solidFill>
            <a:prstDash val="solid"/>
          </a:ln>
        </p:spPr>
      </p:sp>
      <p:sp>
        <p:nvSpPr>
          <p:cNvPr id="18" name="Shape 16"/>
          <p:cNvSpPr/>
          <p:nvPr/>
        </p:nvSpPr>
        <p:spPr>
          <a:xfrm>
            <a:off x="4389120" y="2286000"/>
            <a:ext cx="502920" cy="502920"/>
          </a:xfrm>
          <a:prstGeom prst="ellipse">
            <a:avLst/>
          </a:prstGeom>
          <a:solidFill>
            <a:srgbClr val="148F77"/>
          </a:solidFill>
          <a:ln w="12700">
            <a:solidFill>
              <a:srgbClr val="148F77"/>
            </a:solidFill>
            <a:prstDash val="solid"/>
          </a:ln>
        </p:spPr>
      </p:sp>
      <p:sp>
        <p:nvSpPr>
          <p:cNvPr id="19" name="Text 17"/>
          <p:cNvSpPr/>
          <p:nvPr/>
        </p:nvSpPr>
        <p:spPr>
          <a:xfrm>
            <a:off x="4389120" y="228600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02</a:t>
            </a:r>
            <a:endParaRPr lang="en-US" sz="1400" dirty="0"/>
          </a:p>
        </p:txBody>
      </p:sp>
      <p:sp>
        <p:nvSpPr>
          <p:cNvPr id="20" name="Text 18"/>
          <p:cNvSpPr/>
          <p:nvPr/>
        </p:nvSpPr>
        <p:spPr>
          <a:xfrm>
            <a:off x="4983480" y="2331720"/>
            <a:ext cx="2926080" cy="411480"/>
          </a:xfrm>
          <a:prstGeom prst="rect">
            <a:avLst/>
          </a:prstGeom>
          <a:noFill/>
          <a:ln/>
        </p:spPr>
        <p:txBody>
          <a:bodyPr wrap="square" lIns="0" tIns="0" rIns="0" bIns="0" rtlCol="0" anchor="ctr"/>
          <a:lstStyle/>
          <a:p>
            <a:pPr indent="0" marL="0">
              <a:buNone/>
            </a:pPr>
            <a:r>
              <a:rPr lang="en-US" sz="1400" b="1" dirty="0">
                <a:solidFill>
                  <a:srgbClr val="148F77"/>
                </a:solidFill>
                <a:latin typeface="Calibri" pitchFamily="34" charset="0"/>
                <a:ea typeface="Calibri" pitchFamily="34" charset="-122"/>
                <a:cs typeface="Calibri" pitchFamily="34" charset="-120"/>
              </a:rPr>
              <a:t>Trial Store Uplift</a:t>
            </a:r>
            <a:endParaRPr lang="en-US" sz="1400" dirty="0"/>
          </a:p>
        </p:txBody>
      </p:sp>
      <p:sp>
        <p:nvSpPr>
          <p:cNvPr id="21" name="Text 19"/>
          <p:cNvSpPr/>
          <p:nvPr/>
        </p:nvSpPr>
        <p:spPr>
          <a:xfrm>
            <a:off x="4389120" y="2926080"/>
            <a:ext cx="3566160" cy="3474720"/>
          </a:xfrm>
          <a:prstGeom prst="rect">
            <a:avLst/>
          </a:prstGeom>
          <a:noFill/>
          <a:ln/>
        </p:spPr>
        <p:txBody>
          <a:bodyPr wrap="square" lIns="0" tIns="0" rIns="0" bIns="0" rtlCol="0" anchor="ctr"/>
          <a:lstStyle/>
          <a:p>
            <a:pPr indent="0" marL="0">
              <a:buNone/>
            </a:pPr>
            <a:r>
              <a:rPr lang="en-US" sz="1200" dirty="0">
                <a:solidFill>
                  <a:srgbClr val="0D1B2A"/>
                </a:solidFill>
                <a:latin typeface="Calibri" pitchFamily="34" charset="0"/>
                <a:ea typeface="Calibri" pitchFamily="34" charset="-122"/>
                <a:cs typeface="Calibri" pitchFamily="34" charset="-120"/>
              </a:rPr>
              <a:t>All 3 trial stores recorded positive sales uplift (up to +26.2%). Stores 77 and 86 show consistent, commercially significant gains across the 3-month trial.</a:t>
            </a:r>
            <a:endParaRPr lang="en-US" sz="1200" dirty="0"/>
          </a:p>
        </p:txBody>
      </p:sp>
      <p:sp>
        <p:nvSpPr>
          <p:cNvPr id="22" name="Shape 20"/>
          <p:cNvSpPr/>
          <p:nvPr/>
        </p:nvSpPr>
        <p:spPr>
          <a:xfrm>
            <a:off x="8229600" y="2148840"/>
            <a:ext cx="3840480" cy="4434840"/>
          </a:xfrm>
          <a:prstGeom prst="rect">
            <a:avLst/>
          </a:prstGeom>
          <a:solidFill>
            <a:srgbClr val="FFFFFF"/>
          </a:solidFill>
          <a:ln w="12700">
            <a:solidFill>
              <a:srgbClr val="E5E8E8"/>
            </a:solidFill>
            <a:prstDash val="solid"/>
          </a:ln>
          <a:effectLst>
            <a:outerShdw sx="100000" sy="100000" kx="0" ky="0" algn="bl" rotWithShape="0" blurRad="101600" dist="38100" dir="8100000">
              <a:srgbClr val="000000">
                <a:alpha val="12000"/>
              </a:srgbClr>
            </a:outerShdw>
          </a:effectLst>
        </p:spPr>
      </p:sp>
      <p:sp>
        <p:nvSpPr>
          <p:cNvPr id="23" name="Shape 21"/>
          <p:cNvSpPr/>
          <p:nvPr/>
        </p:nvSpPr>
        <p:spPr>
          <a:xfrm>
            <a:off x="8229600" y="2148840"/>
            <a:ext cx="3840480" cy="73152"/>
          </a:xfrm>
          <a:prstGeom prst="rect">
            <a:avLst/>
          </a:prstGeom>
          <a:solidFill>
            <a:srgbClr val="D4AC0D"/>
          </a:solidFill>
          <a:ln w="12700">
            <a:solidFill>
              <a:srgbClr val="D4AC0D"/>
            </a:solidFill>
            <a:prstDash val="solid"/>
          </a:ln>
        </p:spPr>
      </p:sp>
      <p:sp>
        <p:nvSpPr>
          <p:cNvPr id="24" name="Shape 22"/>
          <p:cNvSpPr/>
          <p:nvPr/>
        </p:nvSpPr>
        <p:spPr>
          <a:xfrm>
            <a:off x="8366760" y="2286000"/>
            <a:ext cx="502920" cy="502920"/>
          </a:xfrm>
          <a:prstGeom prst="ellipse">
            <a:avLst/>
          </a:prstGeom>
          <a:solidFill>
            <a:srgbClr val="D4AC0D"/>
          </a:solidFill>
          <a:ln w="12700">
            <a:solidFill>
              <a:srgbClr val="D4AC0D"/>
            </a:solidFill>
            <a:prstDash val="solid"/>
          </a:ln>
        </p:spPr>
      </p:sp>
      <p:sp>
        <p:nvSpPr>
          <p:cNvPr id="25" name="Text 23"/>
          <p:cNvSpPr/>
          <p:nvPr/>
        </p:nvSpPr>
        <p:spPr>
          <a:xfrm>
            <a:off x="8366760" y="228600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03</a:t>
            </a:r>
            <a:endParaRPr lang="en-US" sz="1400" dirty="0"/>
          </a:p>
        </p:txBody>
      </p:sp>
      <p:sp>
        <p:nvSpPr>
          <p:cNvPr id="26" name="Text 24"/>
          <p:cNvSpPr/>
          <p:nvPr/>
        </p:nvSpPr>
        <p:spPr>
          <a:xfrm>
            <a:off x="8961120" y="2331720"/>
            <a:ext cx="2926080" cy="411480"/>
          </a:xfrm>
          <a:prstGeom prst="rect">
            <a:avLst/>
          </a:prstGeom>
          <a:noFill/>
          <a:ln/>
        </p:spPr>
        <p:txBody>
          <a:bodyPr wrap="square" lIns="0" tIns="0" rIns="0" bIns="0" rtlCol="0" anchor="ctr"/>
          <a:lstStyle/>
          <a:p>
            <a:pPr indent="0" marL="0">
              <a:buNone/>
            </a:pPr>
            <a:r>
              <a:rPr lang="en-US" sz="1400" b="1" dirty="0">
                <a:solidFill>
                  <a:srgbClr val="D4AC0D"/>
                </a:solidFill>
                <a:latin typeface="Calibri" pitchFamily="34" charset="0"/>
                <a:ea typeface="Calibri" pitchFamily="34" charset="-122"/>
                <a:cs typeface="Calibri" pitchFamily="34" charset="-120"/>
              </a:rPr>
              <a:t>Strategic Opportunity</a:t>
            </a:r>
            <a:endParaRPr lang="en-US" sz="1400" dirty="0"/>
          </a:p>
        </p:txBody>
      </p:sp>
      <p:sp>
        <p:nvSpPr>
          <p:cNvPr id="27" name="Text 25"/>
          <p:cNvSpPr/>
          <p:nvPr/>
        </p:nvSpPr>
        <p:spPr>
          <a:xfrm>
            <a:off x="8366760" y="2926080"/>
            <a:ext cx="3566160" cy="3474720"/>
          </a:xfrm>
          <a:prstGeom prst="rect">
            <a:avLst/>
          </a:prstGeom>
          <a:noFill/>
          <a:ln/>
        </p:spPr>
        <p:txBody>
          <a:bodyPr wrap="square" lIns="0" tIns="0" rIns="0" bIns="0" rtlCol="0" anchor="ctr"/>
          <a:lstStyle/>
          <a:p>
            <a:pPr indent="0" marL="0">
              <a:buNone/>
            </a:pPr>
            <a:r>
              <a:rPr lang="en-US" sz="1200" dirty="0">
                <a:solidFill>
                  <a:srgbClr val="0D1B2A"/>
                </a:solidFill>
                <a:latin typeface="Calibri" pitchFamily="34" charset="0"/>
                <a:ea typeface="Calibri" pitchFamily="34" charset="-122"/>
                <a:cs typeface="Calibri" pitchFamily="34" charset="-120"/>
              </a:rPr>
              <a:t>Rolling out the trial format to stores matching Store 77 and 86's profile could drive material revenue growth in the next half-year planning cycle.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D4AC0D"/>
          </a:solidFill>
          <a:ln w="12700">
            <a:solidFill>
              <a:srgbClr val="D4AC0D"/>
            </a:solidFill>
            <a:prstDash val="solid"/>
          </a:ln>
        </p:spPr>
      </p:sp>
      <p:sp>
        <p:nvSpPr>
          <p:cNvPr id="3" name="Shape 1"/>
          <p:cNvSpPr/>
          <p:nvPr/>
        </p:nvSpPr>
        <p:spPr>
          <a:xfrm>
            <a:off x="164592" y="0"/>
            <a:ext cx="11996928" cy="6858000"/>
          </a:xfrm>
          <a:prstGeom prst="rect">
            <a:avLst/>
          </a:prstGeom>
          <a:solidFill>
            <a:srgbClr val="0D1B2A"/>
          </a:solidFill>
          <a:ln w="12700">
            <a:solidFill>
              <a:srgbClr val="0D1B2A"/>
            </a:solidFill>
            <a:prstDash val="solid"/>
          </a:ln>
        </p:spPr>
      </p:sp>
      <p:sp>
        <p:nvSpPr>
          <p:cNvPr id="4" name="Text 2"/>
          <p:cNvSpPr/>
          <p:nvPr/>
        </p:nvSpPr>
        <p:spPr>
          <a:xfrm>
            <a:off x="914400" y="2377440"/>
            <a:ext cx="10058400" cy="1097280"/>
          </a:xfrm>
          <a:prstGeom prst="rect">
            <a:avLst/>
          </a:prstGeom>
          <a:noFill/>
          <a:ln/>
        </p:spPr>
        <p:txBody>
          <a:bodyPr wrap="square" rtlCol="0" anchor="ctr"/>
          <a:lstStyle/>
          <a:p>
            <a:pPr indent="0" marL="0">
              <a:buNone/>
            </a:pPr>
            <a:r>
              <a:rPr lang="en-US" sz="4200" b="1" dirty="0">
                <a:solidFill>
                  <a:srgbClr val="FFFFFF"/>
                </a:solidFill>
                <a:latin typeface="Calibri" pitchFamily="34" charset="0"/>
                <a:ea typeface="Calibri" pitchFamily="34" charset="-122"/>
                <a:cs typeface="Calibri" pitchFamily="34" charset="-120"/>
              </a:rPr>
              <a:t>Part 1: Situation</a:t>
            </a:r>
            <a:endParaRPr lang="en-US" sz="4200" dirty="0"/>
          </a:p>
        </p:txBody>
      </p:sp>
      <p:sp>
        <p:nvSpPr>
          <p:cNvPr id="5" name="Text 3"/>
          <p:cNvSpPr/>
          <p:nvPr/>
        </p:nvSpPr>
        <p:spPr>
          <a:xfrm>
            <a:off x="914400" y="3474720"/>
            <a:ext cx="10058400" cy="640080"/>
          </a:xfrm>
          <a:prstGeom prst="rect">
            <a:avLst/>
          </a:prstGeom>
          <a:noFill/>
          <a:ln/>
        </p:spPr>
        <p:txBody>
          <a:bodyPr wrap="square" rtlCol="0" anchor="ctr"/>
          <a:lstStyle/>
          <a:p>
            <a:pPr indent="0" marL="0">
              <a:buNone/>
            </a:pPr>
            <a:r>
              <a:rPr lang="en-US" sz="1800" i="1" dirty="0">
                <a:solidFill>
                  <a:srgbClr val="D4AC0D"/>
                </a:solidFill>
                <a:latin typeface="Calibri" pitchFamily="34" charset="0"/>
                <a:ea typeface="Calibri" pitchFamily="34" charset="-122"/>
                <a:cs typeface="Calibri" pitchFamily="34" charset="-120"/>
              </a:rPr>
              <a:t>Understanding the landscape — who buys chips and what drives revenue</a:t>
            </a:r>
            <a:endParaRPr lang="en-US" sz="1800" dirty="0"/>
          </a:p>
        </p:txBody>
      </p:sp>
      <p:sp>
        <p:nvSpPr>
          <p:cNvPr id="6" name="Text 4"/>
          <p:cNvSpPr/>
          <p:nvPr/>
        </p:nvSpPr>
        <p:spPr>
          <a:xfrm>
            <a:off x="914400" y="6217920"/>
            <a:ext cx="5486400" cy="365760"/>
          </a:xfrm>
          <a:prstGeom prst="rect">
            <a:avLst/>
          </a:prstGeom>
          <a:noFill/>
          <a:ln/>
        </p:spPr>
        <p:txBody>
          <a:bodyPr wrap="square" rtlCol="0" anchor="ctr"/>
          <a:lstStyle/>
          <a:p>
            <a:pPr indent="0" marL="0">
              <a:buNone/>
            </a:pPr>
            <a:r>
              <a:rPr lang="en-US" sz="1000" dirty="0">
                <a:solidFill>
                  <a:srgbClr val="BDC3C7"/>
                </a:solidFill>
                <a:latin typeface="Calibri" pitchFamily="34" charset="0"/>
                <a:ea typeface="Calibri" pitchFamily="34" charset="-122"/>
                <a:cs typeface="Calibri" pitchFamily="34" charset="-120"/>
              </a:rPr>
              <a:t>QUANTIUM | RETAIL ANALYTICS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0D1B2A"/>
          </a:solidFill>
          <a:ln w="12700">
            <a:solidFill>
              <a:srgbClr val="0D1B2A"/>
            </a:solidFill>
            <a:prstDash val="solid"/>
          </a:ln>
        </p:spPr>
      </p:sp>
      <p:sp>
        <p:nvSpPr>
          <p:cNvPr id="3" name="Shape 1"/>
          <p:cNvSpPr/>
          <p:nvPr/>
        </p:nvSpPr>
        <p:spPr>
          <a:xfrm>
            <a:off x="0" y="960120"/>
            <a:ext cx="12161520" cy="54864"/>
          </a:xfrm>
          <a:prstGeom prst="rect">
            <a:avLst/>
          </a:prstGeom>
          <a:solidFill>
            <a:srgbClr val="D4AC0D"/>
          </a:solidFill>
          <a:ln w="12700">
            <a:solidFill>
              <a:srgbClr val="D4AC0D"/>
            </a:solidFill>
            <a:prstDash val="solid"/>
          </a:ln>
        </p:spPr>
      </p:sp>
      <p:sp>
        <p:nvSpPr>
          <p:cNvPr id="4" name="Text 2"/>
          <p:cNvSpPr/>
          <p:nvPr/>
        </p:nvSpPr>
        <p:spPr>
          <a:xfrm>
            <a:off x="365760" y="64008"/>
            <a:ext cx="9601200" cy="41148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Customer Landscape</a:t>
            </a:r>
            <a:endParaRPr lang="en-US" sz="2200" dirty="0"/>
          </a:p>
        </p:txBody>
      </p:sp>
      <p:sp>
        <p:nvSpPr>
          <p:cNvPr id="5" name="Text 3"/>
          <p:cNvSpPr/>
          <p:nvPr/>
        </p:nvSpPr>
        <p:spPr>
          <a:xfrm>
            <a:off x="365760" y="512064"/>
            <a:ext cx="9601200" cy="347472"/>
          </a:xfrm>
          <a:prstGeom prst="rect">
            <a:avLst/>
          </a:prstGeom>
          <a:noFill/>
          <a:ln/>
        </p:spPr>
        <p:txBody>
          <a:bodyPr wrap="square" lIns="0" tIns="0" rIns="0" bIns="0" rtlCol="0" anchor="ctr"/>
          <a:lstStyle/>
          <a:p>
            <a:pPr indent="0" marL="0">
              <a:buNone/>
            </a:pPr>
            <a:r>
              <a:rPr lang="en-US" sz="1200" i="1" dirty="0">
                <a:solidFill>
                  <a:srgbClr val="A9CCE3"/>
                </a:solidFill>
                <a:latin typeface="Calibri" pitchFamily="34" charset="0"/>
                <a:ea typeface="Calibri" pitchFamily="34" charset="-122"/>
                <a:cs typeface="Calibri" pitchFamily="34" charset="-120"/>
              </a:rPr>
              <a:t>Total sales by customer tier — who is buying chips?</a:t>
            </a:r>
            <a:endParaRPr lang="en-US" sz="1200" dirty="0"/>
          </a:p>
        </p:txBody>
      </p:sp>
      <p:sp>
        <p:nvSpPr>
          <p:cNvPr id="6" name="Text 4"/>
          <p:cNvSpPr/>
          <p:nvPr/>
        </p:nvSpPr>
        <p:spPr>
          <a:xfrm>
            <a:off x="9144000" y="109728"/>
            <a:ext cx="2834640" cy="320040"/>
          </a:xfrm>
          <a:prstGeom prst="rect">
            <a:avLst/>
          </a:prstGeom>
          <a:noFill/>
          <a:ln/>
        </p:spPr>
        <p:txBody>
          <a:bodyPr wrap="square" lIns="0" tIns="0" rIns="0" bIns="0" rtlCol="0" anchor="ctr"/>
          <a:lstStyle/>
          <a:p>
            <a:pPr algn="r" indent="0" marL="0">
              <a:buNone/>
            </a:pPr>
            <a:r>
              <a:rPr lang="en-US" sz="900" dirty="0">
                <a:solidFill>
                  <a:srgbClr val="BDC3C7"/>
                </a:solidFill>
                <a:latin typeface="Calibri" pitchFamily="34" charset="0"/>
                <a:ea typeface="Calibri" pitchFamily="34" charset="-122"/>
                <a:cs typeface="Calibri" pitchFamily="34" charset="-120"/>
              </a:rPr>
              <a:t>QUANTIUM | RETAIL ANALYTICS</a:t>
            </a:r>
            <a:endParaRPr lang="en-US" sz="900" dirty="0"/>
          </a:p>
        </p:txBody>
      </p:sp>
      <p:graphicFrame>
        <p:nvGraphicFramePr>
          <p:cNvPr id="7" name="Chart 0" descr=""/>
          <p:cNvGraphicFramePr/>
          <p:nvPr/>
        </p:nvGraphicFramePr>
        <p:xfrm>
          <a:off x="274320" y="960120"/>
          <a:ext cx="5029200" cy="530352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5577840" y="1005840"/>
            <a:ext cx="6309360" cy="1600200"/>
          </a:xfrm>
          <a:prstGeom prst="rect">
            <a:avLst/>
          </a:prstGeom>
          <a:solidFill>
            <a:srgbClr val="FFFFFF"/>
          </a:solidFill>
          <a:ln w="12700">
            <a:solidFill>
              <a:srgbClr val="E5E8E8"/>
            </a:solidFill>
            <a:prstDash val="solid"/>
          </a:ln>
          <a:effectLst>
            <a:outerShdw sx="100000" sy="100000" kx="0" ky="0" algn="bl" rotWithShape="0" blurRad="101600" dist="38100" dir="8100000">
              <a:srgbClr val="000000">
                <a:alpha val="12000"/>
              </a:srgbClr>
            </a:outerShdw>
          </a:effectLst>
        </p:spPr>
      </p:sp>
      <p:sp>
        <p:nvSpPr>
          <p:cNvPr id="9" name="Shape 6"/>
          <p:cNvSpPr/>
          <p:nvPr/>
        </p:nvSpPr>
        <p:spPr>
          <a:xfrm>
            <a:off x="5577840" y="1005840"/>
            <a:ext cx="73152" cy="1600200"/>
          </a:xfrm>
          <a:prstGeom prst="rect">
            <a:avLst/>
          </a:prstGeom>
          <a:solidFill>
            <a:srgbClr val="1B4F72"/>
          </a:solidFill>
          <a:ln w="12700">
            <a:solidFill>
              <a:srgbClr val="1B4F72"/>
            </a:solidFill>
            <a:prstDash val="solid"/>
          </a:ln>
        </p:spPr>
      </p:sp>
      <p:sp>
        <p:nvSpPr>
          <p:cNvPr id="10" name="Text 7"/>
          <p:cNvSpPr/>
          <p:nvPr/>
        </p:nvSpPr>
        <p:spPr>
          <a:xfrm>
            <a:off x="5760720" y="1143000"/>
            <a:ext cx="1828800" cy="594360"/>
          </a:xfrm>
          <a:prstGeom prst="rect">
            <a:avLst/>
          </a:prstGeom>
          <a:noFill/>
          <a:ln/>
        </p:spPr>
        <p:txBody>
          <a:bodyPr wrap="square" lIns="0" tIns="0" rIns="0" bIns="0" rtlCol="0" anchor="ctr"/>
          <a:lstStyle/>
          <a:p>
            <a:pPr indent="0" marL="0">
              <a:buNone/>
            </a:pPr>
            <a:r>
              <a:rPr lang="en-US" sz="2800" b="1" dirty="0">
                <a:solidFill>
                  <a:srgbClr val="1B4F72"/>
                </a:solidFill>
                <a:latin typeface="Calibri" pitchFamily="34" charset="0"/>
                <a:ea typeface="Calibri" pitchFamily="34" charset="-122"/>
                <a:cs typeface="Calibri" pitchFamily="34" charset="-120"/>
              </a:rPr>
              <a:t>$750.7K</a:t>
            </a:r>
            <a:endParaRPr lang="en-US" sz="2800" dirty="0"/>
          </a:p>
        </p:txBody>
      </p:sp>
      <p:sp>
        <p:nvSpPr>
          <p:cNvPr id="11" name="Text 8"/>
          <p:cNvSpPr/>
          <p:nvPr/>
        </p:nvSpPr>
        <p:spPr>
          <a:xfrm>
            <a:off x="7589520" y="1207008"/>
            <a:ext cx="4114800" cy="365760"/>
          </a:xfrm>
          <a:prstGeom prst="rect">
            <a:avLst/>
          </a:prstGeom>
          <a:noFill/>
          <a:ln/>
        </p:spPr>
        <p:txBody>
          <a:bodyPr wrap="square" lIns="0" tIns="0" rIns="0" bIns="0" rtlCol="0" anchor="ctr"/>
          <a:lstStyle/>
          <a:p>
            <a:pPr indent="0" marL="0">
              <a:buNone/>
            </a:pPr>
            <a:r>
              <a:rPr lang="en-US" sz="1300" b="1" dirty="0">
                <a:solidFill>
                  <a:srgbClr val="0D1B2A"/>
                </a:solidFill>
                <a:latin typeface="Calibri" pitchFamily="34" charset="0"/>
                <a:ea typeface="Calibri" pitchFamily="34" charset="-122"/>
                <a:cs typeface="Calibri" pitchFamily="34" charset="-120"/>
              </a:rPr>
              <a:t>Mainstream</a:t>
            </a:r>
            <a:endParaRPr lang="en-US" sz="1300" dirty="0"/>
          </a:p>
        </p:txBody>
      </p:sp>
      <p:sp>
        <p:nvSpPr>
          <p:cNvPr id="12" name="Text 9"/>
          <p:cNvSpPr/>
          <p:nvPr/>
        </p:nvSpPr>
        <p:spPr>
          <a:xfrm>
            <a:off x="5760720" y="1755648"/>
            <a:ext cx="6035040" cy="777240"/>
          </a:xfrm>
          <a:prstGeom prst="rect">
            <a:avLst/>
          </a:prstGeom>
          <a:noFill/>
          <a:ln/>
        </p:spPr>
        <p:txBody>
          <a:bodyPr wrap="square" lIns="0" tIns="0" rIns="0" bIns="0" rtlCol="0" anchor="ctr"/>
          <a:lstStyle/>
          <a:p>
            <a:pPr indent="0" marL="0">
              <a:buNone/>
            </a:pPr>
            <a:r>
              <a:rPr lang="en-US" sz="1100" dirty="0">
                <a:solidFill>
                  <a:srgbClr val="566573"/>
                </a:solidFill>
                <a:latin typeface="Calibri" pitchFamily="34" charset="0"/>
                <a:ea typeface="Calibri" pitchFamily="34" charset="-122"/>
                <a:cs typeface="Calibri" pitchFamily="34" charset="-120"/>
              </a:rPr>
              <a:t>38.8% of total chip sales. Largest single tier — highest volume, driven by Young Singles/Couples and Retirees.</a:t>
            </a:r>
            <a:endParaRPr lang="en-US" sz="1100" dirty="0"/>
          </a:p>
        </p:txBody>
      </p:sp>
      <p:sp>
        <p:nvSpPr>
          <p:cNvPr id="13" name="Shape 10"/>
          <p:cNvSpPr/>
          <p:nvPr/>
        </p:nvSpPr>
        <p:spPr>
          <a:xfrm>
            <a:off x="5577840" y="2743200"/>
            <a:ext cx="6309360" cy="1600200"/>
          </a:xfrm>
          <a:prstGeom prst="rect">
            <a:avLst/>
          </a:prstGeom>
          <a:solidFill>
            <a:srgbClr val="FFFFFF"/>
          </a:solidFill>
          <a:ln w="12700">
            <a:solidFill>
              <a:srgbClr val="E5E8E8"/>
            </a:solidFill>
            <a:prstDash val="solid"/>
          </a:ln>
          <a:effectLst>
            <a:outerShdw sx="100000" sy="100000" kx="0" ky="0" algn="bl" rotWithShape="0" blurRad="101600" dist="38100" dir="8100000">
              <a:srgbClr val="000000">
                <a:alpha val="12000"/>
              </a:srgbClr>
            </a:outerShdw>
          </a:effectLst>
        </p:spPr>
      </p:sp>
      <p:sp>
        <p:nvSpPr>
          <p:cNvPr id="14" name="Shape 11"/>
          <p:cNvSpPr/>
          <p:nvPr/>
        </p:nvSpPr>
        <p:spPr>
          <a:xfrm>
            <a:off x="5577840" y="2743200"/>
            <a:ext cx="73152" cy="1600200"/>
          </a:xfrm>
          <a:prstGeom prst="rect">
            <a:avLst/>
          </a:prstGeom>
          <a:solidFill>
            <a:srgbClr val="148F77"/>
          </a:solidFill>
          <a:ln w="12700">
            <a:solidFill>
              <a:srgbClr val="148F77"/>
            </a:solidFill>
            <a:prstDash val="solid"/>
          </a:ln>
        </p:spPr>
      </p:sp>
      <p:sp>
        <p:nvSpPr>
          <p:cNvPr id="15" name="Text 12"/>
          <p:cNvSpPr/>
          <p:nvPr/>
        </p:nvSpPr>
        <p:spPr>
          <a:xfrm>
            <a:off x="5760720" y="2880360"/>
            <a:ext cx="1828800" cy="594360"/>
          </a:xfrm>
          <a:prstGeom prst="rect">
            <a:avLst/>
          </a:prstGeom>
          <a:noFill/>
          <a:ln/>
        </p:spPr>
        <p:txBody>
          <a:bodyPr wrap="square" lIns="0" tIns="0" rIns="0" bIns="0" rtlCol="0" anchor="ctr"/>
          <a:lstStyle/>
          <a:p>
            <a:pPr indent="0" marL="0">
              <a:buNone/>
            </a:pPr>
            <a:r>
              <a:rPr lang="en-US" sz="2800" b="1" dirty="0">
                <a:solidFill>
                  <a:srgbClr val="148F77"/>
                </a:solidFill>
                <a:latin typeface="Calibri" pitchFamily="34" charset="0"/>
                <a:ea typeface="Calibri" pitchFamily="34" charset="-122"/>
                <a:cs typeface="Calibri" pitchFamily="34" charset="-120"/>
              </a:rPr>
              <a:t>$676.2K</a:t>
            </a:r>
            <a:endParaRPr lang="en-US" sz="2800" dirty="0"/>
          </a:p>
        </p:txBody>
      </p:sp>
      <p:sp>
        <p:nvSpPr>
          <p:cNvPr id="16" name="Text 13"/>
          <p:cNvSpPr/>
          <p:nvPr/>
        </p:nvSpPr>
        <p:spPr>
          <a:xfrm>
            <a:off x="7589520" y="2944368"/>
            <a:ext cx="4114800" cy="365760"/>
          </a:xfrm>
          <a:prstGeom prst="rect">
            <a:avLst/>
          </a:prstGeom>
          <a:noFill/>
          <a:ln/>
        </p:spPr>
        <p:txBody>
          <a:bodyPr wrap="square" lIns="0" tIns="0" rIns="0" bIns="0" rtlCol="0" anchor="ctr"/>
          <a:lstStyle/>
          <a:p>
            <a:pPr indent="0" marL="0">
              <a:buNone/>
            </a:pPr>
            <a:r>
              <a:rPr lang="en-US" sz="1300" b="1" dirty="0">
                <a:solidFill>
                  <a:srgbClr val="0D1B2A"/>
                </a:solidFill>
                <a:latin typeface="Calibri" pitchFamily="34" charset="0"/>
                <a:ea typeface="Calibri" pitchFamily="34" charset="-122"/>
                <a:cs typeface="Calibri" pitchFamily="34" charset="-120"/>
              </a:rPr>
              <a:t>Budget</a:t>
            </a:r>
            <a:endParaRPr lang="en-US" sz="1300" dirty="0"/>
          </a:p>
        </p:txBody>
      </p:sp>
      <p:sp>
        <p:nvSpPr>
          <p:cNvPr id="17" name="Text 14"/>
          <p:cNvSpPr/>
          <p:nvPr/>
        </p:nvSpPr>
        <p:spPr>
          <a:xfrm>
            <a:off x="5760720" y="3493008"/>
            <a:ext cx="6035040" cy="777240"/>
          </a:xfrm>
          <a:prstGeom prst="rect">
            <a:avLst/>
          </a:prstGeom>
          <a:noFill/>
          <a:ln/>
        </p:spPr>
        <p:txBody>
          <a:bodyPr wrap="square" lIns="0" tIns="0" rIns="0" bIns="0" rtlCol="0" anchor="ctr"/>
          <a:lstStyle/>
          <a:p>
            <a:pPr indent="0" marL="0">
              <a:buNone/>
            </a:pPr>
            <a:r>
              <a:rPr lang="en-US" sz="1100" dirty="0">
                <a:solidFill>
                  <a:srgbClr val="566573"/>
                </a:solidFill>
                <a:latin typeface="Calibri" pitchFamily="34" charset="0"/>
                <a:ea typeface="Calibri" pitchFamily="34" charset="-122"/>
                <a:cs typeface="Calibri" pitchFamily="34" charset="-120"/>
              </a:rPr>
              <a:t>35.0% of total chip sales. High basket sizes — Older Families spend an average of $36 per visit.</a:t>
            </a:r>
            <a:endParaRPr lang="en-US" sz="1100" dirty="0"/>
          </a:p>
        </p:txBody>
      </p:sp>
      <p:sp>
        <p:nvSpPr>
          <p:cNvPr id="18" name="Shape 15"/>
          <p:cNvSpPr/>
          <p:nvPr/>
        </p:nvSpPr>
        <p:spPr>
          <a:xfrm>
            <a:off x="5577840" y="4480560"/>
            <a:ext cx="6309360" cy="1600200"/>
          </a:xfrm>
          <a:prstGeom prst="rect">
            <a:avLst/>
          </a:prstGeom>
          <a:solidFill>
            <a:srgbClr val="FFFFFF"/>
          </a:solidFill>
          <a:ln w="12700">
            <a:solidFill>
              <a:srgbClr val="E5E8E8"/>
            </a:solidFill>
            <a:prstDash val="solid"/>
          </a:ln>
          <a:effectLst>
            <a:outerShdw sx="100000" sy="100000" kx="0" ky="0" algn="bl" rotWithShape="0" blurRad="101600" dist="38100" dir="8100000">
              <a:srgbClr val="000000">
                <a:alpha val="12000"/>
              </a:srgbClr>
            </a:outerShdw>
          </a:effectLst>
        </p:spPr>
      </p:sp>
      <p:sp>
        <p:nvSpPr>
          <p:cNvPr id="19" name="Shape 16"/>
          <p:cNvSpPr/>
          <p:nvPr/>
        </p:nvSpPr>
        <p:spPr>
          <a:xfrm>
            <a:off x="5577840" y="4480560"/>
            <a:ext cx="73152" cy="1600200"/>
          </a:xfrm>
          <a:prstGeom prst="rect">
            <a:avLst/>
          </a:prstGeom>
          <a:solidFill>
            <a:srgbClr val="D4AC0D"/>
          </a:solidFill>
          <a:ln w="12700">
            <a:solidFill>
              <a:srgbClr val="D4AC0D"/>
            </a:solidFill>
            <a:prstDash val="solid"/>
          </a:ln>
        </p:spPr>
      </p:sp>
      <p:sp>
        <p:nvSpPr>
          <p:cNvPr id="20" name="Text 17"/>
          <p:cNvSpPr/>
          <p:nvPr/>
        </p:nvSpPr>
        <p:spPr>
          <a:xfrm>
            <a:off x="5760720" y="4617720"/>
            <a:ext cx="1828800" cy="594360"/>
          </a:xfrm>
          <a:prstGeom prst="rect">
            <a:avLst/>
          </a:prstGeom>
          <a:noFill/>
          <a:ln/>
        </p:spPr>
        <p:txBody>
          <a:bodyPr wrap="square" lIns="0" tIns="0" rIns="0" bIns="0" rtlCol="0" anchor="ctr"/>
          <a:lstStyle/>
          <a:p>
            <a:pPr indent="0" marL="0">
              <a:buNone/>
            </a:pPr>
            <a:r>
              <a:rPr lang="en-US" sz="2800" b="1" dirty="0">
                <a:solidFill>
                  <a:srgbClr val="D4AC0D"/>
                </a:solidFill>
                <a:latin typeface="Calibri" pitchFamily="34" charset="0"/>
                <a:ea typeface="Calibri" pitchFamily="34" charset="-122"/>
                <a:cs typeface="Calibri" pitchFamily="34" charset="-120"/>
              </a:rPr>
              <a:t>$506.2K</a:t>
            </a:r>
            <a:endParaRPr lang="en-US" sz="2800" dirty="0"/>
          </a:p>
        </p:txBody>
      </p:sp>
      <p:sp>
        <p:nvSpPr>
          <p:cNvPr id="21" name="Text 18"/>
          <p:cNvSpPr/>
          <p:nvPr/>
        </p:nvSpPr>
        <p:spPr>
          <a:xfrm>
            <a:off x="7589520" y="4681728"/>
            <a:ext cx="4114800" cy="365760"/>
          </a:xfrm>
          <a:prstGeom prst="rect">
            <a:avLst/>
          </a:prstGeom>
          <a:noFill/>
          <a:ln/>
        </p:spPr>
        <p:txBody>
          <a:bodyPr wrap="square" lIns="0" tIns="0" rIns="0" bIns="0" rtlCol="0" anchor="ctr"/>
          <a:lstStyle/>
          <a:p>
            <a:pPr indent="0" marL="0">
              <a:buNone/>
            </a:pPr>
            <a:r>
              <a:rPr lang="en-US" sz="1300" b="1" dirty="0">
                <a:solidFill>
                  <a:srgbClr val="0D1B2A"/>
                </a:solidFill>
                <a:latin typeface="Calibri" pitchFamily="34" charset="0"/>
                <a:ea typeface="Calibri" pitchFamily="34" charset="-122"/>
                <a:cs typeface="Calibri" pitchFamily="34" charset="-120"/>
              </a:rPr>
              <a:t>Premium</a:t>
            </a:r>
            <a:endParaRPr lang="en-US" sz="1300" dirty="0"/>
          </a:p>
        </p:txBody>
      </p:sp>
      <p:sp>
        <p:nvSpPr>
          <p:cNvPr id="22" name="Text 19"/>
          <p:cNvSpPr/>
          <p:nvPr/>
        </p:nvSpPr>
        <p:spPr>
          <a:xfrm>
            <a:off x="5760720" y="5230368"/>
            <a:ext cx="6035040" cy="777240"/>
          </a:xfrm>
          <a:prstGeom prst="rect">
            <a:avLst/>
          </a:prstGeom>
          <a:noFill/>
          <a:ln/>
        </p:spPr>
        <p:txBody>
          <a:bodyPr wrap="square" lIns="0" tIns="0" rIns="0" bIns="0" rtlCol="0" anchor="ctr"/>
          <a:lstStyle/>
          <a:p>
            <a:pPr indent="0" marL="0">
              <a:buNone/>
            </a:pPr>
            <a:r>
              <a:rPr lang="en-US" sz="1100" dirty="0">
                <a:solidFill>
                  <a:srgbClr val="566573"/>
                </a:solidFill>
                <a:latin typeface="Calibri" pitchFamily="34" charset="0"/>
                <a:ea typeface="Calibri" pitchFamily="34" charset="-122"/>
                <a:cs typeface="Calibri" pitchFamily="34" charset="-120"/>
              </a:rPr>
              <a:t>26.2% of total chip sales. Lower volume but consistent purchasing, particularly Older Singles/Couples.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0D1B2A"/>
          </a:solidFill>
          <a:ln w="12700">
            <a:solidFill>
              <a:srgbClr val="0D1B2A"/>
            </a:solidFill>
            <a:prstDash val="solid"/>
          </a:ln>
        </p:spPr>
      </p:sp>
      <p:sp>
        <p:nvSpPr>
          <p:cNvPr id="3" name="Shape 1"/>
          <p:cNvSpPr/>
          <p:nvPr/>
        </p:nvSpPr>
        <p:spPr>
          <a:xfrm>
            <a:off x="0" y="960120"/>
            <a:ext cx="12161520" cy="54864"/>
          </a:xfrm>
          <a:prstGeom prst="rect">
            <a:avLst/>
          </a:prstGeom>
          <a:solidFill>
            <a:srgbClr val="D4AC0D"/>
          </a:solidFill>
          <a:ln w="12700">
            <a:solidFill>
              <a:srgbClr val="D4AC0D"/>
            </a:solidFill>
            <a:prstDash val="solid"/>
          </a:ln>
        </p:spPr>
      </p:sp>
      <p:sp>
        <p:nvSpPr>
          <p:cNvPr id="4" name="Text 2"/>
          <p:cNvSpPr/>
          <p:nvPr/>
        </p:nvSpPr>
        <p:spPr>
          <a:xfrm>
            <a:off x="365760" y="64008"/>
            <a:ext cx="9601200" cy="41148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Top Performing Segments</a:t>
            </a:r>
            <a:endParaRPr lang="en-US" sz="2200" dirty="0"/>
          </a:p>
        </p:txBody>
      </p:sp>
      <p:sp>
        <p:nvSpPr>
          <p:cNvPr id="5" name="Text 3"/>
          <p:cNvSpPr/>
          <p:nvPr/>
        </p:nvSpPr>
        <p:spPr>
          <a:xfrm>
            <a:off x="365760" y="512064"/>
            <a:ext cx="9601200" cy="347472"/>
          </a:xfrm>
          <a:prstGeom prst="rect">
            <a:avLst/>
          </a:prstGeom>
          <a:noFill/>
          <a:ln/>
        </p:spPr>
        <p:txBody>
          <a:bodyPr wrap="square" lIns="0" tIns="0" rIns="0" bIns="0" rtlCol="0" anchor="ctr"/>
          <a:lstStyle/>
          <a:p>
            <a:pPr indent="0" marL="0">
              <a:buNone/>
            </a:pPr>
            <a:r>
              <a:rPr lang="en-US" sz="1200" i="1" dirty="0">
                <a:solidFill>
                  <a:srgbClr val="A9CCE3"/>
                </a:solidFill>
                <a:latin typeface="Calibri" pitchFamily="34" charset="0"/>
                <a:ea typeface="Calibri" pitchFamily="34" charset="-122"/>
                <a:cs typeface="Calibri" pitchFamily="34" charset="-120"/>
              </a:rPr>
              <a:t>The five highest-revenue customer groups — where sales are concentrated</a:t>
            </a:r>
            <a:endParaRPr lang="en-US" sz="1200" dirty="0"/>
          </a:p>
        </p:txBody>
      </p:sp>
      <p:sp>
        <p:nvSpPr>
          <p:cNvPr id="6" name="Text 4"/>
          <p:cNvSpPr/>
          <p:nvPr/>
        </p:nvSpPr>
        <p:spPr>
          <a:xfrm>
            <a:off x="9144000" y="109728"/>
            <a:ext cx="2834640" cy="320040"/>
          </a:xfrm>
          <a:prstGeom prst="rect">
            <a:avLst/>
          </a:prstGeom>
          <a:noFill/>
          <a:ln/>
        </p:spPr>
        <p:txBody>
          <a:bodyPr wrap="square" lIns="0" tIns="0" rIns="0" bIns="0" rtlCol="0" anchor="ctr"/>
          <a:lstStyle/>
          <a:p>
            <a:pPr algn="r" indent="0" marL="0">
              <a:buNone/>
            </a:pPr>
            <a:r>
              <a:rPr lang="en-US" sz="900" dirty="0">
                <a:solidFill>
                  <a:srgbClr val="BDC3C7"/>
                </a:solidFill>
                <a:latin typeface="Calibri" pitchFamily="34" charset="0"/>
                <a:ea typeface="Calibri" pitchFamily="34" charset="-122"/>
                <a:cs typeface="Calibri" pitchFamily="34" charset="-120"/>
              </a:rPr>
              <a:t>QUANTIUM | RETAIL ANALYTICS</a:t>
            </a:r>
            <a:endParaRPr lang="en-US" sz="900" dirty="0"/>
          </a:p>
        </p:txBody>
      </p:sp>
      <p:graphicFrame>
        <p:nvGraphicFramePr>
          <p:cNvPr id="7" name="Chart 0" descr=""/>
          <p:cNvGraphicFramePr/>
          <p:nvPr/>
        </p:nvGraphicFramePr>
        <p:xfrm>
          <a:off x="274320" y="960120"/>
          <a:ext cx="7498080" cy="539496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7955280" y="1005840"/>
            <a:ext cx="3931920" cy="1600200"/>
          </a:xfrm>
          <a:prstGeom prst="rect">
            <a:avLst/>
          </a:prstGeom>
          <a:solidFill>
            <a:srgbClr val="FFFFFF"/>
          </a:solidFill>
          <a:ln w="12700">
            <a:solidFill>
              <a:srgbClr val="E5E8E8"/>
            </a:solidFill>
            <a:prstDash val="solid"/>
          </a:ln>
          <a:effectLst>
            <a:outerShdw sx="100000" sy="100000" kx="0" ky="0" algn="bl" rotWithShape="0" blurRad="101600" dist="38100" dir="8100000">
              <a:srgbClr val="000000">
                <a:alpha val="12000"/>
              </a:srgbClr>
            </a:outerShdw>
          </a:effectLst>
        </p:spPr>
      </p:sp>
      <p:sp>
        <p:nvSpPr>
          <p:cNvPr id="9" name="Shape 6"/>
          <p:cNvSpPr/>
          <p:nvPr/>
        </p:nvSpPr>
        <p:spPr>
          <a:xfrm>
            <a:off x="7955280" y="1005840"/>
            <a:ext cx="64008" cy="1600200"/>
          </a:xfrm>
          <a:prstGeom prst="rect">
            <a:avLst/>
          </a:prstGeom>
          <a:solidFill>
            <a:srgbClr val="1B4F72"/>
          </a:solidFill>
          <a:ln w="12700">
            <a:solidFill>
              <a:srgbClr val="1B4F72"/>
            </a:solidFill>
            <a:prstDash val="solid"/>
          </a:ln>
        </p:spPr>
      </p:sp>
      <p:sp>
        <p:nvSpPr>
          <p:cNvPr id="10" name="Text 7"/>
          <p:cNvSpPr/>
          <p:nvPr/>
        </p:nvSpPr>
        <p:spPr>
          <a:xfrm>
            <a:off x="8092440" y="1097280"/>
            <a:ext cx="3749040" cy="274320"/>
          </a:xfrm>
          <a:prstGeom prst="rect">
            <a:avLst/>
          </a:prstGeom>
          <a:noFill/>
          <a:ln/>
        </p:spPr>
        <p:txBody>
          <a:bodyPr wrap="square" lIns="0" tIns="0" rIns="0" bIns="0" rtlCol="0" anchor="ctr"/>
          <a:lstStyle/>
          <a:p>
            <a:pPr indent="0" marL="0">
              <a:buNone/>
            </a:pPr>
            <a:r>
              <a:rPr lang="en-US" sz="1200" b="1" dirty="0">
                <a:solidFill>
                  <a:srgbClr val="1B4F72"/>
                </a:solidFill>
                <a:latin typeface="Calibri" pitchFamily="34" charset="0"/>
                <a:ea typeface="Calibri" pitchFamily="34" charset="-122"/>
                <a:cs typeface="Calibri" pitchFamily="34" charset="-120"/>
              </a:rPr>
              <a:t>★  Key Insight</a:t>
            </a:r>
            <a:endParaRPr lang="en-US" sz="1200" dirty="0"/>
          </a:p>
        </p:txBody>
      </p:sp>
      <p:sp>
        <p:nvSpPr>
          <p:cNvPr id="11" name="Text 8"/>
          <p:cNvSpPr/>
          <p:nvPr/>
        </p:nvSpPr>
        <p:spPr>
          <a:xfrm>
            <a:off x="8092440" y="1353312"/>
            <a:ext cx="3749040" cy="1143000"/>
          </a:xfrm>
          <a:prstGeom prst="rect">
            <a:avLst/>
          </a:prstGeom>
          <a:noFill/>
          <a:ln/>
        </p:spPr>
        <p:txBody>
          <a:bodyPr wrap="square" lIns="0" tIns="0" rIns="0" bIns="0" rtlCol="0" anchor="ctr"/>
          <a:lstStyle/>
          <a:p>
            <a:pPr indent="0" marL="0">
              <a:buNone/>
            </a:pPr>
            <a:r>
              <a:rPr lang="en-US" sz="1100" dirty="0">
                <a:solidFill>
                  <a:srgbClr val="0D1B2A"/>
                </a:solidFill>
                <a:latin typeface="Calibri" pitchFamily="34" charset="0"/>
                <a:ea typeface="Calibri" pitchFamily="34" charset="-122"/>
                <a:cs typeface="Calibri" pitchFamily="34" charset="-120"/>
              </a:rPr>
              <a:t>Older Families (Budget) are the #1 segment at $168K — driven by high basket sizes averaging $36 per shop.</a:t>
            </a:r>
            <a:endParaRPr lang="en-US" sz="1100" dirty="0"/>
          </a:p>
        </p:txBody>
      </p:sp>
      <p:sp>
        <p:nvSpPr>
          <p:cNvPr id="12" name="Shape 9"/>
          <p:cNvSpPr/>
          <p:nvPr/>
        </p:nvSpPr>
        <p:spPr>
          <a:xfrm>
            <a:off x="7955280" y="2834640"/>
            <a:ext cx="3931920" cy="1600200"/>
          </a:xfrm>
          <a:prstGeom prst="rect">
            <a:avLst/>
          </a:prstGeom>
          <a:solidFill>
            <a:srgbClr val="FFFFFF"/>
          </a:solidFill>
          <a:ln w="12700">
            <a:solidFill>
              <a:srgbClr val="E5E8E8"/>
            </a:solidFill>
            <a:prstDash val="solid"/>
          </a:ln>
          <a:effectLst>
            <a:outerShdw sx="100000" sy="100000" kx="0" ky="0" algn="bl" rotWithShape="0" blurRad="101600" dist="38100" dir="8100000">
              <a:srgbClr val="000000">
                <a:alpha val="12000"/>
              </a:srgbClr>
            </a:outerShdw>
          </a:effectLst>
        </p:spPr>
      </p:sp>
      <p:sp>
        <p:nvSpPr>
          <p:cNvPr id="13" name="Shape 10"/>
          <p:cNvSpPr/>
          <p:nvPr/>
        </p:nvSpPr>
        <p:spPr>
          <a:xfrm>
            <a:off x="7955280" y="2834640"/>
            <a:ext cx="64008" cy="1600200"/>
          </a:xfrm>
          <a:prstGeom prst="rect">
            <a:avLst/>
          </a:prstGeom>
          <a:solidFill>
            <a:srgbClr val="148F77"/>
          </a:solidFill>
          <a:ln w="12700">
            <a:solidFill>
              <a:srgbClr val="148F77"/>
            </a:solidFill>
            <a:prstDash val="solid"/>
          </a:ln>
        </p:spPr>
      </p:sp>
      <p:sp>
        <p:nvSpPr>
          <p:cNvPr id="14" name="Text 11"/>
          <p:cNvSpPr/>
          <p:nvPr/>
        </p:nvSpPr>
        <p:spPr>
          <a:xfrm>
            <a:off x="8092440" y="2926080"/>
            <a:ext cx="3749040" cy="274320"/>
          </a:xfrm>
          <a:prstGeom prst="rect">
            <a:avLst/>
          </a:prstGeom>
          <a:noFill/>
          <a:ln/>
        </p:spPr>
        <p:txBody>
          <a:bodyPr wrap="square" lIns="0" tIns="0" rIns="0" bIns="0" rtlCol="0" anchor="ctr"/>
          <a:lstStyle/>
          <a:p>
            <a:pPr indent="0" marL="0">
              <a:buNone/>
            </a:pPr>
            <a:r>
              <a:rPr lang="en-US" sz="1200" b="1" dirty="0">
                <a:solidFill>
                  <a:srgbClr val="148F77"/>
                </a:solidFill>
                <a:latin typeface="Calibri" pitchFamily="34" charset="0"/>
                <a:ea typeface="Calibri" pitchFamily="34" charset="-122"/>
                <a:cs typeface="Calibri" pitchFamily="34" charset="-120"/>
              </a:rPr>
              <a:t>↑  Key Insight</a:t>
            </a:r>
            <a:endParaRPr lang="en-US" sz="1200" dirty="0"/>
          </a:p>
        </p:txBody>
      </p:sp>
      <p:sp>
        <p:nvSpPr>
          <p:cNvPr id="15" name="Text 12"/>
          <p:cNvSpPr/>
          <p:nvPr/>
        </p:nvSpPr>
        <p:spPr>
          <a:xfrm>
            <a:off x="8092440" y="3182112"/>
            <a:ext cx="3749040" cy="1143000"/>
          </a:xfrm>
          <a:prstGeom prst="rect">
            <a:avLst/>
          </a:prstGeom>
          <a:noFill/>
          <a:ln/>
        </p:spPr>
        <p:txBody>
          <a:bodyPr wrap="square" lIns="0" tIns="0" rIns="0" bIns="0" rtlCol="0" anchor="ctr"/>
          <a:lstStyle/>
          <a:p>
            <a:pPr indent="0" marL="0">
              <a:buNone/>
            </a:pPr>
            <a:r>
              <a:rPr lang="en-US" sz="1100" dirty="0">
                <a:solidFill>
                  <a:srgbClr val="0D1B2A"/>
                </a:solidFill>
                <a:latin typeface="Calibri" pitchFamily="34" charset="0"/>
                <a:ea typeface="Calibri" pitchFamily="34" charset="-122"/>
                <a:cs typeface="Calibri" pitchFamily="34" charset="-120"/>
              </a:rPr>
              <a:t>Young Singles/Couples (Mainstream) have the most customers (8,088) making them high-volume but lower spend per trip.</a:t>
            </a:r>
            <a:endParaRPr lang="en-US" sz="1100" dirty="0"/>
          </a:p>
        </p:txBody>
      </p:sp>
      <p:sp>
        <p:nvSpPr>
          <p:cNvPr id="16" name="Shape 13"/>
          <p:cNvSpPr/>
          <p:nvPr/>
        </p:nvSpPr>
        <p:spPr>
          <a:xfrm>
            <a:off x="7955280" y="4663440"/>
            <a:ext cx="3931920" cy="1600200"/>
          </a:xfrm>
          <a:prstGeom prst="rect">
            <a:avLst/>
          </a:prstGeom>
          <a:solidFill>
            <a:srgbClr val="FFFFFF"/>
          </a:solidFill>
          <a:ln w="12700">
            <a:solidFill>
              <a:srgbClr val="E5E8E8"/>
            </a:solidFill>
            <a:prstDash val="solid"/>
          </a:ln>
          <a:effectLst>
            <a:outerShdw sx="100000" sy="100000" kx="0" ky="0" algn="bl" rotWithShape="0" blurRad="101600" dist="38100" dir="8100000">
              <a:srgbClr val="000000">
                <a:alpha val="12000"/>
              </a:srgbClr>
            </a:outerShdw>
          </a:effectLst>
        </p:spPr>
      </p:sp>
      <p:sp>
        <p:nvSpPr>
          <p:cNvPr id="17" name="Shape 14"/>
          <p:cNvSpPr/>
          <p:nvPr/>
        </p:nvSpPr>
        <p:spPr>
          <a:xfrm>
            <a:off x="7955280" y="4663440"/>
            <a:ext cx="64008" cy="1600200"/>
          </a:xfrm>
          <a:prstGeom prst="rect">
            <a:avLst/>
          </a:prstGeom>
          <a:solidFill>
            <a:srgbClr val="D4AC0D"/>
          </a:solidFill>
          <a:ln w="12700">
            <a:solidFill>
              <a:srgbClr val="D4AC0D"/>
            </a:solidFill>
            <a:prstDash val="solid"/>
          </a:ln>
        </p:spPr>
      </p:sp>
      <p:sp>
        <p:nvSpPr>
          <p:cNvPr id="18" name="Text 15"/>
          <p:cNvSpPr/>
          <p:nvPr/>
        </p:nvSpPr>
        <p:spPr>
          <a:xfrm>
            <a:off x="8092440" y="4754880"/>
            <a:ext cx="3749040" cy="274320"/>
          </a:xfrm>
          <a:prstGeom prst="rect">
            <a:avLst/>
          </a:prstGeom>
          <a:noFill/>
          <a:ln/>
        </p:spPr>
        <p:txBody>
          <a:bodyPr wrap="square" lIns="0" tIns="0" rIns="0" bIns="0" rtlCol="0" anchor="ctr"/>
          <a:lstStyle/>
          <a:p>
            <a:pPr indent="0" marL="0">
              <a:buNone/>
            </a:pPr>
            <a:r>
              <a:rPr lang="en-US" sz="1200" b="1" dirty="0">
                <a:solidFill>
                  <a:srgbClr val="D4AC0D"/>
                </a:solidFill>
                <a:latin typeface="Calibri" pitchFamily="34" charset="0"/>
                <a:ea typeface="Calibri" pitchFamily="34" charset="-122"/>
                <a:cs typeface="Calibri" pitchFamily="34" charset="-120"/>
              </a:rPr>
              <a:t>→  Key Insight</a:t>
            </a:r>
            <a:endParaRPr lang="en-US" sz="1200" dirty="0"/>
          </a:p>
        </p:txBody>
      </p:sp>
      <p:sp>
        <p:nvSpPr>
          <p:cNvPr id="19" name="Text 16"/>
          <p:cNvSpPr/>
          <p:nvPr/>
        </p:nvSpPr>
        <p:spPr>
          <a:xfrm>
            <a:off x="8092440" y="5010912"/>
            <a:ext cx="3749040" cy="1143000"/>
          </a:xfrm>
          <a:prstGeom prst="rect">
            <a:avLst/>
          </a:prstGeom>
          <a:noFill/>
          <a:ln/>
        </p:spPr>
        <p:txBody>
          <a:bodyPr wrap="square" lIns="0" tIns="0" rIns="0" bIns="0" rtlCol="0" anchor="ctr"/>
          <a:lstStyle/>
          <a:p>
            <a:pPr indent="0" marL="0">
              <a:buNone/>
            </a:pPr>
            <a:r>
              <a:rPr lang="en-US" sz="1100" dirty="0">
                <a:solidFill>
                  <a:srgbClr val="0D1B2A"/>
                </a:solidFill>
                <a:latin typeface="Calibri" pitchFamily="34" charset="0"/>
                <a:ea typeface="Calibri" pitchFamily="34" charset="-122"/>
                <a:cs typeface="Calibri" pitchFamily="34" charset="-120"/>
              </a:rPr>
              <a:t>The top 5 segments collectively represent 64% of total chip revenue — targeting these groups should be a priority.</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D4AC0D"/>
          </a:solidFill>
          <a:ln w="12700">
            <a:solidFill>
              <a:srgbClr val="D4AC0D"/>
            </a:solidFill>
            <a:prstDash val="solid"/>
          </a:ln>
        </p:spPr>
      </p:sp>
      <p:sp>
        <p:nvSpPr>
          <p:cNvPr id="3" name="Shape 1"/>
          <p:cNvSpPr/>
          <p:nvPr/>
        </p:nvSpPr>
        <p:spPr>
          <a:xfrm>
            <a:off x="164592" y="0"/>
            <a:ext cx="11996928" cy="6858000"/>
          </a:xfrm>
          <a:prstGeom prst="rect">
            <a:avLst/>
          </a:prstGeom>
          <a:solidFill>
            <a:srgbClr val="0D1B2A"/>
          </a:solidFill>
          <a:ln w="12700">
            <a:solidFill>
              <a:srgbClr val="0D1B2A"/>
            </a:solidFill>
            <a:prstDash val="solid"/>
          </a:ln>
        </p:spPr>
      </p:sp>
      <p:sp>
        <p:nvSpPr>
          <p:cNvPr id="4" name="Text 2"/>
          <p:cNvSpPr/>
          <p:nvPr/>
        </p:nvSpPr>
        <p:spPr>
          <a:xfrm>
            <a:off x="914400" y="2377440"/>
            <a:ext cx="10058400" cy="1097280"/>
          </a:xfrm>
          <a:prstGeom prst="rect">
            <a:avLst/>
          </a:prstGeom>
          <a:noFill/>
          <a:ln/>
        </p:spPr>
        <p:txBody>
          <a:bodyPr wrap="square" rtlCol="0" anchor="ctr"/>
          <a:lstStyle/>
          <a:p>
            <a:pPr indent="0" marL="0">
              <a:buNone/>
            </a:pPr>
            <a:r>
              <a:rPr lang="en-US" sz="4200" b="1" dirty="0">
                <a:solidFill>
                  <a:srgbClr val="FFFFFF"/>
                </a:solidFill>
                <a:latin typeface="Calibri" pitchFamily="34" charset="0"/>
                <a:ea typeface="Calibri" pitchFamily="34" charset="-122"/>
                <a:cs typeface="Calibri" pitchFamily="34" charset="-120"/>
              </a:rPr>
              <a:t>Part 2: Trial Assessment</a:t>
            </a:r>
            <a:endParaRPr lang="en-US" sz="4200" dirty="0"/>
          </a:p>
        </p:txBody>
      </p:sp>
      <p:sp>
        <p:nvSpPr>
          <p:cNvPr id="5" name="Text 3"/>
          <p:cNvSpPr/>
          <p:nvPr/>
        </p:nvSpPr>
        <p:spPr>
          <a:xfrm>
            <a:off x="914400" y="3474720"/>
            <a:ext cx="10058400" cy="640080"/>
          </a:xfrm>
          <a:prstGeom prst="rect">
            <a:avLst/>
          </a:prstGeom>
          <a:noFill/>
          <a:ln/>
        </p:spPr>
        <p:txBody>
          <a:bodyPr wrap="square" rtlCol="0" anchor="ctr"/>
          <a:lstStyle/>
          <a:p>
            <a:pPr indent="0" marL="0">
              <a:buNone/>
            </a:pPr>
            <a:r>
              <a:rPr lang="en-US" sz="1800" i="1" dirty="0">
                <a:solidFill>
                  <a:srgbClr val="D4AC0D"/>
                </a:solidFill>
                <a:latin typeface="Calibri" pitchFamily="34" charset="0"/>
                <a:ea typeface="Calibri" pitchFamily="34" charset="-122"/>
                <a:cs typeface="Calibri" pitchFamily="34" charset="-120"/>
              </a:rPr>
              <a:t>Did the new store format actually work? A rigorous store-by-store analysis</a:t>
            </a:r>
            <a:endParaRPr lang="en-US" sz="1800" dirty="0"/>
          </a:p>
        </p:txBody>
      </p:sp>
      <p:sp>
        <p:nvSpPr>
          <p:cNvPr id="6" name="Text 4"/>
          <p:cNvSpPr/>
          <p:nvPr/>
        </p:nvSpPr>
        <p:spPr>
          <a:xfrm>
            <a:off x="914400" y="6217920"/>
            <a:ext cx="5486400" cy="365760"/>
          </a:xfrm>
          <a:prstGeom prst="rect">
            <a:avLst/>
          </a:prstGeom>
          <a:noFill/>
          <a:ln/>
        </p:spPr>
        <p:txBody>
          <a:bodyPr wrap="square" rtlCol="0" anchor="ctr"/>
          <a:lstStyle/>
          <a:p>
            <a:pPr indent="0" marL="0">
              <a:buNone/>
            </a:pPr>
            <a:r>
              <a:rPr lang="en-US" sz="1000" dirty="0">
                <a:solidFill>
                  <a:srgbClr val="BDC3C7"/>
                </a:solidFill>
                <a:latin typeface="Calibri" pitchFamily="34" charset="0"/>
                <a:ea typeface="Calibri" pitchFamily="34" charset="-122"/>
                <a:cs typeface="Calibri" pitchFamily="34" charset="-120"/>
              </a:rPr>
              <a:t>QUANTIUM | RETAIL ANALYTICS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0D1B2A"/>
          </a:solidFill>
          <a:ln w="12700">
            <a:solidFill>
              <a:srgbClr val="0D1B2A"/>
            </a:solidFill>
            <a:prstDash val="solid"/>
          </a:ln>
        </p:spPr>
      </p:sp>
      <p:sp>
        <p:nvSpPr>
          <p:cNvPr id="3" name="Shape 1"/>
          <p:cNvSpPr/>
          <p:nvPr/>
        </p:nvSpPr>
        <p:spPr>
          <a:xfrm>
            <a:off x="0" y="960120"/>
            <a:ext cx="12161520" cy="54864"/>
          </a:xfrm>
          <a:prstGeom prst="rect">
            <a:avLst/>
          </a:prstGeom>
          <a:solidFill>
            <a:srgbClr val="D4AC0D"/>
          </a:solidFill>
          <a:ln w="12700">
            <a:solidFill>
              <a:srgbClr val="D4AC0D"/>
            </a:solidFill>
            <a:prstDash val="solid"/>
          </a:ln>
        </p:spPr>
      </p:sp>
      <p:sp>
        <p:nvSpPr>
          <p:cNvPr id="4" name="Text 2"/>
          <p:cNvSpPr/>
          <p:nvPr/>
        </p:nvSpPr>
        <p:spPr>
          <a:xfrm>
            <a:off x="365760" y="64008"/>
            <a:ext cx="9601200" cy="41148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Methodology: Control Store Selection</a:t>
            </a:r>
            <a:endParaRPr lang="en-US" sz="2200" dirty="0"/>
          </a:p>
        </p:txBody>
      </p:sp>
      <p:sp>
        <p:nvSpPr>
          <p:cNvPr id="5" name="Text 3"/>
          <p:cNvSpPr/>
          <p:nvPr/>
        </p:nvSpPr>
        <p:spPr>
          <a:xfrm>
            <a:off x="365760" y="512064"/>
            <a:ext cx="9601200" cy="347472"/>
          </a:xfrm>
          <a:prstGeom prst="rect">
            <a:avLst/>
          </a:prstGeom>
          <a:noFill/>
          <a:ln/>
        </p:spPr>
        <p:txBody>
          <a:bodyPr wrap="square" lIns="0" tIns="0" rIns="0" bIns="0" rtlCol="0" anchor="ctr"/>
          <a:lstStyle/>
          <a:p>
            <a:pPr indent="0" marL="0">
              <a:buNone/>
            </a:pPr>
            <a:r>
              <a:rPr lang="en-US" sz="1200" i="1" dirty="0">
                <a:solidFill>
                  <a:srgbClr val="A9CCE3"/>
                </a:solidFill>
                <a:latin typeface="Calibri" pitchFamily="34" charset="0"/>
                <a:ea typeface="Calibri" pitchFamily="34" charset="-122"/>
                <a:cs typeface="Calibri" pitchFamily="34" charset="-120"/>
              </a:rPr>
              <a:t>A rigorous, data-driven approach to finding the right benchmark</a:t>
            </a:r>
            <a:endParaRPr lang="en-US" sz="1200" dirty="0"/>
          </a:p>
        </p:txBody>
      </p:sp>
      <p:sp>
        <p:nvSpPr>
          <p:cNvPr id="6" name="Text 4"/>
          <p:cNvSpPr/>
          <p:nvPr/>
        </p:nvSpPr>
        <p:spPr>
          <a:xfrm>
            <a:off x="9144000" y="109728"/>
            <a:ext cx="2834640" cy="320040"/>
          </a:xfrm>
          <a:prstGeom prst="rect">
            <a:avLst/>
          </a:prstGeom>
          <a:noFill/>
          <a:ln/>
        </p:spPr>
        <p:txBody>
          <a:bodyPr wrap="square" lIns="0" tIns="0" rIns="0" bIns="0" rtlCol="0" anchor="ctr"/>
          <a:lstStyle/>
          <a:p>
            <a:pPr algn="r" indent="0" marL="0">
              <a:buNone/>
            </a:pPr>
            <a:r>
              <a:rPr lang="en-US" sz="900" dirty="0">
                <a:solidFill>
                  <a:srgbClr val="BDC3C7"/>
                </a:solidFill>
                <a:latin typeface="Calibri" pitchFamily="34" charset="0"/>
                <a:ea typeface="Calibri" pitchFamily="34" charset="-122"/>
                <a:cs typeface="Calibri" pitchFamily="34" charset="-120"/>
              </a:rPr>
              <a:t>QUANTIUM | RETAIL ANALYTICS</a:t>
            </a:r>
            <a:endParaRPr lang="en-US" sz="900" dirty="0"/>
          </a:p>
        </p:txBody>
      </p:sp>
      <p:sp>
        <p:nvSpPr>
          <p:cNvPr id="7" name="Shape 5"/>
          <p:cNvSpPr/>
          <p:nvPr/>
        </p:nvSpPr>
        <p:spPr>
          <a:xfrm>
            <a:off x="274320" y="1005840"/>
            <a:ext cx="2743200" cy="2377440"/>
          </a:xfrm>
          <a:prstGeom prst="rect">
            <a:avLst/>
          </a:prstGeom>
          <a:solidFill>
            <a:srgbClr val="FFFFFF"/>
          </a:solidFill>
          <a:ln w="12700">
            <a:solidFill>
              <a:srgbClr val="E5E8E8"/>
            </a:solidFill>
            <a:prstDash val="solid"/>
          </a:ln>
          <a:effectLst>
            <a:outerShdw sx="100000" sy="100000" kx="0" ky="0" algn="bl" rotWithShape="0" blurRad="101600" dist="38100" dir="8100000">
              <a:srgbClr val="000000">
                <a:alpha val="12000"/>
              </a:srgbClr>
            </a:outerShdw>
          </a:effectLst>
        </p:spPr>
      </p:sp>
      <p:sp>
        <p:nvSpPr>
          <p:cNvPr id="8" name="Shape 6"/>
          <p:cNvSpPr/>
          <p:nvPr/>
        </p:nvSpPr>
        <p:spPr>
          <a:xfrm>
            <a:off x="1280160" y="960120"/>
            <a:ext cx="731520" cy="731520"/>
          </a:xfrm>
          <a:prstGeom prst="ellipse">
            <a:avLst/>
          </a:prstGeom>
          <a:solidFill>
            <a:srgbClr val="0D1B2A"/>
          </a:solidFill>
          <a:ln w="12700">
            <a:solidFill>
              <a:srgbClr val="0D1B2A"/>
            </a:solidFill>
            <a:prstDash val="solid"/>
          </a:ln>
        </p:spPr>
      </p:sp>
      <p:sp>
        <p:nvSpPr>
          <p:cNvPr id="9" name="Text 7"/>
          <p:cNvSpPr/>
          <p:nvPr/>
        </p:nvSpPr>
        <p:spPr>
          <a:xfrm>
            <a:off x="1280160" y="960120"/>
            <a:ext cx="731520" cy="731520"/>
          </a:xfrm>
          <a:prstGeom prst="rect">
            <a:avLst/>
          </a:prstGeom>
          <a:noFill/>
          <a:ln/>
        </p:spPr>
        <p:txBody>
          <a:bodyPr wrap="square" lIns="0" tIns="0" rIns="0" bIns="0" rtlCol="0" anchor="ctr"/>
          <a:lstStyle/>
          <a:p>
            <a:pPr algn="ctr" indent="0" marL="0">
              <a:buNone/>
            </a:pPr>
            <a:r>
              <a:rPr lang="en-US" sz="2000" b="1" dirty="0">
                <a:solidFill>
                  <a:srgbClr val="D4AC0D"/>
                </a:solidFill>
                <a:latin typeface="Calibri" pitchFamily="34" charset="0"/>
                <a:ea typeface="Calibri" pitchFamily="34" charset="-122"/>
                <a:cs typeface="Calibri" pitchFamily="34" charset="-120"/>
              </a:rPr>
              <a:t>1</a:t>
            </a:r>
            <a:endParaRPr lang="en-US" sz="2000" dirty="0"/>
          </a:p>
        </p:txBody>
      </p:sp>
      <p:sp>
        <p:nvSpPr>
          <p:cNvPr id="10" name="Text 8"/>
          <p:cNvSpPr/>
          <p:nvPr/>
        </p:nvSpPr>
        <p:spPr>
          <a:xfrm>
            <a:off x="365760" y="1828800"/>
            <a:ext cx="2560320" cy="365760"/>
          </a:xfrm>
          <a:prstGeom prst="rect">
            <a:avLst/>
          </a:prstGeom>
          <a:noFill/>
          <a:ln/>
        </p:spPr>
        <p:txBody>
          <a:bodyPr wrap="square" lIns="0" tIns="0" rIns="0" bIns="0" rtlCol="0" anchor="ctr"/>
          <a:lstStyle/>
          <a:p>
            <a:pPr algn="ctr" indent="0" marL="0">
              <a:buNone/>
            </a:pPr>
            <a:r>
              <a:rPr lang="en-US" sz="1300" b="1" dirty="0">
                <a:solidFill>
                  <a:srgbClr val="0D1B2A"/>
                </a:solidFill>
                <a:latin typeface="Calibri" pitchFamily="34" charset="0"/>
                <a:ea typeface="Calibri" pitchFamily="34" charset="-122"/>
                <a:cs typeface="Calibri" pitchFamily="34" charset="-120"/>
              </a:rPr>
              <a:t>Define Metrics</a:t>
            </a:r>
            <a:endParaRPr lang="en-US" sz="1300" dirty="0"/>
          </a:p>
        </p:txBody>
      </p:sp>
      <p:sp>
        <p:nvSpPr>
          <p:cNvPr id="11" name="Text 9"/>
          <p:cNvSpPr/>
          <p:nvPr/>
        </p:nvSpPr>
        <p:spPr>
          <a:xfrm>
            <a:off x="365760" y="2240280"/>
            <a:ext cx="2560320" cy="1051560"/>
          </a:xfrm>
          <a:prstGeom prst="rect">
            <a:avLst/>
          </a:prstGeom>
          <a:noFill/>
          <a:ln/>
        </p:spPr>
        <p:txBody>
          <a:bodyPr wrap="square" lIns="0" tIns="0" rIns="0" bIns="0" rtlCol="0" anchor="ctr"/>
          <a:lstStyle/>
          <a:p>
            <a:pPr algn="ctr" indent="0" marL="0">
              <a:buNone/>
            </a:pPr>
            <a:r>
              <a:rPr lang="en-US" sz="1100" dirty="0">
                <a:solidFill>
                  <a:srgbClr val="566573"/>
                </a:solidFill>
                <a:latin typeface="Calibri" pitchFamily="34" charset="0"/>
                <a:ea typeface="Calibri" pitchFamily="34" charset="-122"/>
                <a:cs typeface="Calibri" pitchFamily="34" charset="-120"/>
              </a:rPr>
              <a:t>Monthly total sales, unique customers, transaction count and avg basket size for every store</a:t>
            </a:r>
            <a:endParaRPr lang="en-US" sz="1100" dirty="0"/>
          </a:p>
        </p:txBody>
      </p:sp>
      <p:sp>
        <p:nvSpPr>
          <p:cNvPr id="12" name="Shape 10"/>
          <p:cNvSpPr/>
          <p:nvPr/>
        </p:nvSpPr>
        <p:spPr>
          <a:xfrm>
            <a:off x="3017520" y="1783080"/>
            <a:ext cx="228600" cy="0"/>
          </a:xfrm>
          <a:prstGeom prst="line">
            <a:avLst/>
          </a:prstGeom>
          <a:noFill/>
          <a:ln w="25400">
            <a:solidFill>
              <a:srgbClr val="D4AC0D"/>
            </a:solidFill>
            <a:prstDash val="solid"/>
          </a:ln>
        </p:spPr>
      </p:sp>
      <p:sp>
        <p:nvSpPr>
          <p:cNvPr id="13" name="Shape 11"/>
          <p:cNvSpPr/>
          <p:nvPr/>
        </p:nvSpPr>
        <p:spPr>
          <a:xfrm>
            <a:off x="3246120" y="1005840"/>
            <a:ext cx="2743200" cy="2377440"/>
          </a:xfrm>
          <a:prstGeom prst="rect">
            <a:avLst/>
          </a:prstGeom>
          <a:solidFill>
            <a:srgbClr val="FFFFFF"/>
          </a:solidFill>
          <a:ln w="12700">
            <a:solidFill>
              <a:srgbClr val="E5E8E8"/>
            </a:solidFill>
            <a:prstDash val="solid"/>
          </a:ln>
          <a:effectLst>
            <a:outerShdw sx="100000" sy="100000" kx="0" ky="0" algn="bl" rotWithShape="0" blurRad="101600" dist="38100" dir="8100000">
              <a:srgbClr val="000000">
                <a:alpha val="12000"/>
              </a:srgbClr>
            </a:outerShdw>
          </a:effectLst>
        </p:spPr>
      </p:sp>
      <p:sp>
        <p:nvSpPr>
          <p:cNvPr id="14" name="Shape 12"/>
          <p:cNvSpPr/>
          <p:nvPr/>
        </p:nvSpPr>
        <p:spPr>
          <a:xfrm>
            <a:off x="4251960" y="960120"/>
            <a:ext cx="731520" cy="731520"/>
          </a:xfrm>
          <a:prstGeom prst="ellipse">
            <a:avLst/>
          </a:prstGeom>
          <a:solidFill>
            <a:srgbClr val="0D1B2A"/>
          </a:solidFill>
          <a:ln w="12700">
            <a:solidFill>
              <a:srgbClr val="0D1B2A"/>
            </a:solidFill>
            <a:prstDash val="solid"/>
          </a:ln>
        </p:spPr>
      </p:sp>
      <p:sp>
        <p:nvSpPr>
          <p:cNvPr id="15" name="Text 13"/>
          <p:cNvSpPr/>
          <p:nvPr/>
        </p:nvSpPr>
        <p:spPr>
          <a:xfrm>
            <a:off x="4251960" y="960120"/>
            <a:ext cx="731520" cy="731520"/>
          </a:xfrm>
          <a:prstGeom prst="rect">
            <a:avLst/>
          </a:prstGeom>
          <a:noFill/>
          <a:ln/>
        </p:spPr>
        <p:txBody>
          <a:bodyPr wrap="square" lIns="0" tIns="0" rIns="0" bIns="0" rtlCol="0" anchor="ctr"/>
          <a:lstStyle/>
          <a:p>
            <a:pPr algn="ctr" indent="0" marL="0">
              <a:buNone/>
            </a:pPr>
            <a:r>
              <a:rPr lang="en-US" sz="2000" b="1" dirty="0">
                <a:solidFill>
                  <a:srgbClr val="D4AC0D"/>
                </a:solidFill>
                <a:latin typeface="Calibri" pitchFamily="34" charset="0"/>
                <a:ea typeface="Calibri" pitchFamily="34" charset="-122"/>
                <a:cs typeface="Calibri" pitchFamily="34" charset="-120"/>
              </a:rPr>
              <a:t>2</a:t>
            </a:r>
            <a:endParaRPr lang="en-US" sz="2000" dirty="0"/>
          </a:p>
        </p:txBody>
      </p:sp>
      <p:sp>
        <p:nvSpPr>
          <p:cNvPr id="16" name="Text 14"/>
          <p:cNvSpPr/>
          <p:nvPr/>
        </p:nvSpPr>
        <p:spPr>
          <a:xfrm>
            <a:off x="3337560" y="1828800"/>
            <a:ext cx="2560320" cy="365760"/>
          </a:xfrm>
          <a:prstGeom prst="rect">
            <a:avLst/>
          </a:prstGeom>
          <a:noFill/>
          <a:ln/>
        </p:spPr>
        <p:txBody>
          <a:bodyPr wrap="square" lIns="0" tIns="0" rIns="0" bIns="0" rtlCol="0" anchor="ctr"/>
          <a:lstStyle/>
          <a:p>
            <a:pPr algn="ctr" indent="0" marL="0">
              <a:buNone/>
            </a:pPr>
            <a:r>
              <a:rPr lang="en-US" sz="1300" b="1" dirty="0">
                <a:solidFill>
                  <a:srgbClr val="0D1B2A"/>
                </a:solidFill>
                <a:latin typeface="Calibri" pitchFamily="34" charset="0"/>
                <a:ea typeface="Calibri" pitchFamily="34" charset="-122"/>
                <a:cs typeface="Calibri" pitchFamily="34" charset="-120"/>
              </a:rPr>
              <a:t>Score Similarity</a:t>
            </a:r>
            <a:endParaRPr lang="en-US" sz="1300" dirty="0"/>
          </a:p>
        </p:txBody>
      </p:sp>
      <p:sp>
        <p:nvSpPr>
          <p:cNvPr id="17" name="Text 15"/>
          <p:cNvSpPr/>
          <p:nvPr/>
        </p:nvSpPr>
        <p:spPr>
          <a:xfrm>
            <a:off x="3337560" y="2240280"/>
            <a:ext cx="2560320" cy="1051560"/>
          </a:xfrm>
          <a:prstGeom prst="rect">
            <a:avLst/>
          </a:prstGeom>
          <a:noFill/>
          <a:ln/>
        </p:spPr>
        <p:txBody>
          <a:bodyPr wrap="square" lIns="0" tIns="0" rIns="0" bIns="0" rtlCol="0" anchor="ctr"/>
          <a:lstStyle/>
          <a:p>
            <a:pPr algn="ctr" indent="0" marL="0">
              <a:buNone/>
            </a:pPr>
            <a:r>
              <a:rPr lang="en-US" sz="1100" dirty="0">
                <a:solidFill>
                  <a:srgbClr val="566573"/>
                </a:solidFill>
                <a:latin typeface="Calibri" pitchFamily="34" charset="0"/>
                <a:ea typeface="Calibri" pitchFamily="34" charset="-122"/>
                <a:cs typeface="Calibri" pitchFamily="34" charset="-120"/>
              </a:rPr>
              <a:t>Each candidate scored using 60% Pearson correlation + 40% magnitude match on pre-trial data</a:t>
            </a:r>
            <a:endParaRPr lang="en-US" sz="1100" dirty="0"/>
          </a:p>
        </p:txBody>
      </p:sp>
      <p:sp>
        <p:nvSpPr>
          <p:cNvPr id="18" name="Shape 16"/>
          <p:cNvSpPr/>
          <p:nvPr/>
        </p:nvSpPr>
        <p:spPr>
          <a:xfrm>
            <a:off x="5989320" y="1783080"/>
            <a:ext cx="228600" cy="0"/>
          </a:xfrm>
          <a:prstGeom prst="line">
            <a:avLst/>
          </a:prstGeom>
          <a:noFill/>
          <a:ln w="25400">
            <a:solidFill>
              <a:srgbClr val="D4AC0D"/>
            </a:solidFill>
            <a:prstDash val="solid"/>
          </a:ln>
        </p:spPr>
      </p:sp>
      <p:sp>
        <p:nvSpPr>
          <p:cNvPr id="19" name="Shape 17"/>
          <p:cNvSpPr/>
          <p:nvPr/>
        </p:nvSpPr>
        <p:spPr>
          <a:xfrm>
            <a:off x="6217920" y="1005840"/>
            <a:ext cx="2743200" cy="2377440"/>
          </a:xfrm>
          <a:prstGeom prst="rect">
            <a:avLst/>
          </a:prstGeom>
          <a:solidFill>
            <a:srgbClr val="FFFFFF"/>
          </a:solidFill>
          <a:ln w="12700">
            <a:solidFill>
              <a:srgbClr val="E5E8E8"/>
            </a:solidFill>
            <a:prstDash val="solid"/>
          </a:ln>
          <a:effectLst>
            <a:outerShdw sx="100000" sy="100000" kx="0" ky="0" algn="bl" rotWithShape="0" blurRad="101600" dist="38100" dir="8100000">
              <a:srgbClr val="000000">
                <a:alpha val="12000"/>
              </a:srgbClr>
            </a:outerShdw>
          </a:effectLst>
        </p:spPr>
      </p:sp>
      <p:sp>
        <p:nvSpPr>
          <p:cNvPr id="20" name="Shape 18"/>
          <p:cNvSpPr/>
          <p:nvPr/>
        </p:nvSpPr>
        <p:spPr>
          <a:xfrm>
            <a:off x="7223760" y="960120"/>
            <a:ext cx="731520" cy="731520"/>
          </a:xfrm>
          <a:prstGeom prst="ellipse">
            <a:avLst/>
          </a:prstGeom>
          <a:solidFill>
            <a:srgbClr val="0D1B2A"/>
          </a:solidFill>
          <a:ln w="12700">
            <a:solidFill>
              <a:srgbClr val="0D1B2A"/>
            </a:solidFill>
            <a:prstDash val="solid"/>
          </a:ln>
        </p:spPr>
      </p:sp>
      <p:sp>
        <p:nvSpPr>
          <p:cNvPr id="21" name="Text 19"/>
          <p:cNvSpPr/>
          <p:nvPr/>
        </p:nvSpPr>
        <p:spPr>
          <a:xfrm>
            <a:off x="7223760" y="960120"/>
            <a:ext cx="731520" cy="731520"/>
          </a:xfrm>
          <a:prstGeom prst="rect">
            <a:avLst/>
          </a:prstGeom>
          <a:noFill/>
          <a:ln/>
        </p:spPr>
        <p:txBody>
          <a:bodyPr wrap="square" lIns="0" tIns="0" rIns="0" bIns="0" rtlCol="0" anchor="ctr"/>
          <a:lstStyle/>
          <a:p>
            <a:pPr algn="ctr" indent="0" marL="0">
              <a:buNone/>
            </a:pPr>
            <a:r>
              <a:rPr lang="en-US" sz="2000" b="1" dirty="0">
                <a:solidFill>
                  <a:srgbClr val="D4AC0D"/>
                </a:solidFill>
                <a:latin typeface="Calibri" pitchFamily="34" charset="0"/>
                <a:ea typeface="Calibri" pitchFamily="34" charset="-122"/>
                <a:cs typeface="Calibri" pitchFamily="34" charset="-120"/>
              </a:rPr>
              <a:t>3</a:t>
            </a:r>
            <a:endParaRPr lang="en-US" sz="2000" dirty="0"/>
          </a:p>
        </p:txBody>
      </p:sp>
      <p:sp>
        <p:nvSpPr>
          <p:cNvPr id="22" name="Text 20"/>
          <p:cNvSpPr/>
          <p:nvPr/>
        </p:nvSpPr>
        <p:spPr>
          <a:xfrm>
            <a:off x="6309360" y="1828800"/>
            <a:ext cx="2560320" cy="365760"/>
          </a:xfrm>
          <a:prstGeom prst="rect">
            <a:avLst/>
          </a:prstGeom>
          <a:noFill/>
          <a:ln/>
        </p:spPr>
        <p:txBody>
          <a:bodyPr wrap="square" lIns="0" tIns="0" rIns="0" bIns="0" rtlCol="0" anchor="ctr"/>
          <a:lstStyle/>
          <a:p>
            <a:pPr algn="ctr" indent="0" marL="0">
              <a:buNone/>
            </a:pPr>
            <a:r>
              <a:rPr lang="en-US" sz="1300" b="1" dirty="0">
                <a:solidFill>
                  <a:srgbClr val="0D1B2A"/>
                </a:solidFill>
                <a:latin typeface="Calibri" pitchFamily="34" charset="0"/>
                <a:ea typeface="Calibri" pitchFamily="34" charset="-122"/>
                <a:cs typeface="Calibri" pitchFamily="34" charset="-120"/>
              </a:rPr>
              <a:t>Validate Visually</a:t>
            </a:r>
            <a:endParaRPr lang="en-US" sz="1300" dirty="0"/>
          </a:p>
        </p:txBody>
      </p:sp>
      <p:sp>
        <p:nvSpPr>
          <p:cNvPr id="23" name="Text 21"/>
          <p:cNvSpPr/>
          <p:nvPr/>
        </p:nvSpPr>
        <p:spPr>
          <a:xfrm>
            <a:off x="6309360" y="2240280"/>
            <a:ext cx="2560320" cy="1051560"/>
          </a:xfrm>
          <a:prstGeom prst="rect">
            <a:avLst/>
          </a:prstGeom>
          <a:noFill/>
          <a:ln/>
        </p:spPr>
        <p:txBody>
          <a:bodyPr wrap="square" lIns="0" tIns="0" rIns="0" bIns="0" rtlCol="0" anchor="ctr"/>
          <a:lstStyle/>
          <a:p>
            <a:pPr algn="ctr" indent="0" marL="0">
              <a:buNone/>
            </a:pPr>
            <a:r>
              <a:rPr lang="en-US" sz="1100" dirty="0">
                <a:solidFill>
                  <a:srgbClr val="566573"/>
                </a:solidFill>
                <a:latin typeface="Calibri" pitchFamily="34" charset="0"/>
                <a:ea typeface="Calibri" pitchFamily="34" charset="-122"/>
                <a:cs typeface="Calibri" pitchFamily="34" charset="-120"/>
              </a:rPr>
              <a:t>Pre-trial trend lines plotted for trial vs control — confirmed visual alignment before accepting</a:t>
            </a:r>
            <a:endParaRPr lang="en-US" sz="1100" dirty="0"/>
          </a:p>
        </p:txBody>
      </p:sp>
      <p:sp>
        <p:nvSpPr>
          <p:cNvPr id="24" name="Shape 22"/>
          <p:cNvSpPr/>
          <p:nvPr/>
        </p:nvSpPr>
        <p:spPr>
          <a:xfrm>
            <a:off x="8961120" y="1783080"/>
            <a:ext cx="228600" cy="0"/>
          </a:xfrm>
          <a:prstGeom prst="line">
            <a:avLst/>
          </a:prstGeom>
          <a:noFill/>
          <a:ln w="25400">
            <a:solidFill>
              <a:srgbClr val="D4AC0D"/>
            </a:solidFill>
            <a:prstDash val="solid"/>
          </a:ln>
        </p:spPr>
      </p:sp>
      <p:sp>
        <p:nvSpPr>
          <p:cNvPr id="25" name="Shape 23"/>
          <p:cNvSpPr/>
          <p:nvPr/>
        </p:nvSpPr>
        <p:spPr>
          <a:xfrm>
            <a:off x="9189720" y="1005840"/>
            <a:ext cx="2743200" cy="2377440"/>
          </a:xfrm>
          <a:prstGeom prst="rect">
            <a:avLst/>
          </a:prstGeom>
          <a:solidFill>
            <a:srgbClr val="FFFFFF"/>
          </a:solidFill>
          <a:ln w="12700">
            <a:solidFill>
              <a:srgbClr val="E5E8E8"/>
            </a:solidFill>
            <a:prstDash val="solid"/>
          </a:ln>
          <a:effectLst>
            <a:outerShdw sx="100000" sy="100000" kx="0" ky="0" algn="bl" rotWithShape="0" blurRad="101600" dist="38100" dir="8100000">
              <a:srgbClr val="000000">
                <a:alpha val="12000"/>
              </a:srgbClr>
            </a:outerShdw>
          </a:effectLst>
        </p:spPr>
      </p:sp>
      <p:sp>
        <p:nvSpPr>
          <p:cNvPr id="26" name="Shape 24"/>
          <p:cNvSpPr/>
          <p:nvPr/>
        </p:nvSpPr>
        <p:spPr>
          <a:xfrm>
            <a:off x="10195560" y="960120"/>
            <a:ext cx="731520" cy="731520"/>
          </a:xfrm>
          <a:prstGeom prst="ellipse">
            <a:avLst/>
          </a:prstGeom>
          <a:solidFill>
            <a:srgbClr val="0D1B2A"/>
          </a:solidFill>
          <a:ln w="12700">
            <a:solidFill>
              <a:srgbClr val="0D1B2A"/>
            </a:solidFill>
            <a:prstDash val="solid"/>
          </a:ln>
        </p:spPr>
      </p:sp>
      <p:sp>
        <p:nvSpPr>
          <p:cNvPr id="27" name="Text 25"/>
          <p:cNvSpPr/>
          <p:nvPr/>
        </p:nvSpPr>
        <p:spPr>
          <a:xfrm>
            <a:off x="10195560" y="960120"/>
            <a:ext cx="731520" cy="731520"/>
          </a:xfrm>
          <a:prstGeom prst="rect">
            <a:avLst/>
          </a:prstGeom>
          <a:noFill/>
          <a:ln/>
        </p:spPr>
        <p:txBody>
          <a:bodyPr wrap="square" lIns="0" tIns="0" rIns="0" bIns="0" rtlCol="0" anchor="ctr"/>
          <a:lstStyle/>
          <a:p>
            <a:pPr algn="ctr" indent="0" marL="0">
              <a:buNone/>
            </a:pPr>
            <a:r>
              <a:rPr lang="en-US" sz="2000" b="1" dirty="0">
                <a:solidFill>
                  <a:srgbClr val="D4AC0D"/>
                </a:solidFill>
                <a:latin typeface="Calibri" pitchFamily="34" charset="0"/>
                <a:ea typeface="Calibri" pitchFamily="34" charset="-122"/>
                <a:cs typeface="Calibri" pitchFamily="34" charset="-120"/>
              </a:rPr>
              <a:t>4</a:t>
            </a:r>
            <a:endParaRPr lang="en-US" sz="2000" dirty="0"/>
          </a:p>
        </p:txBody>
      </p:sp>
      <p:sp>
        <p:nvSpPr>
          <p:cNvPr id="28" name="Text 26"/>
          <p:cNvSpPr/>
          <p:nvPr/>
        </p:nvSpPr>
        <p:spPr>
          <a:xfrm>
            <a:off x="9281160" y="1828800"/>
            <a:ext cx="2560320" cy="365760"/>
          </a:xfrm>
          <a:prstGeom prst="rect">
            <a:avLst/>
          </a:prstGeom>
          <a:noFill/>
          <a:ln/>
        </p:spPr>
        <p:txBody>
          <a:bodyPr wrap="square" lIns="0" tIns="0" rIns="0" bIns="0" rtlCol="0" anchor="ctr"/>
          <a:lstStyle/>
          <a:p>
            <a:pPr algn="ctr" indent="0" marL="0">
              <a:buNone/>
            </a:pPr>
            <a:r>
              <a:rPr lang="en-US" sz="1300" b="1" dirty="0">
                <a:solidFill>
                  <a:srgbClr val="0D1B2A"/>
                </a:solidFill>
                <a:latin typeface="Calibri" pitchFamily="34" charset="0"/>
                <a:ea typeface="Calibri" pitchFamily="34" charset="-122"/>
                <a:cs typeface="Calibri" pitchFamily="34" charset="-120"/>
              </a:rPr>
              <a:t>Scale &amp; Compare</a:t>
            </a:r>
            <a:endParaRPr lang="en-US" sz="1300" dirty="0"/>
          </a:p>
        </p:txBody>
      </p:sp>
      <p:sp>
        <p:nvSpPr>
          <p:cNvPr id="29" name="Text 27"/>
          <p:cNvSpPr/>
          <p:nvPr/>
        </p:nvSpPr>
        <p:spPr>
          <a:xfrm>
            <a:off x="9281160" y="2240280"/>
            <a:ext cx="2560320" cy="1051560"/>
          </a:xfrm>
          <a:prstGeom prst="rect">
            <a:avLst/>
          </a:prstGeom>
          <a:noFill/>
          <a:ln/>
        </p:spPr>
        <p:txBody>
          <a:bodyPr wrap="square" lIns="0" tIns="0" rIns="0" bIns="0" rtlCol="0" anchor="ctr"/>
          <a:lstStyle/>
          <a:p>
            <a:pPr algn="ctr" indent="0" marL="0">
              <a:buNone/>
            </a:pPr>
            <a:r>
              <a:rPr lang="en-US" sz="1100" dirty="0">
                <a:solidFill>
                  <a:srgbClr val="566573"/>
                </a:solidFill>
                <a:latin typeface="Calibri" pitchFamily="34" charset="0"/>
                <a:ea typeface="Calibri" pitchFamily="34" charset="-122"/>
                <a:cs typeface="Calibri" pitchFamily="34" charset="-120"/>
              </a:rPr>
              <a:t>Control store scaled to trial store's pre-trial size to ensure fair apples-to-apples comparison</a:t>
            </a:r>
            <a:endParaRPr lang="en-US" sz="1100" dirty="0"/>
          </a:p>
        </p:txBody>
      </p:sp>
      <p:sp>
        <p:nvSpPr>
          <p:cNvPr id="30" name="Shape 28"/>
          <p:cNvSpPr/>
          <p:nvPr/>
        </p:nvSpPr>
        <p:spPr>
          <a:xfrm>
            <a:off x="274320" y="3611880"/>
            <a:ext cx="11612880" cy="411480"/>
          </a:xfrm>
          <a:prstGeom prst="rect">
            <a:avLst/>
          </a:prstGeom>
          <a:solidFill>
            <a:srgbClr val="0D1B2A"/>
          </a:solidFill>
          <a:ln w="12700">
            <a:solidFill>
              <a:srgbClr val="0D1B2A"/>
            </a:solidFill>
            <a:prstDash val="solid"/>
          </a:ln>
        </p:spPr>
      </p:sp>
      <p:sp>
        <p:nvSpPr>
          <p:cNvPr id="31" name="Text 29"/>
          <p:cNvSpPr/>
          <p:nvPr/>
        </p:nvSpPr>
        <p:spPr>
          <a:xfrm>
            <a:off x="365760" y="3666744"/>
            <a:ext cx="2194560" cy="36576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Trial Store</a:t>
            </a:r>
            <a:endParaRPr lang="en-US" sz="1200" dirty="0"/>
          </a:p>
        </p:txBody>
      </p:sp>
      <p:sp>
        <p:nvSpPr>
          <p:cNvPr id="32" name="Text 30"/>
          <p:cNvSpPr/>
          <p:nvPr/>
        </p:nvSpPr>
        <p:spPr>
          <a:xfrm>
            <a:off x="2651760" y="3666744"/>
            <a:ext cx="2194560" cy="36576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Control Store</a:t>
            </a:r>
            <a:endParaRPr lang="en-US" sz="1200" dirty="0"/>
          </a:p>
        </p:txBody>
      </p:sp>
      <p:sp>
        <p:nvSpPr>
          <p:cNvPr id="33" name="Text 31"/>
          <p:cNvSpPr/>
          <p:nvPr/>
        </p:nvSpPr>
        <p:spPr>
          <a:xfrm>
            <a:off x="4937760" y="3666744"/>
            <a:ext cx="2651760" cy="36576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Similarity Score</a:t>
            </a:r>
            <a:endParaRPr lang="en-US" sz="1200" dirty="0"/>
          </a:p>
        </p:txBody>
      </p:sp>
      <p:sp>
        <p:nvSpPr>
          <p:cNvPr id="34" name="Text 32"/>
          <p:cNvSpPr/>
          <p:nvPr/>
        </p:nvSpPr>
        <p:spPr>
          <a:xfrm>
            <a:off x="7680960" y="3666744"/>
            <a:ext cx="4206240" cy="36576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Quality of Match</a:t>
            </a:r>
            <a:endParaRPr lang="en-US" sz="1200" dirty="0"/>
          </a:p>
        </p:txBody>
      </p:sp>
      <p:sp>
        <p:nvSpPr>
          <p:cNvPr id="35" name="Shape 33"/>
          <p:cNvSpPr/>
          <p:nvPr/>
        </p:nvSpPr>
        <p:spPr>
          <a:xfrm>
            <a:off x="274320" y="4270248"/>
            <a:ext cx="11612880" cy="640080"/>
          </a:xfrm>
          <a:prstGeom prst="rect">
            <a:avLst/>
          </a:prstGeom>
          <a:solidFill>
            <a:srgbClr val="FFFFFF"/>
          </a:solidFill>
          <a:ln w="12700">
            <a:solidFill>
              <a:srgbClr val="E5E8E8"/>
            </a:solidFill>
            <a:prstDash val="solid"/>
          </a:ln>
        </p:spPr>
      </p:sp>
      <p:sp>
        <p:nvSpPr>
          <p:cNvPr id="36" name="Text 34"/>
          <p:cNvSpPr/>
          <p:nvPr/>
        </p:nvSpPr>
        <p:spPr>
          <a:xfrm>
            <a:off x="365760" y="4325112"/>
            <a:ext cx="2194560" cy="365760"/>
          </a:xfrm>
          <a:prstGeom prst="rect">
            <a:avLst/>
          </a:prstGeom>
          <a:noFill/>
          <a:ln/>
        </p:spPr>
        <p:txBody>
          <a:bodyPr wrap="square" lIns="0" tIns="0" rIns="0" bIns="0"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Store 77</a:t>
            </a:r>
            <a:endParaRPr lang="en-US" sz="1200" dirty="0"/>
          </a:p>
        </p:txBody>
      </p:sp>
      <p:sp>
        <p:nvSpPr>
          <p:cNvPr id="37" name="Text 35"/>
          <p:cNvSpPr/>
          <p:nvPr/>
        </p:nvSpPr>
        <p:spPr>
          <a:xfrm>
            <a:off x="2651760" y="4325112"/>
            <a:ext cx="2194560" cy="365760"/>
          </a:xfrm>
          <a:prstGeom prst="rect">
            <a:avLst/>
          </a:prstGeom>
          <a:noFill/>
          <a:ln/>
        </p:spPr>
        <p:txBody>
          <a:bodyPr wrap="square" lIns="0" tIns="0" rIns="0" bIns="0" rtlCol="0" anchor="ctr"/>
          <a:lstStyle/>
          <a:p>
            <a:pPr indent="0" marL="0">
              <a:buNone/>
            </a:pPr>
            <a:r>
              <a:rPr lang="en-US" sz="1200" dirty="0">
                <a:solidFill>
                  <a:srgbClr val="0D1B2A"/>
                </a:solidFill>
                <a:latin typeface="Calibri" pitchFamily="34" charset="0"/>
                <a:ea typeface="Calibri" pitchFamily="34" charset="-122"/>
                <a:cs typeface="Calibri" pitchFamily="34" charset="-120"/>
              </a:rPr>
              <a:t>Store 233</a:t>
            </a:r>
            <a:endParaRPr lang="en-US" sz="1200" dirty="0"/>
          </a:p>
        </p:txBody>
      </p:sp>
      <p:sp>
        <p:nvSpPr>
          <p:cNvPr id="38" name="Text 36"/>
          <p:cNvSpPr/>
          <p:nvPr/>
        </p:nvSpPr>
        <p:spPr>
          <a:xfrm>
            <a:off x="4937760" y="4325112"/>
            <a:ext cx="2651760" cy="365760"/>
          </a:xfrm>
          <a:prstGeom prst="rect">
            <a:avLst/>
          </a:prstGeom>
          <a:noFill/>
          <a:ln/>
        </p:spPr>
        <p:txBody>
          <a:bodyPr wrap="square" lIns="0" tIns="0" rIns="0" bIns="0" rtlCol="0" anchor="ctr"/>
          <a:lstStyle/>
          <a:p>
            <a:pPr indent="0" marL="0">
              <a:buNone/>
            </a:pPr>
            <a:r>
              <a:rPr lang="en-US" sz="1200" dirty="0">
                <a:solidFill>
                  <a:srgbClr val="0D1B2A"/>
                </a:solidFill>
                <a:latin typeface="Calibri" pitchFamily="34" charset="0"/>
                <a:ea typeface="Calibri" pitchFamily="34" charset="-122"/>
                <a:cs typeface="Calibri" pitchFamily="34" charset="-120"/>
              </a:rPr>
              <a:t>0.933</a:t>
            </a:r>
            <a:endParaRPr lang="en-US" sz="1200" dirty="0"/>
          </a:p>
        </p:txBody>
      </p:sp>
      <p:sp>
        <p:nvSpPr>
          <p:cNvPr id="39" name="Text 37"/>
          <p:cNvSpPr/>
          <p:nvPr/>
        </p:nvSpPr>
        <p:spPr>
          <a:xfrm>
            <a:off x="7680960" y="4325112"/>
            <a:ext cx="4206240" cy="365760"/>
          </a:xfrm>
          <a:prstGeom prst="rect">
            <a:avLst/>
          </a:prstGeom>
          <a:noFill/>
          <a:ln/>
        </p:spPr>
        <p:txBody>
          <a:bodyPr wrap="square" lIns="0" tIns="0" rIns="0" bIns="0" rtlCol="0" anchor="ctr"/>
          <a:lstStyle/>
          <a:p>
            <a:pPr indent="0" marL="0">
              <a:buNone/>
            </a:pPr>
            <a:r>
              <a:rPr lang="en-US" sz="1200" dirty="0">
                <a:solidFill>
                  <a:srgbClr val="0D1B2A"/>
                </a:solidFill>
                <a:latin typeface="Calibri" pitchFamily="34" charset="0"/>
                <a:ea typeface="Calibri" pitchFamily="34" charset="-122"/>
                <a:cs typeface="Calibri" pitchFamily="34" charset="-120"/>
              </a:rPr>
              <a:t>Excellent — high confidence</a:t>
            </a:r>
            <a:endParaRPr lang="en-US" sz="1200" dirty="0"/>
          </a:p>
        </p:txBody>
      </p:sp>
      <p:sp>
        <p:nvSpPr>
          <p:cNvPr id="40" name="Shape 38"/>
          <p:cNvSpPr/>
          <p:nvPr/>
        </p:nvSpPr>
        <p:spPr>
          <a:xfrm>
            <a:off x="274320" y="4928616"/>
            <a:ext cx="11612880" cy="640080"/>
          </a:xfrm>
          <a:prstGeom prst="rect">
            <a:avLst/>
          </a:prstGeom>
          <a:solidFill>
            <a:srgbClr val="EAF4FB"/>
          </a:solidFill>
          <a:ln w="12700">
            <a:solidFill>
              <a:srgbClr val="E5E8E8"/>
            </a:solidFill>
            <a:prstDash val="solid"/>
          </a:ln>
        </p:spPr>
      </p:sp>
      <p:sp>
        <p:nvSpPr>
          <p:cNvPr id="41" name="Text 39"/>
          <p:cNvSpPr/>
          <p:nvPr/>
        </p:nvSpPr>
        <p:spPr>
          <a:xfrm>
            <a:off x="365760" y="4983480"/>
            <a:ext cx="2194560" cy="365760"/>
          </a:xfrm>
          <a:prstGeom prst="rect">
            <a:avLst/>
          </a:prstGeom>
          <a:noFill/>
          <a:ln/>
        </p:spPr>
        <p:txBody>
          <a:bodyPr wrap="square" lIns="0" tIns="0" rIns="0" bIns="0"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Store 86</a:t>
            </a:r>
            <a:endParaRPr lang="en-US" sz="1200" dirty="0"/>
          </a:p>
        </p:txBody>
      </p:sp>
      <p:sp>
        <p:nvSpPr>
          <p:cNvPr id="42" name="Text 40"/>
          <p:cNvSpPr/>
          <p:nvPr/>
        </p:nvSpPr>
        <p:spPr>
          <a:xfrm>
            <a:off x="2651760" y="4983480"/>
            <a:ext cx="2194560" cy="365760"/>
          </a:xfrm>
          <a:prstGeom prst="rect">
            <a:avLst/>
          </a:prstGeom>
          <a:noFill/>
          <a:ln/>
        </p:spPr>
        <p:txBody>
          <a:bodyPr wrap="square" lIns="0" tIns="0" rIns="0" bIns="0" rtlCol="0" anchor="ctr"/>
          <a:lstStyle/>
          <a:p>
            <a:pPr indent="0" marL="0">
              <a:buNone/>
            </a:pPr>
            <a:r>
              <a:rPr lang="en-US" sz="1200" dirty="0">
                <a:solidFill>
                  <a:srgbClr val="0D1B2A"/>
                </a:solidFill>
                <a:latin typeface="Calibri" pitchFamily="34" charset="0"/>
                <a:ea typeface="Calibri" pitchFamily="34" charset="-122"/>
                <a:cs typeface="Calibri" pitchFamily="34" charset="-120"/>
              </a:rPr>
              <a:t>Store 155</a:t>
            </a:r>
            <a:endParaRPr lang="en-US" sz="1200" dirty="0"/>
          </a:p>
        </p:txBody>
      </p:sp>
      <p:sp>
        <p:nvSpPr>
          <p:cNvPr id="43" name="Text 41"/>
          <p:cNvSpPr/>
          <p:nvPr/>
        </p:nvSpPr>
        <p:spPr>
          <a:xfrm>
            <a:off x="4937760" y="4983480"/>
            <a:ext cx="2651760" cy="365760"/>
          </a:xfrm>
          <a:prstGeom prst="rect">
            <a:avLst/>
          </a:prstGeom>
          <a:noFill/>
          <a:ln/>
        </p:spPr>
        <p:txBody>
          <a:bodyPr wrap="square" lIns="0" tIns="0" rIns="0" bIns="0" rtlCol="0" anchor="ctr"/>
          <a:lstStyle/>
          <a:p>
            <a:pPr indent="0" marL="0">
              <a:buNone/>
            </a:pPr>
            <a:r>
              <a:rPr lang="en-US" sz="1200" dirty="0">
                <a:solidFill>
                  <a:srgbClr val="0D1B2A"/>
                </a:solidFill>
                <a:latin typeface="Calibri" pitchFamily="34" charset="0"/>
                <a:ea typeface="Calibri" pitchFamily="34" charset="-122"/>
                <a:cs typeface="Calibri" pitchFamily="34" charset="-120"/>
              </a:rPr>
              <a:t>0.914</a:t>
            </a:r>
            <a:endParaRPr lang="en-US" sz="1200" dirty="0"/>
          </a:p>
        </p:txBody>
      </p:sp>
      <p:sp>
        <p:nvSpPr>
          <p:cNvPr id="44" name="Text 42"/>
          <p:cNvSpPr/>
          <p:nvPr/>
        </p:nvSpPr>
        <p:spPr>
          <a:xfrm>
            <a:off x="7680960" y="4983480"/>
            <a:ext cx="4206240" cy="365760"/>
          </a:xfrm>
          <a:prstGeom prst="rect">
            <a:avLst/>
          </a:prstGeom>
          <a:noFill/>
          <a:ln/>
        </p:spPr>
        <p:txBody>
          <a:bodyPr wrap="square" lIns="0" tIns="0" rIns="0" bIns="0" rtlCol="0" anchor="ctr"/>
          <a:lstStyle/>
          <a:p>
            <a:pPr indent="0" marL="0">
              <a:buNone/>
            </a:pPr>
            <a:r>
              <a:rPr lang="en-US" sz="1200" dirty="0">
                <a:solidFill>
                  <a:srgbClr val="0D1B2A"/>
                </a:solidFill>
                <a:latin typeface="Calibri" pitchFamily="34" charset="0"/>
                <a:ea typeface="Calibri" pitchFamily="34" charset="-122"/>
                <a:cs typeface="Calibri" pitchFamily="34" charset="-120"/>
              </a:rPr>
              <a:t>Excellent — high confidence</a:t>
            </a:r>
            <a:endParaRPr lang="en-US" sz="1200" dirty="0"/>
          </a:p>
        </p:txBody>
      </p:sp>
      <p:sp>
        <p:nvSpPr>
          <p:cNvPr id="45" name="Shape 43"/>
          <p:cNvSpPr/>
          <p:nvPr/>
        </p:nvSpPr>
        <p:spPr>
          <a:xfrm>
            <a:off x="274320" y="5586984"/>
            <a:ext cx="11612880" cy="640080"/>
          </a:xfrm>
          <a:prstGeom prst="rect">
            <a:avLst/>
          </a:prstGeom>
          <a:solidFill>
            <a:srgbClr val="FFFFFF"/>
          </a:solidFill>
          <a:ln w="12700">
            <a:solidFill>
              <a:srgbClr val="E5E8E8"/>
            </a:solidFill>
            <a:prstDash val="solid"/>
          </a:ln>
        </p:spPr>
      </p:sp>
      <p:sp>
        <p:nvSpPr>
          <p:cNvPr id="46" name="Text 44"/>
          <p:cNvSpPr/>
          <p:nvPr/>
        </p:nvSpPr>
        <p:spPr>
          <a:xfrm>
            <a:off x="365760" y="5641848"/>
            <a:ext cx="2194560" cy="365760"/>
          </a:xfrm>
          <a:prstGeom prst="rect">
            <a:avLst/>
          </a:prstGeom>
          <a:noFill/>
          <a:ln/>
        </p:spPr>
        <p:txBody>
          <a:bodyPr wrap="square" lIns="0" tIns="0" rIns="0" bIns="0"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Store 88</a:t>
            </a:r>
            <a:endParaRPr lang="en-US" sz="1200" dirty="0"/>
          </a:p>
        </p:txBody>
      </p:sp>
      <p:sp>
        <p:nvSpPr>
          <p:cNvPr id="47" name="Text 45"/>
          <p:cNvSpPr/>
          <p:nvPr/>
        </p:nvSpPr>
        <p:spPr>
          <a:xfrm>
            <a:off x="2651760" y="5641848"/>
            <a:ext cx="2194560" cy="365760"/>
          </a:xfrm>
          <a:prstGeom prst="rect">
            <a:avLst/>
          </a:prstGeom>
          <a:noFill/>
          <a:ln/>
        </p:spPr>
        <p:txBody>
          <a:bodyPr wrap="square" lIns="0" tIns="0" rIns="0" bIns="0" rtlCol="0" anchor="ctr"/>
          <a:lstStyle/>
          <a:p>
            <a:pPr indent="0" marL="0">
              <a:buNone/>
            </a:pPr>
            <a:r>
              <a:rPr lang="en-US" sz="1200" dirty="0">
                <a:solidFill>
                  <a:srgbClr val="0D1B2A"/>
                </a:solidFill>
                <a:latin typeface="Calibri" pitchFamily="34" charset="0"/>
                <a:ea typeface="Calibri" pitchFamily="34" charset="-122"/>
                <a:cs typeface="Calibri" pitchFamily="34" charset="-120"/>
              </a:rPr>
              <a:t>Store 91</a:t>
            </a:r>
            <a:endParaRPr lang="en-US" sz="1200" dirty="0"/>
          </a:p>
        </p:txBody>
      </p:sp>
      <p:sp>
        <p:nvSpPr>
          <p:cNvPr id="48" name="Text 46"/>
          <p:cNvSpPr/>
          <p:nvPr/>
        </p:nvSpPr>
        <p:spPr>
          <a:xfrm>
            <a:off x="4937760" y="5641848"/>
            <a:ext cx="2651760" cy="365760"/>
          </a:xfrm>
          <a:prstGeom prst="rect">
            <a:avLst/>
          </a:prstGeom>
          <a:noFill/>
          <a:ln/>
        </p:spPr>
        <p:txBody>
          <a:bodyPr wrap="square" lIns="0" tIns="0" rIns="0" bIns="0" rtlCol="0" anchor="ctr"/>
          <a:lstStyle/>
          <a:p>
            <a:pPr indent="0" marL="0">
              <a:buNone/>
            </a:pPr>
            <a:r>
              <a:rPr lang="en-US" sz="1200" dirty="0">
                <a:solidFill>
                  <a:srgbClr val="0D1B2A"/>
                </a:solidFill>
                <a:latin typeface="Calibri" pitchFamily="34" charset="0"/>
                <a:ea typeface="Calibri" pitchFamily="34" charset="-122"/>
                <a:cs typeface="Calibri" pitchFamily="34" charset="-120"/>
              </a:rPr>
              <a:t>0.732</a:t>
            </a:r>
            <a:endParaRPr lang="en-US" sz="1200" dirty="0"/>
          </a:p>
        </p:txBody>
      </p:sp>
      <p:sp>
        <p:nvSpPr>
          <p:cNvPr id="49" name="Text 47"/>
          <p:cNvSpPr/>
          <p:nvPr/>
        </p:nvSpPr>
        <p:spPr>
          <a:xfrm>
            <a:off x="7680960" y="5641848"/>
            <a:ext cx="4206240" cy="365760"/>
          </a:xfrm>
          <a:prstGeom prst="rect">
            <a:avLst/>
          </a:prstGeom>
          <a:noFill/>
          <a:ln/>
        </p:spPr>
        <p:txBody>
          <a:bodyPr wrap="square" lIns="0" tIns="0" rIns="0" bIns="0" rtlCol="0" anchor="ctr"/>
          <a:lstStyle/>
          <a:p>
            <a:pPr indent="0" marL="0">
              <a:buNone/>
            </a:pPr>
            <a:r>
              <a:rPr lang="en-US" sz="1200" dirty="0">
                <a:solidFill>
                  <a:srgbClr val="0D1B2A"/>
                </a:solidFill>
                <a:latin typeface="Calibri" pitchFamily="34" charset="0"/>
                <a:ea typeface="Calibri" pitchFamily="34" charset="-122"/>
                <a:cs typeface="Calibri" pitchFamily="34" charset="-120"/>
              </a:rPr>
              <a:t>Moderate — results caveated</a:t>
            </a:r>
            <a:endParaRPr lang="en-US" sz="1200" dirty="0"/>
          </a:p>
        </p:txBody>
      </p:sp>
      <p:sp>
        <p:nvSpPr>
          <p:cNvPr id="50" name="Text 48"/>
          <p:cNvSpPr/>
          <p:nvPr/>
        </p:nvSpPr>
        <p:spPr>
          <a:xfrm>
            <a:off x="274320" y="6492240"/>
            <a:ext cx="10972800" cy="256032"/>
          </a:xfrm>
          <a:prstGeom prst="rect">
            <a:avLst/>
          </a:prstGeom>
          <a:noFill/>
          <a:ln/>
        </p:spPr>
        <p:txBody>
          <a:bodyPr wrap="square" lIns="0" tIns="0" rIns="0" bIns="0" rtlCol="0" anchor="ctr"/>
          <a:lstStyle/>
          <a:p>
            <a:pPr indent="0" marL="0">
              <a:buNone/>
            </a:pPr>
            <a:r>
              <a:rPr lang="en-US" sz="900" i="1" dirty="0">
                <a:solidFill>
                  <a:srgbClr val="BDC3C7"/>
                </a:solidFill>
                <a:latin typeface="Calibri" pitchFamily="34" charset="0"/>
                <a:ea typeface="Calibri" pitchFamily="34" charset="-122"/>
                <a:cs typeface="Calibri" pitchFamily="34" charset="-120"/>
              </a:rPr>
              <a:t>* Similarity score = 0.6 × Pearson correlation + 0.4 × magnitude match (pre-trial period only)</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0D1B2A"/>
          </a:solidFill>
          <a:ln w="12700">
            <a:solidFill>
              <a:srgbClr val="0D1B2A"/>
            </a:solidFill>
            <a:prstDash val="solid"/>
          </a:ln>
        </p:spPr>
      </p:sp>
      <p:sp>
        <p:nvSpPr>
          <p:cNvPr id="3" name="Shape 1"/>
          <p:cNvSpPr/>
          <p:nvPr/>
        </p:nvSpPr>
        <p:spPr>
          <a:xfrm>
            <a:off x="0" y="960120"/>
            <a:ext cx="12161520" cy="54864"/>
          </a:xfrm>
          <a:prstGeom prst="rect">
            <a:avLst/>
          </a:prstGeom>
          <a:solidFill>
            <a:srgbClr val="D4AC0D"/>
          </a:solidFill>
          <a:ln w="12700">
            <a:solidFill>
              <a:srgbClr val="D4AC0D"/>
            </a:solidFill>
            <a:prstDash val="solid"/>
          </a:ln>
        </p:spPr>
      </p:sp>
      <p:sp>
        <p:nvSpPr>
          <p:cNvPr id="4" name="Text 2"/>
          <p:cNvSpPr/>
          <p:nvPr/>
        </p:nvSpPr>
        <p:spPr>
          <a:xfrm>
            <a:off x="365760" y="64008"/>
            <a:ext cx="9601200" cy="41148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Trial Store 77 vs Control Store 233</a:t>
            </a:r>
            <a:endParaRPr lang="en-US" sz="2200" dirty="0"/>
          </a:p>
        </p:txBody>
      </p:sp>
      <p:sp>
        <p:nvSpPr>
          <p:cNvPr id="5" name="Text 3"/>
          <p:cNvSpPr/>
          <p:nvPr/>
        </p:nvSpPr>
        <p:spPr>
          <a:xfrm>
            <a:off x="365760" y="512064"/>
            <a:ext cx="9601200" cy="347472"/>
          </a:xfrm>
          <a:prstGeom prst="rect">
            <a:avLst/>
          </a:prstGeom>
          <a:noFill/>
          <a:ln/>
        </p:spPr>
        <p:txBody>
          <a:bodyPr wrap="square" lIns="0" tIns="0" rIns="0" bIns="0" rtlCol="0" anchor="ctr"/>
          <a:lstStyle/>
          <a:p>
            <a:pPr indent="0" marL="0">
              <a:buNone/>
            </a:pPr>
            <a:r>
              <a:rPr lang="en-US" sz="1200" i="1" dirty="0">
                <a:solidFill>
                  <a:srgbClr val="A9CCE3"/>
                </a:solidFill>
                <a:latin typeface="Calibri" pitchFamily="34" charset="0"/>
                <a:ea typeface="Calibri" pitchFamily="34" charset="-122"/>
                <a:cs typeface="Calibri" pitchFamily="34" charset="-120"/>
              </a:rPr>
              <a:t>Strongest result — +26.2% sales uplift during the trial period</a:t>
            </a:r>
            <a:endParaRPr lang="en-US" sz="1200" dirty="0"/>
          </a:p>
        </p:txBody>
      </p:sp>
      <p:sp>
        <p:nvSpPr>
          <p:cNvPr id="6" name="Text 4"/>
          <p:cNvSpPr/>
          <p:nvPr/>
        </p:nvSpPr>
        <p:spPr>
          <a:xfrm>
            <a:off x="9144000" y="109728"/>
            <a:ext cx="2834640" cy="320040"/>
          </a:xfrm>
          <a:prstGeom prst="rect">
            <a:avLst/>
          </a:prstGeom>
          <a:noFill/>
          <a:ln/>
        </p:spPr>
        <p:txBody>
          <a:bodyPr wrap="square" lIns="0" tIns="0" rIns="0" bIns="0" rtlCol="0" anchor="ctr"/>
          <a:lstStyle/>
          <a:p>
            <a:pPr algn="r" indent="0" marL="0">
              <a:buNone/>
            </a:pPr>
            <a:r>
              <a:rPr lang="en-US" sz="900" dirty="0">
                <a:solidFill>
                  <a:srgbClr val="BDC3C7"/>
                </a:solidFill>
                <a:latin typeface="Calibri" pitchFamily="34" charset="0"/>
                <a:ea typeface="Calibri" pitchFamily="34" charset="-122"/>
                <a:cs typeface="Calibri" pitchFamily="34" charset="-120"/>
              </a:rPr>
              <a:t>QUANTIUM | RETAIL ANALYTICS</a:t>
            </a:r>
            <a:endParaRPr lang="en-US" sz="900" dirty="0"/>
          </a:p>
        </p:txBody>
      </p:sp>
      <p:graphicFrame>
        <p:nvGraphicFramePr>
          <p:cNvPr id="7" name="Chart 0" descr=""/>
          <p:cNvGraphicFramePr/>
          <p:nvPr/>
        </p:nvGraphicFramePr>
        <p:xfrm>
          <a:off x="274320" y="960120"/>
          <a:ext cx="7589520" cy="539496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274320" y="6126480"/>
            <a:ext cx="7589520" cy="274320"/>
          </a:xfrm>
          <a:prstGeom prst="rect">
            <a:avLst/>
          </a:prstGeom>
          <a:solidFill>
            <a:srgbClr val="D5E8D4"/>
          </a:solidFill>
          <a:ln w="12700">
            <a:solidFill>
              <a:srgbClr val="82B366"/>
            </a:solidFill>
            <a:prstDash val="solid"/>
          </a:ln>
        </p:spPr>
      </p:sp>
      <p:sp>
        <p:nvSpPr>
          <p:cNvPr id="9" name="Text 6"/>
          <p:cNvSpPr/>
          <p:nvPr/>
        </p:nvSpPr>
        <p:spPr>
          <a:xfrm>
            <a:off x="274320" y="6126480"/>
            <a:ext cx="7589520" cy="274320"/>
          </a:xfrm>
          <a:prstGeom prst="rect">
            <a:avLst/>
          </a:prstGeom>
          <a:noFill/>
          <a:ln/>
        </p:spPr>
        <p:txBody>
          <a:bodyPr wrap="square" lIns="0" tIns="0" rIns="0" bIns="0" rtlCol="0" anchor="ctr"/>
          <a:lstStyle/>
          <a:p>
            <a:pPr algn="ctr" indent="0" marL="0">
              <a:buNone/>
            </a:pPr>
            <a:r>
              <a:rPr lang="en-US" sz="950" i="1" dirty="0">
                <a:solidFill>
                  <a:srgbClr val="2D6A4F"/>
                </a:solidFill>
                <a:latin typeface="Calibri" pitchFamily="34" charset="0"/>
                <a:ea typeface="Calibri" pitchFamily="34" charset="-122"/>
                <a:cs typeface="Calibri" pitchFamily="34" charset="-120"/>
              </a:rPr>
              <a:t>◀  Trial period: Feb – Apr 2019  ▶</a:t>
            </a:r>
            <a:endParaRPr lang="en-US" sz="950" dirty="0"/>
          </a:p>
        </p:txBody>
      </p:sp>
      <p:sp>
        <p:nvSpPr>
          <p:cNvPr id="10" name="Shape 7"/>
          <p:cNvSpPr/>
          <p:nvPr/>
        </p:nvSpPr>
        <p:spPr>
          <a:xfrm>
            <a:off x="8046720" y="960120"/>
            <a:ext cx="3840480" cy="1463040"/>
          </a:xfrm>
          <a:prstGeom prst="rect">
            <a:avLst/>
          </a:prstGeom>
          <a:solidFill>
            <a:srgbClr val="1B4F72"/>
          </a:solidFill>
          <a:ln w="12700">
            <a:solidFill>
              <a:srgbClr val="1B4F72"/>
            </a:solidFill>
            <a:prstDash val="solid"/>
          </a:ln>
          <a:effectLst>
            <a:outerShdw sx="100000" sy="100000" kx="0" ky="0" algn="bl" rotWithShape="0" blurRad="101600" dist="38100" dir="8100000">
              <a:srgbClr val="000000">
                <a:alpha val="12000"/>
              </a:srgbClr>
            </a:outerShdw>
          </a:effectLst>
        </p:spPr>
      </p:sp>
      <p:sp>
        <p:nvSpPr>
          <p:cNvPr id="11" name="Text 8"/>
          <p:cNvSpPr/>
          <p:nvPr/>
        </p:nvSpPr>
        <p:spPr>
          <a:xfrm>
            <a:off x="8046720" y="1033272"/>
            <a:ext cx="3840480" cy="804672"/>
          </a:xfrm>
          <a:prstGeom prst="rect">
            <a:avLst/>
          </a:prstGeom>
          <a:noFill/>
          <a:ln/>
        </p:spPr>
        <p:txBody>
          <a:bodyPr wrap="square" lIns="0" tIns="0" rIns="0" bIns="0" rtlCol="0" anchor="b"/>
          <a:lstStyle/>
          <a:p>
            <a:pPr algn="ctr" indent="0" marL="0">
              <a:buNone/>
            </a:pPr>
            <a:r>
              <a:rPr lang="en-US" sz="3400" b="1" dirty="0">
                <a:solidFill>
                  <a:srgbClr val="FFFFFF"/>
                </a:solidFill>
                <a:latin typeface="Calibri" pitchFamily="34" charset="0"/>
                <a:ea typeface="Calibri" pitchFamily="34" charset="-122"/>
                <a:cs typeface="Calibri" pitchFamily="34" charset="-120"/>
              </a:rPr>
              <a:t>+26.2%</a:t>
            </a:r>
            <a:endParaRPr lang="en-US" sz="3400" dirty="0"/>
          </a:p>
        </p:txBody>
      </p:sp>
      <p:sp>
        <p:nvSpPr>
          <p:cNvPr id="12" name="Text 9"/>
          <p:cNvSpPr/>
          <p:nvPr/>
        </p:nvSpPr>
        <p:spPr>
          <a:xfrm>
            <a:off x="8046720" y="1764792"/>
            <a:ext cx="3840480" cy="585216"/>
          </a:xfrm>
          <a:prstGeom prst="rect">
            <a:avLst/>
          </a:prstGeom>
          <a:noFill/>
          <a:ln/>
        </p:spPr>
        <p:txBody>
          <a:bodyPr wrap="square" lIns="0" tIns="0" rIns="0" bIns="0" rtlCol="0" anchor="t"/>
          <a:lstStyle/>
          <a:p>
            <a:pPr algn="ctr" indent="0" marL="0">
              <a:buNone/>
            </a:pPr>
            <a:r>
              <a:rPr lang="en-US" sz="1100" dirty="0">
                <a:solidFill>
                  <a:srgbClr val="D6EAF8"/>
                </a:solidFill>
                <a:latin typeface="Calibri" pitchFamily="34" charset="0"/>
                <a:ea typeface="Calibri" pitchFamily="34" charset="-122"/>
                <a:cs typeface="Calibri" pitchFamily="34" charset="-120"/>
              </a:rPr>
              <a:t>Sales Uplift (Trial Period)</a:t>
            </a:r>
            <a:endParaRPr lang="en-US" sz="1100" dirty="0"/>
          </a:p>
        </p:txBody>
      </p:sp>
      <p:sp>
        <p:nvSpPr>
          <p:cNvPr id="13" name="Shape 10"/>
          <p:cNvSpPr/>
          <p:nvPr/>
        </p:nvSpPr>
        <p:spPr>
          <a:xfrm>
            <a:off x="8046720" y="2560320"/>
            <a:ext cx="3840480" cy="1463040"/>
          </a:xfrm>
          <a:prstGeom prst="rect">
            <a:avLst/>
          </a:prstGeom>
          <a:solidFill>
            <a:srgbClr val="148F77"/>
          </a:solidFill>
          <a:ln w="12700">
            <a:solidFill>
              <a:srgbClr val="148F77"/>
            </a:solidFill>
            <a:prstDash val="solid"/>
          </a:ln>
          <a:effectLst>
            <a:outerShdw sx="100000" sy="100000" kx="0" ky="0" algn="bl" rotWithShape="0" blurRad="101600" dist="38100" dir="8100000">
              <a:srgbClr val="000000">
                <a:alpha val="12000"/>
              </a:srgbClr>
            </a:outerShdw>
          </a:effectLst>
        </p:spPr>
      </p:sp>
      <p:sp>
        <p:nvSpPr>
          <p:cNvPr id="14" name="Text 11"/>
          <p:cNvSpPr/>
          <p:nvPr/>
        </p:nvSpPr>
        <p:spPr>
          <a:xfrm>
            <a:off x="8046720" y="2633472"/>
            <a:ext cx="3840480" cy="804672"/>
          </a:xfrm>
          <a:prstGeom prst="rect">
            <a:avLst/>
          </a:prstGeom>
          <a:noFill/>
          <a:ln/>
        </p:spPr>
        <p:txBody>
          <a:bodyPr wrap="square" lIns="0" tIns="0" rIns="0" bIns="0" rtlCol="0" anchor="b"/>
          <a:lstStyle/>
          <a:p>
            <a:pPr algn="ctr" indent="0" marL="0">
              <a:buNone/>
            </a:pPr>
            <a:r>
              <a:rPr lang="en-US" sz="3400" b="1" dirty="0">
                <a:solidFill>
                  <a:srgbClr val="FFFFFF"/>
                </a:solidFill>
                <a:latin typeface="Calibri" pitchFamily="34" charset="0"/>
                <a:ea typeface="Calibri" pitchFamily="34" charset="-122"/>
                <a:cs typeface="Calibri" pitchFamily="34" charset="-120"/>
              </a:rPr>
              <a:t>Control 233</a:t>
            </a:r>
            <a:endParaRPr lang="en-US" sz="3400" dirty="0"/>
          </a:p>
        </p:txBody>
      </p:sp>
      <p:sp>
        <p:nvSpPr>
          <p:cNvPr id="15" name="Text 12"/>
          <p:cNvSpPr/>
          <p:nvPr/>
        </p:nvSpPr>
        <p:spPr>
          <a:xfrm>
            <a:off x="8046720" y="3364992"/>
            <a:ext cx="3840480" cy="585216"/>
          </a:xfrm>
          <a:prstGeom prst="rect">
            <a:avLst/>
          </a:prstGeom>
          <a:noFill/>
          <a:ln/>
        </p:spPr>
        <p:txBody>
          <a:bodyPr wrap="square" lIns="0" tIns="0" rIns="0" bIns="0" rtlCol="0" anchor="t"/>
          <a:lstStyle/>
          <a:p>
            <a:pPr algn="ctr" indent="0" marL="0">
              <a:buNone/>
            </a:pPr>
            <a:r>
              <a:rPr lang="en-US" sz="1100" dirty="0">
                <a:solidFill>
                  <a:srgbClr val="D6EAF8"/>
                </a:solidFill>
                <a:latin typeface="Calibri" pitchFamily="34" charset="0"/>
                <a:ea typeface="Calibri" pitchFamily="34" charset="-122"/>
                <a:cs typeface="Calibri" pitchFamily="34" charset="-120"/>
              </a:rPr>
              <a:t>Similarity Score: 0.933</a:t>
            </a:r>
            <a:endParaRPr lang="en-US" sz="1100" dirty="0"/>
          </a:p>
        </p:txBody>
      </p:sp>
      <p:sp>
        <p:nvSpPr>
          <p:cNvPr id="16" name="Shape 13"/>
          <p:cNvSpPr/>
          <p:nvPr/>
        </p:nvSpPr>
        <p:spPr>
          <a:xfrm>
            <a:off x="8046720" y="4160520"/>
            <a:ext cx="3840480" cy="2103120"/>
          </a:xfrm>
          <a:prstGeom prst="rect">
            <a:avLst/>
          </a:prstGeom>
          <a:solidFill>
            <a:srgbClr val="FFFFFF"/>
          </a:solidFill>
          <a:ln w="12700">
            <a:solidFill>
              <a:srgbClr val="E5E8E8"/>
            </a:solidFill>
            <a:prstDash val="solid"/>
          </a:ln>
          <a:effectLst>
            <a:outerShdw sx="100000" sy="100000" kx="0" ky="0" algn="bl" rotWithShape="0" blurRad="101600" dist="38100" dir="8100000">
              <a:srgbClr val="000000">
                <a:alpha val="12000"/>
              </a:srgbClr>
            </a:outerShdw>
          </a:effectLst>
        </p:spPr>
      </p:sp>
      <p:sp>
        <p:nvSpPr>
          <p:cNvPr id="17" name="Shape 14"/>
          <p:cNvSpPr/>
          <p:nvPr/>
        </p:nvSpPr>
        <p:spPr>
          <a:xfrm>
            <a:off x="8046720" y="4160520"/>
            <a:ext cx="64008" cy="2103120"/>
          </a:xfrm>
          <a:prstGeom prst="rect">
            <a:avLst/>
          </a:prstGeom>
          <a:solidFill>
            <a:srgbClr val="1E8449"/>
          </a:solidFill>
          <a:ln w="12700">
            <a:solidFill>
              <a:srgbClr val="1E8449"/>
            </a:solidFill>
            <a:prstDash val="solid"/>
          </a:ln>
        </p:spPr>
      </p:sp>
      <p:sp>
        <p:nvSpPr>
          <p:cNvPr id="18" name="Text 15"/>
          <p:cNvSpPr/>
          <p:nvPr/>
        </p:nvSpPr>
        <p:spPr>
          <a:xfrm>
            <a:off x="8183880" y="4251960"/>
            <a:ext cx="3657600" cy="274320"/>
          </a:xfrm>
          <a:prstGeom prst="rect">
            <a:avLst/>
          </a:prstGeom>
          <a:noFill/>
          <a:ln/>
        </p:spPr>
        <p:txBody>
          <a:bodyPr wrap="square" lIns="0" tIns="0" rIns="0" bIns="0" rtlCol="0" anchor="ctr"/>
          <a:lstStyle/>
          <a:p>
            <a:pPr indent="0" marL="0">
              <a:buNone/>
            </a:pPr>
            <a:r>
              <a:rPr lang="en-US" sz="1200" b="1" dirty="0">
                <a:solidFill>
                  <a:srgbClr val="1E8449"/>
                </a:solidFill>
                <a:latin typeface="Calibri" pitchFamily="34" charset="0"/>
                <a:ea typeface="Calibri" pitchFamily="34" charset="-122"/>
                <a:cs typeface="Calibri" pitchFamily="34" charset="-120"/>
              </a:rPr>
              <a:t>Interpretation</a:t>
            </a:r>
            <a:endParaRPr lang="en-US" sz="1200" dirty="0"/>
          </a:p>
        </p:txBody>
      </p:sp>
      <p:sp>
        <p:nvSpPr>
          <p:cNvPr id="19" name="Text 16"/>
          <p:cNvSpPr/>
          <p:nvPr/>
        </p:nvSpPr>
        <p:spPr>
          <a:xfrm>
            <a:off x="8183880" y="4507992"/>
            <a:ext cx="3657600" cy="1645920"/>
          </a:xfrm>
          <a:prstGeom prst="rect">
            <a:avLst/>
          </a:prstGeom>
          <a:noFill/>
          <a:ln/>
        </p:spPr>
        <p:txBody>
          <a:bodyPr wrap="square" lIns="0" tIns="0" rIns="0" bIns="0" rtlCol="0" anchor="ctr"/>
          <a:lstStyle/>
          <a:p>
            <a:pPr indent="0" marL="0">
              <a:buNone/>
            </a:pPr>
            <a:r>
              <a:rPr lang="en-US" sz="1100" dirty="0">
                <a:solidFill>
                  <a:srgbClr val="0D1B2A"/>
                </a:solidFill>
                <a:latin typeface="Calibri" pitchFamily="34" charset="0"/>
                <a:ea typeface="Calibri" pitchFamily="34" charset="-122"/>
                <a:cs typeface="Calibri" pitchFamily="34" charset="-120"/>
              </a:rPr>
              <a:t>Store 77 consistently outperformed its control across all 3 trial months. The divergence in the green zone is clear and sustained — this is not a one-month spike. Pre-trial alignment (r=0.93) gives high confidence this uplift is attributable to the trial format.</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0D1B2A"/>
          </a:solidFill>
          <a:ln w="12700">
            <a:solidFill>
              <a:srgbClr val="0D1B2A"/>
            </a:solidFill>
            <a:prstDash val="solid"/>
          </a:ln>
        </p:spPr>
      </p:sp>
      <p:sp>
        <p:nvSpPr>
          <p:cNvPr id="3" name="Shape 1"/>
          <p:cNvSpPr/>
          <p:nvPr/>
        </p:nvSpPr>
        <p:spPr>
          <a:xfrm>
            <a:off x="0" y="960120"/>
            <a:ext cx="12161520" cy="54864"/>
          </a:xfrm>
          <a:prstGeom prst="rect">
            <a:avLst/>
          </a:prstGeom>
          <a:solidFill>
            <a:srgbClr val="D4AC0D"/>
          </a:solidFill>
          <a:ln w="12700">
            <a:solidFill>
              <a:srgbClr val="D4AC0D"/>
            </a:solidFill>
            <a:prstDash val="solid"/>
          </a:ln>
        </p:spPr>
      </p:sp>
      <p:sp>
        <p:nvSpPr>
          <p:cNvPr id="4" name="Text 2"/>
          <p:cNvSpPr/>
          <p:nvPr/>
        </p:nvSpPr>
        <p:spPr>
          <a:xfrm>
            <a:off x="365760" y="64008"/>
            <a:ext cx="9601200" cy="41148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Trial Store 86 vs Control Store 155</a:t>
            </a:r>
            <a:endParaRPr lang="en-US" sz="2200" dirty="0"/>
          </a:p>
        </p:txBody>
      </p:sp>
      <p:sp>
        <p:nvSpPr>
          <p:cNvPr id="5" name="Text 3"/>
          <p:cNvSpPr/>
          <p:nvPr/>
        </p:nvSpPr>
        <p:spPr>
          <a:xfrm>
            <a:off x="365760" y="512064"/>
            <a:ext cx="9601200" cy="347472"/>
          </a:xfrm>
          <a:prstGeom prst="rect">
            <a:avLst/>
          </a:prstGeom>
          <a:noFill/>
          <a:ln/>
        </p:spPr>
        <p:txBody>
          <a:bodyPr wrap="square" lIns="0" tIns="0" rIns="0" bIns="0" rtlCol="0" anchor="ctr"/>
          <a:lstStyle/>
          <a:p>
            <a:pPr indent="0" marL="0">
              <a:buNone/>
            </a:pPr>
            <a:r>
              <a:rPr lang="en-US" sz="1200" i="1" dirty="0">
                <a:solidFill>
                  <a:srgbClr val="A9CCE3"/>
                </a:solidFill>
                <a:latin typeface="Calibri" pitchFamily="34" charset="0"/>
                <a:ea typeface="Calibri" pitchFamily="34" charset="-122"/>
                <a:cs typeface="Calibri" pitchFamily="34" charset="-120"/>
              </a:rPr>
              <a:t>Solid performance — +13.2% sales uplift with excellent control match</a:t>
            </a:r>
            <a:endParaRPr lang="en-US" sz="1200" dirty="0"/>
          </a:p>
        </p:txBody>
      </p:sp>
      <p:sp>
        <p:nvSpPr>
          <p:cNvPr id="6" name="Text 4"/>
          <p:cNvSpPr/>
          <p:nvPr/>
        </p:nvSpPr>
        <p:spPr>
          <a:xfrm>
            <a:off x="9144000" y="109728"/>
            <a:ext cx="2834640" cy="320040"/>
          </a:xfrm>
          <a:prstGeom prst="rect">
            <a:avLst/>
          </a:prstGeom>
          <a:noFill/>
          <a:ln/>
        </p:spPr>
        <p:txBody>
          <a:bodyPr wrap="square" lIns="0" tIns="0" rIns="0" bIns="0" rtlCol="0" anchor="ctr"/>
          <a:lstStyle/>
          <a:p>
            <a:pPr algn="r" indent="0" marL="0">
              <a:buNone/>
            </a:pPr>
            <a:r>
              <a:rPr lang="en-US" sz="900" dirty="0">
                <a:solidFill>
                  <a:srgbClr val="BDC3C7"/>
                </a:solidFill>
                <a:latin typeface="Calibri" pitchFamily="34" charset="0"/>
                <a:ea typeface="Calibri" pitchFamily="34" charset="-122"/>
                <a:cs typeface="Calibri" pitchFamily="34" charset="-120"/>
              </a:rPr>
              <a:t>QUANTIUM | RETAIL ANALYTICS</a:t>
            </a:r>
            <a:endParaRPr lang="en-US" sz="900" dirty="0"/>
          </a:p>
        </p:txBody>
      </p:sp>
      <p:graphicFrame>
        <p:nvGraphicFramePr>
          <p:cNvPr id="7" name="Chart 0" descr=""/>
          <p:cNvGraphicFramePr/>
          <p:nvPr/>
        </p:nvGraphicFramePr>
        <p:xfrm>
          <a:off x="274320" y="960120"/>
          <a:ext cx="7589520" cy="539496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274320" y="6126480"/>
            <a:ext cx="7589520" cy="274320"/>
          </a:xfrm>
          <a:prstGeom prst="rect">
            <a:avLst/>
          </a:prstGeom>
          <a:solidFill>
            <a:srgbClr val="D5E8D4"/>
          </a:solidFill>
          <a:ln w="12700">
            <a:solidFill>
              <a:srgbClr val="82B366"/>
            </a:solidFill>
            <a:prstDash val="solid"/>
          </a:ln>
        </p:spPr>
      </p:sp>
      <p:sp>
        <p:nvSpPr>
          <p:cNvPr id="9" name="Text 6"/>
          <p:cNvSpPr/>
          <p:nvPr/>
        </p:nvSpPr>
        <p:spPr>
          <a:xfrm>
            <a:off x="274320" y="6126480"/>
            <a:ext cx="7589520" cy="274320"/>
          </a:xfrm>
          <a:prstGeom prst="rect">
            <a:avLst/>
          </a:prstGeom>
          <a:noFill/>
          <a:ln/>
        </p:spPr>
        <p:txBody>
          <a:bodyPr wrap="square" lIns="0" tIns="0" rIns="0" bIns="0" rtlCol="0" anchor="ctr"/>
          <a:lstStyle/>
          <a:p>
            <a:pPr algn="ctr" indent="0" marL="0">
              <a:buNone/>
            </a:pPr>
            <a:r>
              <a:rPr lang="en-US" sz="950" i="1" dirty="0">
                <a:solidFill>
                  <a:srgbClr val="2D6A4F"/>
                </a:solidFill>
                <a:latin typeface="Calibri" pitchFamily="34" charset="0"/>
                <a:ea typeface="Calibri" pitchFamily="34" charset="-122"/>
                <a:cs typeface="Calibri" pitchFamily="34" charset="-120"/>
              </a:rPr>
              <a:t>◀  Trial period: Feb – Apr 2019  ▶</a:t>
            </a:r>
            <a:endParaRPr lang="en-US" sz="950" dirty="0"/>
          </a:p>
        </p:txBody>
      </p:sp>
      <p:sp>
        <p:nvSpPr>
          <p:cNvPr id="10" name="Shape 7"/>
          <p:cNvSpPr/>
          <p:nvPr/>
        </p:nvSpPr>
        <p:spPr>
          <a:xfrm>
            <a:off x="8046720" y="960120"/>
            <a:ext cx="3840480" cy="1463040"/>
          </a:xfrm>
          <a:prstGeom prst="rect">
            <a:avLst/>
          </a:prstGeom>
          <a:solidFill>
            <a:srgbClr val="1B4F72"/>
          </a:solidFill>
          <a:ln w="12700">
            <a:solidFill>
              <a:srgbClr val="1B4F72"/>
            </a:solidFill>
            <a:prstDash val="solid"/>
          </a:ln>
          <a:effectLst>
            <a:outerShdw sx="100000" sy="100000" kx="0" ky="0" algn="bl" rotWithShape="0" blurRad="101600" dist="38100" dir="8100000">
              <a:srgbClr val="000000">
                <a:alpha val="12000"/>
              </a:srgbClr>
            </a:outerShdw>
          </a:effectLst>
        </p:spPr>
      </p:sp>
      <p:sp>
        <p:nvSpPr>
          <p:cNvPr id="11" name="Text 8"/>
          <p:cNvSpPr/>
          <p:nvPr/>
        </p:nvSpPr>
        <p:spPr>
          <a:xfrm>
            <a:off x="8046720" y="1033272"/>
            <a:ext cx="3840480" cy="804672"/>
          </a:xfrm>
          <a:prstGeom prst="rect">
            <a:avLst/>
          </a:prstGeom>
          <a:noFill/>
          <a:ln/>
        </p:spPr>
        <p:txBody>
          <a:bodyPr wrap="square" lIns="0" tIns="0" rIns="0" bIns="0" rtlCol="0" anchor="b"/>
          <a:lstStyle/>
          <a:p>
            <a:pPr algn="ctr" indent="0" marL="0">
              <a:buNone/>
            </a:pPr>
            <a:r>
              <a:rPr lang="en-US" sz="3400" b="1" dirty="0">
                <a:solidFill>
                  <a:srgbClr val="FFFFFF"/>
                </a:solidFill>
                <a:latin typeface="Calibri" pitchFamily="34" charset="0"/>
                <a:ea typeface="Calibri" pitchFamily="34" charset="-122"/>
                <a:cs typeface="Calibri" pitchFamily="34" charset="-120"/>
              </a:rPr>
              <a:t>+13.2%</a:t>
            </a:r>
            <a:endParaRPr lang="en-US" sz="3400" dirty="0"/>
          </a:p>
        </p:txBody>
      </p:sp>
      <p:sp>
        <p:nvSpPr>
          <p:cNvPr id="12" name="Text 9"/>
          <p:cNvSpPr/>
          <p:nvPr/>
        </p:nvSpPr>
        <p:spPr>
          <a:xfrm>
            <a:off x="8046720" y="1764792"/>
            <a:ext cx="3840480" cy="585216"/>
          </a:xfrm>
          <a:prstGeom prst="rect">
            <a:avLst/>
          </a:prstGeom>
          <a:noFill/>
          <a:ln/>
        </p:spPr>
        <p:txBody>
          <a:bodyPr wrap="square" lIns="0" tIns="0" rIns="0" bIns="0" rtlCol="0" anchor="t"/>
          <a:lstStyle/>
          <a:p>
            <a:pPr algn="ctr" indent="0" marL="0">
              <a:buNone/>
            </a:pPr>
            <a:r>
              <a:rPr lang="en-US" sz="1100" dirty="0">
                <a:solidFill>
                  <a:srgbClr val="D6EAF8"/>
                </a:solidFill>
                <a:latin typeface="Calibri" pitchFamily="34" charset="0"/>
                <a:ea typeface="Calibri" pitchFamily="34" charset="-122"/>
                <a:cs typeface="Calibri" pitchFamily="34" charset="-120"/>
              </a:rPr>
              <a:t>Sales Uplift (Trial Period)</a:t>
            </a:r>
            <a:endParaRPr lang="en-US" sz="1100" dirty="0"/>
          </a:p>
        </p:txBody>
      </p:sp>
      <p:sp>
        <p:nvSpPr>
          <p:cNvPr id="13" name="Shape 10"/>
          <p:cNvSpPr/>
          <p:nvPr/>
        </p:nvSpPr>
        <p:spPr>
          <a:xfrm>
            <a:off x="8046720" y="2560320"/>
            <a:ext cx="3840480" cy="1463040"/>
          </a:xfrm>
          <a:prstGeom prst="rect">
            <a:avLst/>
          </a:prstGeom>
          <a:solidFill>
            <a:srgbClr val="148F77"/>
          </a:solidFill>
          <a:ln w="12700">
            <a:solidFill>
              <a:srgbClr val="148F77"/>
            </a:solidFill>
            <a:prstDash val="solid"/>
          </a:ln>
          <a:effectLst>
            <a:outerShdw sx="100000" sy="100000" kx="0" ky="0" algn="bl" rotWithShape="0" blurRad="101600" dist="38100" dir="8100000">
              <a:srgbClr val="000000">
                <a:alpha val="12000"/>
              </a:srgbClr>
            </a:outerShdw>
          </a:effectLst>
        </p:spPr>
      </p:sp>
      <p:sp>
        <p:nvSpPr>
          <p:cNvPr id="14" name="Text 11"/>
          <p:cNvSpPr/>
          <p:nvPr/>
        </p:nvSpPr>
        <p:spPr>
          <a:xfrm>
            <a:off x="8046720" y="2633472"/>
            <a:ext cx="3840480" cy="804672"/>
          </a:xfrm>
          <a:prstGeom prst="rect">
            <a:avLst/>
          </a:prstGeom>
          <a:noFill/>
          <a:ln/>
        </p:spPr>
        <p:txBody>
          <a:bodyPr wrap="square" lIns="0" tIns="0" rIns="0" bIns="0" rtlCol="0" anchor="b"/>
          <a:lstStyle/>
          <a:p>
            <a:pPr algn="ctr" indent="0" marL="0">
              <a:buNone/>
            </a:pPr>
            <a:r>
              <a:rPr lang="en-US" sz="3400" b="1" dirty="0">
                <a:solidFill>
                  <a:srgbClr val="FFFFFF"/>
                </a:solidFill>
                <a:latin typeface="Calibri" pitchFamily="34" charset="0"/>
                <a:ea typeface="Calibri" pitchFamily="34" charset="-122"/>
                <a:cs typeface="Calibri" pitchFamily="34" charset="-120"/>
              </a:rPr>
              <a:t>Control 155</a:t>
            </a:r>
            <a:endParaRPr lang="en-US" sz="3400" dirty="0"/>
          </a:p>
        </p:txBody>
      </p:sp>
      <p:sp>
        <p:nvSpPr>
          <p:cNvPr id="15" name="Text 12"/>
          <p:cNvSpPr/>
          <p:nvPr/>
        </p:nvSpPr>
        <p:spPr>
          <a:xfrm>
            <a:off x="8046720" y="3364992"/>
            <a:ext cx="3840480" cy="585216"/>
          </a:xfrm>
          <a:prstGeom prst="rect">
            <a:avLst/>
          </a:prstGeom>
          <a:noFill/>
          <a:ln/>
        </p:spPr>
        <p:txBody>
          <a:bodyPr wrap="square" lIns="0" tIns="0" rIns="0" bIns="0" rtlCol="0" anchor="t"/>
          <a:lstStyle/>
          <a:p>
            <a:pPr algn="ctr" indent="0" marL="0">
              <a:buNone/>
            </a:pPr>
            <a:r>
              <a:rPr lang="en-US" sz="1100" dirty="0">
                <a:solidFill>
                  <a:srgbClr val="D6EAF8"/>
                </a:solidFill>
                <a:latin typeface="Calibri" pitchFamily="34" charset="0"/>
                <a:ea typeface="Calibri" pitchFamily="34" charset="-122"/>
                <a:cs typeface="Calibri" pitchFamily="34" charset="-120"/>
              </a:rPr>
              <a:t>Similarity Score: 0.914</a:t>
            </a:r>
            <a:endParaRPr lang="en-US" sz="1100" dirty="0"/>
          </a:p>
        </p:txBody>
      </p:sp>
      <p:sp>
        <p:nvSpPr>
          <p:cNvPr id="16" name="Shape 13"/>
          <p:cNvSpPr/>
          <p:nvPr/>
        </p:nvSpPr>
        <p:spPr>
          <a:xfrm>
            <a:off x="8046720" y="4160520"/>
            <a:ext cx="3840480" cy="2103120"/>
          </a:xfrm>
          <a:prstGeom prst="rect">
            <a:avLst/>
          </a:prstGeom>
          <a:solidFill>
            <a:srgbClr val="FFFFFF"/>
          </a:solidFill>
          <a:ln w="12700">
            <a:solidFill>
              <a:srgbClr val="E5E8E8"/>
            </a:solidFill>
            <a:prstDash val="solid"/>
          </a:ln>
          <a:effectLst>
            <a:outerShdw sx="100000" sy="100000" kx="0" ky="0" algn="bl" rotWithShape="0" blurRad="101600" dist="38100" dir="8100000">
              <a:srgbClr val="000000">
                <a:alpha val="12000"/>
              </a:srgbClr>
            </a:outerShdw>
          </a:effectLst>
        </p:spPr>
      </p:sp>
      <p:sp>
        <p:nvSpPr>
          <p:cNvPr id="17" name="Shape 14"/>
          <p:cNvSpPr/>
          <p:nvPr/>
        </p:nvSpPr>
        <p:spPr>
          <a:xfrm>
            <a:off x="8046720" y="4160520"/>
            <a:ext cx="64008" cy="2103120"/>
          </a:xfrm>
          <a:prstGeom prst="rect">
            <a:avLst/>
          </a:prstGeom>
          <a:solidFill>
            <a:srgbClr val="1E8449"/>
          </a:solidFill>
          <a:ln w="12700">
            <a:solidFill>
              <a:srgbClr val="1E8449"/>
            </a:solidFill>
            <a:prstDash val="solid"/>
          </a:ln>
        </p:spPr>
      </p:sp>
      <p:sp>
        <p:nvSpPr>
          <p:cNvPr id="18" name="Text 15"/>
          <p:cNvSpPr/>
          <p:nvPr/>
        </p:nvSpPr>
        <p:spPr>
          <a:xfrm>
            <a:off x="8183880" y="4251960"/>
            <a:ext cx="3657600" cy="274320"/>
          </a:xfrm>
          <a:prstGeom prst="rect">
            <a:avLst/>
          </a:prstGeom>
          <a:noFill/>
          <a:ln/>
        </p:spPr>
        <p:txBody>
          <a:bodyPr wrap="square" lIns="0" tIns="0" rIns="0" bIns="0" rtlCol="0" anchor="ctr"/>
          <a:lstStyle/>
          <a:p>
            <a:pPr indent="0" marL="0">
              <a:buNone/>
            </a:pPr>
            <a:r>
              <a:rPr lang="en-US" sz="1200" b="1" dirty="0">
                <a:solidFill>
                  <a:srgbClr val="1E8449"/>
                </a:solidFill>
                <a:latin typeface="Calibri" pitchFamily="34" charset="0"/>
                <a:ea typeface="Calibri" pitchFamily="34" charset="-122"/>
                <a:cs typeface="Calibri" pitchFamily="34" charset="-120"/>
              </a:rPr>
              <a:t>Interpretation</a:t>
            </a:r>
            <a:endParaRPr lang="en-US" sz="1200" dirty="0"/>
          </a:p>
        </p:txBody>
      </p:sp>
      <p:sp>
        <p:nvSpPr>
          <p:cNvPr id="19" name="Text 16"/>
          <p:cNvSpPr/>
          <p:nvPr/>
        </p:nvSpPr>
        <p:spPr>
          <a:xfrm>
            <a:off x="8183880" y="4507992"/>
            <a:ext cx="3657600" cy="1645920"/>
          </a:xfrm>
          <a:prstGeom prst="rect">
            <a:avLst/>
          </a:prstGeom>
          <a:noFill/>
          <a:ln/>
        </p:spPr>
        <p:txBody>
          <a:bodyPr wrap="square" lIns="0" tIns="0" rIns="0" bIns="0" rtlCol="0" anchor="ctr"/>
          <a:lstStyle/>
          <a:p>
            <a:pPr indent="0" marL="0">
              <a:buNone/>
            </a:pPr>
            <a:r>
              <a:rPr lang="en-US" sz="1100" dirty="0">
                <a:solidFill>
                  <a:srgbClr val="0D1B2A"/>
                </a:solidFill>
                <a:latin typeface="Calibri" pitchFamily="34" charset="0"/>
                <a:ea typeface="Calibri" pitchFamily="34" charset="-122"/>
                <a:cs typeface="Calibri" pitchFamily="34" charset="-120"/>
              </a:rPr>
              <a:t>Store 86 outperformed its control in 2 of 3 trial months. The February and March lift is particularly strong. With a 0.914 pre-trial similarity score, this is a robust comparison. The result is commercially meaningful and consistent.</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0D1B2A"/>
          </a:solidFill>
          <a:ln w="12700">
            <a:solidFill>
              <a:srgbClr val="0D1B2A"/>
            </a:solidFill>
            <a:prstDash val="solid"/>
          </a:ln>
        </p:spPr>
      </p:sp>
      <p:sp>
        <p:nvSpPr>
          <p:cNvPr id="3" name="Shape 1"/>
          <p:cNvSpPr/>
          <p:nvPr/>
        </p:nvSpPr>
        <p:spPr>
          <a:xfrm>
            <a:off x="0" y="960120"/>
            <a:ext cx="12161520" cy="54864"/>
          </a:xfrm>
          <a:prstGeom prst="rect">
            <a:avLst/>
          </a:prstGeom>
          <a:solidFill>
            <a:srgbClr val="D4AC0D"/>
          </a:solidFill>
          <a:ln w="12700">
            <a:solidFill>
              <a:srgbClr val="D4AC0D"/>
            </a:solidFill>
            <a:prstDash val="solid"/>
          </a:ln>
        </p:spPr>
      </p:sp>
      <p:sp>
        <p:nvSpPr>
          <p:cNvPr id="4" name="Text 2"/>
          <p:cNvSpPr/>
          <p:nvPr/>
        </p:nvSpPr>
        <p:spPr>
          <a:xfrm>
            <a:off x="365760" y="64008"/>
            <a:ext cx="9601200" cy="41148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Trial Store 88 vs Control Store 91</a:t>
            </a:r>
            <a:endParaRPr lang="en-US" sz="2200" dirty="0"/>
          </a:p>
        </p:txBody>
      </p:sp>
      <p:sp>
        <p:nvSpPr>
          <p:cNvPr id="5" name="Text 3"/>
          <p:cNvSpPr/>
          <p:nvPr/>
        </p:nvSpPr>
        <p:spPr>
          <a:xfrm>
            <a:off x="365760" y="512064"/>
            <a:ext cx="9601200" cy="347472"/>
          </a:xfrm>
          <a:prstGeom prst="rect">
            <a:avLst/>
          </a:prstGeom>
          <a:noFill/>
          <a:ln/>
        </p:spPr>
        <p:txBody>
          <a:bodyPr wrap="square" lIns="0" tIns="0" rIns="0" bIns="0" rtlCol="0" anchor="ctr"/>
          <a:lstStyle/>
          <a:p>
            <a:pPr indent="0" marL="0">
              <a:buNone/>
            </a:pPr>
            <a:r>
              <a:rPr lang="en-US" sz="1200" i="1" dirty="0">
                <a:solidFill>
                  <a:srgbClr val="A9CCE3"/>
                </a:solidFill>
                <a:latin typeface="Calibri" pitchFamily="34" charset="0"/>
                <a:ea typeface="Calibri" pitchFamily="34" charset="-122"/>
                <a:cs typeface="Calibri" pitchFamily="34" charset="-120"/>
              </a:rPr>
              <a:t>Weaker result — +4.0% uplift with a moderate control match</a:t>
            </a:r>
            <a:endParaRPr lang="en-US" sz="1200" dirty="0"/>
          </a:p>
        </p:txBody>
      </p:sp>
      <p:sp>
        <p:nvSpPr>
          <p:cNvPr id="6" name="Text 4"/>
          <p:cNvSpPr/>
          <p:nvPr/>
        </p:nvSpPr>
        <p:spPr>
          <a:xfrm>
            <a:off x="9144000" y="109728"/>
            <a:ext cx="2834640" cy="320040"/>
          </a:xfrm>
          <a:prstGeom prst="rect">
            <a:avLst/>
          </a:prstGeom>
          <a:noFill/>
          <a:ln/>
        </p:spPr>
        <p:txBody>
          <a:bodyPr wrap="square" lIns="0" tIns="0" rIns="0" bIns="0" rtlCol="0" anchor="ctr"/>
          <a:lstStyle/>
          <a:p>
            <a:pPr algn="r" indent="0" marL="0">
              <a:buNone/>
            </a:pPr>
            <a:r>
              <a:rPr lang="en-US" sz="900" dirty="0">
                <a:solidFill>
                  <a:srgbClr val="BDC3C7"/>
                </a:solidFill>
                <a:latin typeface="Calibri" pitchFamily="34" charset="0"/>
                <a:ea typeface="Calibri" pitchFamily="34" charset="-122"/>
                <a:cs typeface="Calibri" pitchFamily="34" charset="-120"/>
              </a:rPr>
              <a:t>QUANTIUM | RETAIL ANALYTICS</a:t>
            </a:r>
            <a:endParaRPr lang="en-US" sz="900" dirty="0"/>
          </a:p>
        </p:txBody>
      </p:sp>
      <p:graphicFrame>
        <p:nvGraphicFramePr>
          <p:cNvPr id="7" name="Chart 0" descr=""/>
          <p:cNvGraphicFramePr/>
          <p:nvPr/>
        </p:nvGraphicFramePr>
        <p:xfrm>
          <a:off x="274320" y="960120"/>
          <a:ext cx="7589520" cy="539496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274320" y="6126480"/>
            <a:ext cx="7589520" cy="274320"/>
          </a:xfrm>
          <a:prstGeom prst="rect">
            <a:avLst/>
          </a:prstGeom>
          <a:solidFill>
            <a:srgbClr val="D5E8D4"/>
          </a:solidFill>
          <a:ln w="12700">
            <a:solidFill>
              <a:srgbClr val="82B366"/>
            </a:solidFill>
            <a:prstDash val="solid"/>
          </a:ln>
        </p:spPr>
      </p:sp>
      <p:sp>
        <p:nvSpPr>
          <p:cNvPr id="9" name="Text 6"/>
          <p:cNvSpPr/>
          <p:nvPr/>
        </p:nvSpPr>
        <p:spPr>
          <a:xfrm>
            <a:off x="274320" y="6126480"/>
            <a:ext cx="7589520" cy="274320"/>
          </a:xfrm>
          <a:prstGeom prst="rect">
            <a:avLst/>
          </a:prstGeom>
          <a:noFill/>
          <a:ln/>
        </p:spPr>
        <p:txBody>
          <a:bodyPr wrap="square" lIns="0" tIns="0" rIns="0" bIns="0" rtlCol="0" anchor="ctr"/>
          <a:lstStyle/>
          <a:p>
            <a:pPr algn="ctr" indent="0" marL="0">
              <a:buNone/>
            </a:pPr>
            <a:r>
              <a:rPr lang="en-US" sz="950" i="1" dirty="0">
                <a:solidFill>
                  <a:srgbClr val="2D6A4F"/>
                </a:solidFill>
                <a:latin typeface="Calibri" pitchFamily="34" charset="0"/>
                <a:ea typeface="Calibri" pitchFamily="34" charset="-122"/>
                <a:cs typeface="Calibri" pitchFamily="34" charset="-120"/>
              </a:rPr>
              <a:t>◀  Trial period: Feb – Apr 2019  ▶</a:t>
            </a:r>
            <a:endParaRPr lang="en-US" sz="950" dirty="0"/>
          </a:p>
        </p:txBody>
      </p:sp>
      <p:sp>
        <p:nvSpPr>
          <p:cNvPr id="10" name="Shape 7"/>
          <p:cNvSpPr/>
          <p:nvPr/>
        </p:nvSpPr>
        <p:spPr>
          <a:xfrm>
            <a:off x="8046720" y="960120"/>
            <a:ext cx="3840480" cy="1463040"/>
          </a:xfrm>
          <a:prstGeom prst="rect">
            <a:avLst/>
          </a:prstGeom>
          <a:solidFill>
            <a:srgbClr val="CA6F1E"/>
          </a:solidFill>
          <a:ln w="12700">
            <a:solidFill>
              <a:srgbClr val="CA6F1E"/>
            </a:solidFill>
            <a:prstDash val="solid"/>
          </a:ln>
          <a:effectLst>
            <a:outerShdw sx="100000" sy="100000" kx="0" ky="0" algn="bl" rotWithShape="0" blurRad="101600" dist="38100" dir="8100000">
              <a:srgbClr val="000000">
                <a:alpha val="12000"/>
              </a:srgbClr>
            </a:outerShdw>
          </a:effectLst>
        </p:spPr>
      </p:sp>
      <p:sp>
        <p:nvSpPr>
          <p:cNvPr id="11" name="Text 8"/>
          <p:cNvSpPr/>
          <p:nvPr/>
        </p:nvSpPr>
        <p:spPr>
          <a:xfrm>
            <a:off x="8046720" y="1033272"/>
            <a:ext cx="3840480" cy="804672"/>
          </a:xfrm>
          <a:prstGeom prst="rect">
            <a:avLst/>
          </a:prstGeom>
          <a:noFill/>
          <a:ln/>
        </p:spPr>
        <p:txBody>
          <a:bodyPr wrap="square" lIns="0" tIns="0" rIns="0" bIns="0" rtlCol="0" anchor="b"/>
          <a:lstStyle/>
          <a:p>
            <a:pPr algn="ctr" indent="0" marL="0">
              <a:buNone/>
            </a:pPr>
            <a:r>
              <a:rPr lang="en-US" sz="3400" b="1" dirty="0">
                <a:solidFill>
                  <a:srgbClr val="FFFFFF"/>
                </a:solidFill>
                <a:latin typeface="Calibri" pitchFamily="34" charset="0"/>
                <a:ea typeface="Calibri" pitchFamily="34" charset="-122"/>
                <a:cs typeface="Calibri" pitchFamily="34" charset="-120"/>
              </a:rPr>
              <a:t>+4.0%</a:t>
            </a:r>
            <a:endParaRPr lang="en-US" sz="3400" dirty="0"/>
          </a:p>
        </p:txBody>
      </p:sp>
      <p:sp>
        <p:nvSpPr>
          <p:cNvPr id="12" name="Text 9"/>
          <p:cNvSpPr/>
          <p:nvPr/>
        </p:nvSpPr>
        <p:spPr>
          <a:xfrm>
            <a:off x="8046720" y="1764792"/>
            <a:ext cx="3840480" cy="585216"/>
          </a:xfrm>
          <a:prstGeom prst="rect">
            <a:avLst/>
          </a:prstGeom>
          <a:noFill/>
          <a:ln/>
        </p:spPr>
        <p:txBody>
          <a:bodyPr wrap="square" lIns="0" tIns="0" rIns="0" bIns="0" rtlCol="0" anchor="t"/>
          <a:lstStyle/>
          <a:p>
            <a:pPr algn="ctr" indent="0" marL="0">
              <a:buNone/>
            </a:pPr>
            <a:r>
              <a:rPr lang="en-US" sz="1100" dirty="0">
                <a:solidFill>
                  <a:srgbClr val="D6EAF8"/>
                </a:solidFill>
                <a:latin typeface="Calibri" pitchFamily="34" charset="0"/>
                <a:ea typeface="Calibri" pitchFamily="34" charset="-122"/>
                <a:cs typeface="Calibri" pitchFamily="34" charset="-120"/>
              </a:rPr>
              <a:t>Sales Uplift (Trial Period)</a:t>
            </a:r>
            <a:endParaRPr lang="en-US" sz="1100" dirty="0"/>
          </a:p>
        </p:txBody>
      </p:sp>
      <p:sp>
        <p:nvSpPr>
          <p:cNvPr id="13" name="Shape 10"/>
          <p:cNvSpPr/>
          <p:nvPr/>
        </p:nvSpPr>
        <p:spPr>
          <a:xfrm>
            <a:off x="8046720" y="2560320"/>
            <a:ext cx="3840480" cy="1463040"/>
          </a:xfrm>
          <a:prstGeom prst="rect">
            <a:avLst/>
          </a:prstGeom>
          <a:solidFill>
            <a:srgbClr val="8E44AD"/>
          </a:solidFill>
          <a:ln w="12700">
            <a:solidFill>
              <a:srgbClr val="8E44AD"/>
            </a:solidFill>
            <a:prstDash val="solid"/>
          </a:ln>
          <a:effectLst>
            <a:outerShdw sx="100000" sy="100000" kx="0" ky="0" algn="bl" rotWithShape="0" blurRad="101600" dist="38100" dir="8100000">
              <a:srgbClr val="000000">
                <a:alpha val="12000"/>
              </a:srgbClr>
            </a:outerShdw>
          </a:effectLst>
        </p:spPr>
      </p:sp>
      <p:sp>
        <p:nvSpPr>
          <p:cNvPr id="14" name="Text 11"/>
          <p:cNvSpPr/>
          <p:nvPr/>
        </p:nvSpPr>
        <p:spPr>
          <a:xfrm>
            <a:off x="8046720" y="2633472"/>
            <a:ext cx="3840480" cy="804672"/>
          </a:xfrm>
          <a:prstGeom prst="rect">
            <a:avLst/>
          </a:prstGeom>
          <a:noFill/>
          <a:ln/>
        </p:spPr>
        <p:txBody>
          <a:bodyPr wrap="square" lIns="0" tIns="0" rIns="0" bIns="0" rtlCol="0" anchor="b"/>
          <a:lstStyle/>
          <a:p>
            <a:pPr algn="ctr" indent="0" marL="0">
              <a:buNone/>
            </a:pPr>
            <a:r>
              <a:rPr lang="en-US" sz="3400" b="1" dirty="0">
                <a:solidFill>
                  <a:srgbClr val="FFFFFF"/>
                </a:solidFill>
                <a:latin typeface="Calibri" pitchFamily="34" charset="0"/>
                <a:ea typeface="Calibri" pitchFamily="34" charset="-122"/>
                <a:cs typeface="Calibri" pitchFamily="34" charset="-120"/>
              </a:rPr>
              <a:t>Control 91</a:t>
            </a:r>
            <a:endParaRPr lang="en-US" sz="3400" dirty="0"/>
          </a:p>
        </p:txBody>
      </p:sp>
      <p:sp>
        <p:nvSpPr>
          <p:cNvPr id="15" name="Text 12"/>
          <p:cNvSpPr/>
          <p:nvPr/>
        </p:nvSpPr>
        <p:spPr>
          <a:xfrm>
            <a:off x="8046720" y="3364992"/>
            <a:ext cx="3840480" cy="585216"/>
          </a:xfrm>
          <a:prstGeom prst="rect">
            <a:avLst/>
          </a:prstGeom>
          <a:noFill/>
          <a:ln/>
        </p:spPr>
        <p:txBody>
          <a:bodyPr wrap="square" lIns="0" tIns="0" rIns="0" bIns="0" rtlCol="0" anchor="t"/>
          <a:lstStyle/>
          <a:p>
            <a:pPr algn="ctr" indent="0" marL="0">
              <a:buNone/>
            </a:pPr>
            <a:r>
              <a:rPr lang="en-US" sz="1100" dirty="0">
                <a:solidFill>
                  <a:srgbClr val="D6EAF8"/>
                </a:solidFill>
                <a:latin typeface="Calibri" pitchFamily="34" charset="0"/>
                <a:ea typeface="Calibri" pitchFamily="34" charset="-122"/>
                <a:cs typeface="Calibri" pitchFamily="34" charset="-120"/>
              </a:rPr>
              <a:t>Similarity Score: 0.732</a:t>
            </a:r>
            <a:endParaRPr lang="en-US" sz="1100" dirty="0"/>
          </a:p>
        </p:txBody>
      </p:sp>
      <p:sp>
        <p:nvSpPr>
          <p:cNvPr id="16" name="Shape 13"/>
          <p:cNvSpPr/>
          <p:nvPr/>
        </p:nvSpPr>
        <p:spPr>
          <a:xfrm>
            <a:off x="8046720" y="4160520"/>
            <a:ext cx="3840480" cy="2103120"/>
          </a:xfrm>
          <a:prstGeom prst="rect">
            <a:avLst/>
          </a:prstGeom>
          <a:solidFill>
            <a:srgbClr val="FFFFFF"/>
          </a:solidFill>
          <a:ln w="12700">
            <a:solidFill>
              <a:srgbClr val="E5E8E8"/>
            </a:solidFill>
            <a:prstDash val="solid"/>
          </a:ln>
          <a:effectLst>
            <a:outerShdw sx="100000" sy="100000" kx="0" ky="0" algn="bl" rotWithShape="0" blurRad="101600" dist="38100" dir="8100000">
              <a:srgbClr val="000000">
                <a:alpha val="12000"/>
              </a:srgbClr>
            </a:outerShdw>
          </a:effectLst>
        </p:spPr>
      </p:sp>
      <p:sp>
        <p:nvSpPr>
          <p:cNvPr id="17" name="Shape 14"/>
          <p:cNvSpPr/>
          <p:nvPr/>
        </p:nvSpPr>
        <p:spPr>
          <a:xfrm>
            <a:off x="8046720" y="4160520"/>
            <a:ext cx="64008" cy="2103120"/>
          </a:xfrm>
          <a:prstGeom prst="rect">
            <a:avLst/>
          </a:prstGeom>
          <a:solidFill>
            <a:srgbClr val="CA6F1E"/>
          </a:solidFill>
          <a:ln w="12700">
            <a:solidFill>
              <a:srgbClr val="CA6F1E"/>
            </a:solidFill>
            <a:prstDash val="solid"/>
          </a:ln>
        </p:spPr>
      </p:sp>
      <p:sp>
        <p:nvSpPr>
          <p:cNvPr id="18" name="Text 15"/>
          <p:cNvSpPr/>
          <p:nvPr/>
        </p:nvSpPr>
        <p:spPr>
          <a:xfrm>
            <a:off x="8183880" y="4251960"/>
            <a:ext cx="3657600" cy="274320"/>
          </a:xfrm>
          <a:prstGeom prst="rect">
            <a:avLst/>
          </a:prstGeom>
          <a:noFill/>
          <a:ln/>
        </p:spPr>
        <p:txBody>
          <a:bodyPr wrap="square" lIns="0" tIns="0" rIns="0" bIns="0" rtlCol="0" anchor="ctr"/>
          <a:lstStyle/>
          <a:p>
            <a:pPr indent="0" marL="0">
              <a:buNone/>
            </a:pPr>
            <a:r>
              <a:rPr lang="en-US" sz="1200" b="1" dirty="0">
                <a:solidFill>
                  <a:srgbClr val="CA6F1E"/>
                </a:solidFill>
                <a:latin typeface="Calibri" pitchFamily="34" charset="0"/>
                <a:ea typeface="Calibri" pitchFamily="34" charset="-122"/>
                <a:cs typeface="Calibri" pitchFamily="34" charset="-120"/>
              </a:rPr>
              <a:t>Interpretation</a:t>
            </a:r>
            <a:endParaRPr lang="en-US" sz="1200" dirty="0"/>
          </a:p>
        </p:txBody>
      </p:sp>
      <p:sp>
        <p:nvSpPr>
          <p:cNvPr id="19" name="Text 16"/>
          <p:cNvSpPr/>
          <p:nvPr/>
        </p:nvSpPr>
        <p:spPr>
          <a:xfrm>
            <a:off x="8183880" y="4507992"/>
            <a:ext cx="3657600" cy="1645920"/>
          </a:xfrm>
          <a:prstGeom prst="rect">
            <a:avLst/>
          </a:prstGeom>
          <a:noFill/>
          <a:ln/>
        </p:spPr>
        <p:txBody>
          <a:bodyPr wrap="square" lIns="0" tIns="0" rIns="0" bIns="0" rtlCol="0" anchor="ctr"/>
          <a:lstStyle/>
          <a:p>
            <a:pPr indent="0" marL="0">
              <a:buNone/>
            </a:pPr>
            <a:r>
              <a:rPr lang="en-US" sz="1100" dirty="0">
                <a:solidFill>
                  <a:srgbClr val="0D1B2A"/>
                </a:solidFill>
                <a:latin typeface="Calibri" pitchFamily="34" charset="0"/>
                <a:ea typeface="Calibri" pitchFamily="34" charset="-122"/>
                <a:cs typeface="Calibri" pitchFamily="34" charset="-120"/>
              </a:rPr>
              <a:t>Store 88's uplift is modest and the control match is weaker (0.73). The two lines track closely throughout the trial period, suggesting the format may not have had as strong an effect here — or that the control store is not sufficiently comparable. Further analysis recommended before rollout.</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0D1B2A"/>
          </a:solidFill>
          <a:ln w="12700">
            <a:solidFill>
              <a:srgbClr val="0D1B2A"/>
            </a:solidFill>
            <a:prstDash val="solid"/>
          </a:ln>
        </p:spPr>
      </p:sp>
      <p:sp>
        <p:nvSpPr>
          <p:cNvPr id="3" name="Shape 1"/>
          <p:cNvSpPr/>
          <p:nvPr/>
        </p:nvSpPr>
        <p:spPr>
          <a:xfrm>
            <a:off x="0" y="960120"/>
            <a:ext cx="12161520" cy="54864"/>
          </a:xfrm>
          <a:prstGeom prst="rect">
            <a:avLst/>
          </a:prstGeom>
          <a:solidFill>
            <a:srgbClr val="D4AC0D"/>
          </a:solidFill>
          <a:ln w="12700">
            <a:solidFill>
              <a:srgbClr val="D4AC0D"/>
            </a:solidFill>
            <a:prstDash val="solid"/>
          </a:ln>
        </p:spPr>
      </p:sp>
      <p:sp>
        <p:nvSpPr>
          <p:cNvPr id="4" name="Text 2"/>
          <p:cNvSpPr/>
          <p:nvPr/>
        </p:nvSpPr>
        <p:spPr>
          <a:xfrm>
            <a:off x="365760" y="64008"/>
            <a:ext cx="9601200" cy="41148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Trial Results at a Glance</a:t>
            </a:r>
            <a:endParaRPr lang="en-US" sz="2200" dirty="0"/>
          </a:p>
        </p:txBody>
      </p:sp>
      <p:sp>
        <p:nvSpPr>
          <p:cNvPr id="5" name="Text 3"/>
          <p:cNvSpPr/>
          <p:nvPr/>
        </p:nvSpPr>
        <p:spPr>
          <a:xfrm>
            <a:off x="365760" y="512064"/>
            <a:ext cx="9601200" cy="347472"/>
          </a:xfrm>
          <a:prstGeom prst="rect">
            <a:avLst/>
          </a:prstGeom>
          <a:noFill/>
          <a:ln/>
        </p:spPr>
        <p:txBody>
          <a:bodyPr wrap="square" lIns="0" tIns="0" rIns="0" bIns="0" rtlCol="0" anchor="ctr"/>
          <a:lstStyle/>
          <a:p>
            <a:pPr indent="0" marL="0">
              <a:buNone/>
            </a:pPr>
            <a:r>
              <a:rPr lang="en-US" sz="1200" i="1" dirty="0">
                <a:solidFill>
                  <a:srgbClr val="A9CCE3"/>
                </a:solidFill>
                <a:latin typeface="Calibri" pitchFamily="34" charset="0"/>
                <a:ea typeface="Calibri" pitchFamily="34" charset="-122"/>
                <a:cs typeface="Calibri" pitchFamily="34" charset="-120"/>
              </a:rPr>
              <a:t>All three stores showed positive uplift — stores 77 and 86 ready for rollout</a:t>
            </a:r>
            <a:endParaRPr lang="en-US" sz="1200" dirty="0"/>
          </a:p>
        </p:txBody>
      </p:sp>
      <p:sp>
        <p:nvSpPr>
          <p:cNvPr id="6" name="Text 4"/>
          <p:cNvSpPr/>
          <p:nvPr/>
        </p:nvSpPr>
        <p:spPr>
          <a:xfrm>
            <a:off x="9144000" y="109728"/>
            <a:ext cx="2834640" cy="320040"/>
          </a:xfrm>
          <a:prstGeom prst="rect">
            <a:avLst/>
          </a:prstGeom>
          <a:noFill/>
          <a:ln/>
        </p:spPr>
        <p:txBody>
          <a:bodyPr wrap="square" lIns="0" tIns="0" rIns="0" bIns="0" rtlCol="0" anchor="ctr"/>
          <a:lstStyle/>
          <a:p>
            <a:pPr algn="r" indent="0" marL="0">
              <a:buNone/>
            </a:pPr>
            <a:r>
              <a:rPr lang="en-US" sz="900" dirty="0">
                <a:solidFill>
                  <a:srgbClr val="BDC3C7"/>
                </a:solidFill>
                <a:latin typeface="Calibri" pitchFamily="34" charset="0"/>
                <a:ea typeface="Calibri" pitchFamily="34" charset="-122"/>
                <a:cs typeface="Calibri" pitchFamily="34" charset="-120"/>
              </a:rPr>
              <a:t>QUANTIUM | RETAIL ANALYTICS</a:t>
            </a:r>
            <a:endParaRPr lang="en-US" sz="900" dirty="0"/>
          </a:p>
        </p:txBody>
      </p:sp>
      <p:graphicFrame>
        <p:nvGraphicFramePr>
          <p:cNvPr id="7" name="Chart 0" descr=""/>
          <p:cNvGraphicFramePr/>
          <p:nvPr/>
        </p:nvGraphicFramePr>
        <p:xfrm>
          <a:off x="274320" y="960120"/>
          <a:ext cx="5943600" cy="502920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6400800" y="960120"/>
            <a:ext cx="5486400" cy="411480"/>
          </a:xfrm>
          <a:prstGeom prst="rect">
            <a:avLst/>
          </a:prstGeom>
          <a:solidFill>
            <a:srgbClr val="0D1B2A"/>
          </a:solidFill>
          <a:ln w="12700">
            <a:solidFill>
              <a:srgbClr val="0D1B2A"/>
            </a:solidFill>
            <a:prstDash val="solid"/>
          </a:ln>
        </p:spPr>
      </p:sp>
      <p:sp>
        <p:nvSpPr>
          <p:cNvPr id="9" name="Text 6"/>
          <p:cNvSpPr/>
          <p:nvPr/>
        </p:nvSpPr>
        <p:spPr>
          <a:xfrm>
            <a:off x="6446520" y="1014984"/>
            <a:ext cx="1371600" cy="365760"/>
          </a:xfrm>
          <a:prstGeom prst="rect">
            <a:avLst/>
          </a:prstGeom>
          <a:noFill/>
          <a:ln/>
        </p:spPr>
        <p:txBody>
          <a:bodyPr wrap="square" lIns="0" tIns="0" rIns="0" bIns="0" rtlCol="0" anchor="ctr"/>
          <a:lstStyle/>
          <a:p>
            <a:pPr algn="l" indent="0" marL="0">
              <a:buNone/>
            </a:pPr>
            <a:endParaRPr lang="en-US" sz="1150" dirty="0"/>
          </a:p>
        </p:txBody>
      </p:sp>
      <p:sp>
        <p:nvSpPr>
          <p:cNvPr id="10" name="Text 7"/>
          <p:cNvSpPr/>
          <p:nvPr/>
        </p:nvSpPr>
        <p:spPr>
          <a:xfrm>
            <a:off x="7863840" y="1014984"/>
            <a:ext cx="141732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Store 77</a:t>
            </a:r>
            <a:endParaRPr lang="en-US" sz="1150" dirty="0"/>
          </a:p>
        </p:txBody>
      </p:sp>
      <p:sp>
        <p:nvSpPr>
          <p:cNvPr id="11" name="Text 8"/>
          <p:cNvSpPr/>
          <p:nvPr/>
        </p:nvSpPr>
        <p:spPr>
          <a:xfrm>
            <a:off x="9326880" y="1014984"/>
            <a:ext cx="141732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Store 86</a:t>
            </a:r>
            <a:endParaRPr lang="en-US" sz="1150" dirty="0"/>
          </a:p>
        </p:txBody>
      </p:sp>
      <p:sp>
        <p:nvSpPr>
          <p:cNvPr id="12" name="Text 9"/>
          <p:cNvSpPr/>
          <p:nvPr/>
        </p:nvSpPr>
        <p:spPr>
          <a:xfrm>
            <a:off x="10789920" y="1014984"/>
            <a:ext cx="132588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Store 88</a:t>
            </a:r>
            <a:endParaRPr lang="en-US" sz="1150" dirty="0"/>
          </a:p>
        </p:txBody>
      </p:sp>
      <p:sp>
        <p:nvSpPr>
          <p:cNvPr id="13" name="Shape 10"/>
          <p:cNvSpPr/>
          <p:nvPr/>
        </p:nvSpPr>
        <p:spPr>
          <a:xfrm>
            <a:off x="6400800" y="1463040"/>
            <a:ext cx="5486400" cy="493776"/>
          </a:xfrm>
          <a:prstGeom prst="rect">
            <a:avLst/>
          </a:prstGeom>
          <a:solidFill>
            <a:srgbClr val="FFFFFF"/>
          </a:solidFill>
          <a:ln w="12700">
            <a:solidFill>
              <a:srgbClr val="E5E8E8"/>
            </a:solidFill>
            <a:prstDash val="solid"/>
          </a:ln>
        </p:spPr>
      </p:sp>
      <p:sp>
        <p:nvSpPr>
          <p:cNvPr id="14" name="Text 11"/>
          <p:cNvSpPr/>
          <p:nvPr/>
        </p:nvSpPr>
        <p:spPr>
          <a:xfrm>
            <a:off x="6446520" y="1517904"/>
            <a:ext cx="1371600" cy="365760"/>
          </a:xfrm>
          <a:prstGeom prst="rect">
            <a:avLst/>
          </a:prstGeom>
          <a:noFill/>
          <a:ln/>
        </p:spPr>
        <p:txBody>
          <a:bodyPr wrap="square" lIns="0" tIns="0" rIns="0" bIns="0" rtlCol="0" anchor="ctr"/>
          <a:lstStyle/>
          <a:p>
            <a:pPr algn="l" indent="0" marL="0">
              <a:buNone/>
            </a:pPr>
            <a:r>
              <a:rPr lang="en-US" sz="1150" b="1" dirty="0">
                <a:solidFill>
                  <a:srgbClr val="0D1B2A"/>
                </a:solidFill>
                <a:latin typeface="Calibri" pitchFamily="34" charset="0"/>
                <a:ea typeface="Calibri" pitchFamily="34" charset="-122"/>
                <a:cs typeface="Calibri" pitchFamily="34" charset="-120"/>
              </a:rPr>
              <a:t>Control Store</a:t>
            </a:r>
            <a:endParaRPr lang="en-US" sz="1150" dirty="0"/>
          </a:p>
        </p:txBody>
      </p:sp>
      <p:sp>
        <p:nvSpPr>
          <p:cNvPr id="15" name="Text 12"/>
          <p:cNvSpPr/>
          <p:nvPr/>
        </p:nvSpPr>
        <p:spPr>
          <a:xfrm>
            <a:off x="7863840" y="1517904"/>
            <a:ext cx="1417320" cy="365760"/>
          </a:xfrm>
          <a:prstGeom prst="rect">
            <a:avLst/>
          </a:prstGeom>
          <a:noFill/>
          <a:ln/>
        </p:spPr>
        <p:txBody>
          <a:bodyPr wrap="square" lIns="0" tIns="0" rIns="0" bIns="0" rtlCol="0" anchor="ctr"/>
          <a:lstStyle/>
          <a:p>
            <a:pPr algn="ctr" indent="0" marL="0">
              <a:buNone/>
            </a:pPr>
            <a:r>
              <a:rPr lang="en-US" sz="1150" dirty="0">
                <a:solidFill>
                  <a:srgbClr val="0D1B2A"/>
                </a:solidFill>
                <a:latin typeface="Calibri" pitchFamily="34" charset="0"/>
                <a:ea typeface="Calibri" pitchFamily="34" charset="-122"/>
                <a:cs typeface="Calibri" pitchFamily="34" charset="-120"/>
              </a:rPr>
              <a:t>233</a:t>
            </a:r>
            <a:endParaRPr lang="en-US" sz="1150" dirty="0"/>
          </a:p>
        </p:txBody>
      </p:sp>
      <p:sp>
        <p:nvSpPr>
          <p:cNvPr id="16" name="Text 13"/>
          <p:cNvSpPr/>
          <p:nvPr/>
        </p:nvSpPr>
        <p:spPr>
          <a:xfrm>
            <a:off x="9326880" y="1517904"/>
            <a:ext cx="1417320" cy="365760"/>
          </a:xfrm>
          <a:prstGeom prst="rect">
            <a:avLst/>
          </a:prstGeom>
          <a:noFill/>
          <a:ln/>
        </p:spPr>
        <p:txBody>
          <a:bodyPr wrap="square" lIns="0" tIns="0" rIns="0" bIns="0" rtlCol="0" anchor="ctr"/>
          <a:lstStyle/>
          <a:p>
            <a:pPr algn="ctr" indent="0" marL="0">
              <a:buNone/>
            </a:pPr>
            <a:r>
              <a:rPr lang="en-US" sz="1150" dirty="0">
                <a:solidFill>
                  <a:srgbClr val="0D1B2A"/>
                </a:solidFill>
                <a:latin typeface="Calibri" pitchFamily="34" charset="0"/>
                <a:ea typeface="Calibri" pitchFamily="34" charset="-122"/>
                <a:cs typeface="Calibri" pitchFamily="34" charset="-120"/>
              </a:rPr>
              <a:t>155</a:t>
            </a:r>
            <a:endParaRPr lang="en-US" sz="1150" dirty="0"/>
          </a:p>
        </p:txBody>
      </p:sp>
      <p:sp>
        <p:nvSpPr>
          <p:cNvPr id="17" name="Text 14"/>
          <p:cNvSpPr/>
          <p:nvPr/>
        </p:nvSpPr>
        <p:spPr>
          <a:xfrm>
            <a:off x="10789920" y="1517904"/>
            <a:ext cx="1325880" cy="365760"/>
          </a:xfrm>
          <a:prstGeom prst="rect">
            <a:avLst/>
          </a:prstGeom>
          <a:noFill/>
          <a:ln/>
        </p:spPr>
        <p:txBody>
          <a:bodyPr wrap="square" lIns="0" tIns="0" rIns="0" bIns="0" rtlCol="0" anchor="ctr"/>
          <a:lstStyle/>
          <a:p>
            <a:pPr algn="ctr" indent="0" marL="0">
              <a:buNone/>
            </a:pPr>
            <a:r>
              <a:rPr lang="en-US" sz="1150" dirty="0">
                <a:solidFill>
                  <a:srgbClr val="0D1B2A"/>
                </a:solidFill>
                <a:latin typeface="Calibri" pitchFamily="34" charset="0"/>
                <a:ea typeface="Calibri" pitchFamily="34" charset="-122"/>
                <a:cs typeface="Calibri" pitchFamily="34" charset="-120"/>
              </a:rPr>
              <a:t>91</a:t>
            </a:r>
            <a:endParaRPr lang="en-US" sz="1150" dirty="0"/>
          </a:p>
        </p:txBody>
      </p:sp>
      <p:sp>
        <p:nvSpPr>
          <p:cNvPr id="18" name="Shape 15"/>
          <p:cNvSpPr/>
          <p:nvPr/>
        </p:nvSpPr>
        <p:spPr>
          <a:xfrm>
            <a:off x="6400800" y="1965960"/>
            <a:ext cx="5486400" cy="493776"/>
          </a:xfrm>
          <a:prstGeom prst="rect">
            <a:avLst/>
          </a:prstGeom>
          <a:solidFill>
            <a:srgbClr val="EAF4FB"/>
          </a:solidFill>
          <a:ln w="12700">
            <a:solidFill>
              <a:srgbClr val="E5E8E8"/>
            </a:solidFill>
            <a:prstDash val="solid"/>
          </a:ln>
        </p:spPr>
      </p:sp>
      <p:sp>
        <p:nvSpPr>
          <p:cNvPr id="19" name="Text 16"/>
          <p:cNvSpPr/>
          <p:nvPr/>
        </p:nvSpPr>
        <p:spPr>
          <a:xfrm>
            <a:off x="6446520" y="2020824"/>
            <a:ext cx="1371600" cy="365760"/>
          </a:xfrm>
          <a:prstGeom prst="rect">
            <a:avLst/>
          </a:prstGeom>
          <a:noFill/>
          <a:ln/>
        </p:spPr>
        <p:txBody>
          <a:bodyPr wrap="square" lIns="0" tIns="0" rIns="0" bIns="0" rtlCol="0" anchor="ctr"/>
          <a:lstStyle/>
          <a:p>
            <a:pPr algn="l" indent="0" marL="0">
              <a:buNone/>
            </a:pPr>
            <a:r>
              <a:rPr lang="en-US" sz="1150" b="1" dirty="0">
                <a:solidFill>
                  <a:srgbClr val="0D1B2A"/>
                </a:solidFill>
                <a:latin typeface="Calibri" pitchFamily="34" charset="0"/>
                <a:ea typeface="Calibri" pitchFamily="34" charset="-122"/>
                <a:cs typeface="Calibri" pitchFamily="34" charset="-120"/>
              </a:rPr>
              <a:t>Match Score</a:t>
            </a:r>
            <a:endParaRPr lang="en-US" sz="1150" dirty="0"/>
          </a:p>
        </p:txBody>
      </p:sp>
      <p:sp>
        <p:nvSpPr>
          <p:cNvPr id="20" name="Text 17"/>
          <p:cNvSpPr/>
          <p:nvPr/>
        </p:nvSpPr>
        <p:spPr>
          <a:xfrm>
            <a:off x="7863840" y="2020824"/>
            <a:ext cx="1417320" cy="365760"/>
          </a:xfrm>
          <a:prstGeom prst="rect">
            <a:avLst/>
          </a:prstGeom>
          <a:noFill/>
          <a:ln/>
        </p:spPr>
        <p:txBody>
          <a:bodyPr wrap="square" lIns="0" tIns="0" rIns="0" bIns="0" rtlCol="0" anchor="ctr"/>
          <a:lstStyle/>
          <a:p>
            <a:pPr algn="ctr" indent="0" marL="0">
              <a:buNone/>
            </a:pPr>
            <a:r>
              <a:rPr lang="en-US" sz="1150" dirty="0">
                <a:solidFill>
                  <a:srgbClr val="0D1B2A"/>
                </a:solidFill>
                <a:latin typeface="Calibri" pitchFamily="34" charset="0"/>
                <a:ea typeface="Calibri" pitchFamily="34" charset="-122"/>
                <a:cs typeface="Calibri" pitchFamily="34" charset="-120"/>
              </a:rPr>
              <a:t>0.933</a:t>
            </a:r>
            <a:endParaRPr lang="en-US" sz="1150" dirty="0"/>
          </a:p>
        </p:txBody>
      </p:sp>
      <p:sp>
        <p:nvSpPr>
          <p:cNvPr id="21" name="Text 18"/>
          <p:cNvSpPr/>
          <p:nvPr/>
        </p:nvSpPr>
        <p:spPr>
          <a:xfrm>
            <a:off x="9326880" y="2020824"/>
            <a:ext cx="1417320" cy="365760"/>
          </a:xfrm>
          <a:prstGeom prst="rect">
            <a:avLst/>
          </a:prstGeom>
          <a:noFill/>
          <a:ln/>
        </p:spPr>
        <p:txBody>
          <a:bodyPr wrap="square" lIns="0" tIns="0" rIns="0" bIns="0" rtlCol="0" anchor="ctr"/>
          <a:lstStyle/>
          <a:p>
            <a:pPr algn="ctr" indent="0" marL="0">
              <a:buNone/>
            </a:pPr>
            <a:r>
              <a:rPr lang="en-US" sz="1150" dirty="0">
                <a:solidFill>
                  <a:srgbClr val="0D1B2A"/>
                </a:solidFill>
                <a:latin typeface="Calibri" pitchFamily="34" charset="0"/>
                <a:ea typeface="Calibri" pitchFamily="34" charset="-122"/>
                <a:cs typeface="Calibri" pitchFamily="34" charset="-120"/>
              </a:rPr>
              <a:t>0.914</a:t>
            </a:r>
            <a:endParaRPr lang="en-US" sz="1150" dirty="0"/>
          </a:p>
        </p:txBody>
      </p:sp>
      <p:sp>
        <p:nvSpPr>
          <p:cNvPr id="22" name="Text 19"/>
          <p:cNvSpPr/>
          <p:nvPr/>
        </p:nvSpPr>
        <p:spPr>
          <a:xfrm>
            <a:off x="10789920" y="2020824"/>
            <a:ext cx="1325880" cy="365760"/>
          </a:xfrm>
          <a:prstGeom prst="rect">
            <a:avLst/>
          </a:prstGeom>
          <a:noFill/>
          <a:ln/>
        </p:spPr>
        <p:txBody>
          <a:bodyPr wrap="square" lIns="0" tIns="0" rIns="0" bIns="0" rtlCol="0" anchor="ctr"/>
          <a:lstStyle/>
          <a:p>
            <a:pPr algn="ctr" indent="0" marL="0">
              <a:buNone/>
            </a:pPr>
            <a:r>
              <a:rPr lang="en-US" sz="1150" dirty="0">
                <a:solidFill>
                  <a:srgbClr val="0D1B2A"/>
                </a:solidFill>
                <a:latin typeface="Calibri" pitchFamily="34" charset="0"/>
                <a:ea typeface="Calibri" pitchFamily="34" charset="-122"/>
                <a:cs typeface="Calibri" pitchFamily="34" charset="-120"/>
              </a:rPr>
              <a:t>0.732</a:t>
            </a:r>
            <a:endParaRPr lang="en-US" sz="1150" dirty="0"/>
          </a:p>
        </p:txBody>
      </p:sp>
      <p:sp>
        <p:nvSpPr>
          <p:cNvPr id="23" name="Shape 20"/>
          <p:cNvSpPr/>
          <p:nvPr/>
        </p:nvSpPr>
        <p:spPr>
          <a:xfrm>
            <a:off x="6400800" y="2468880"/>
            <a:ext cx="5486400" cy="493776"/>
          </a:xfrm>
          <a:prstGeom prst="rect">
            <a:avLst/>
          </a:prstGeom>
          <a:solidFill>
            <a:srgbClr val="FFFFFF"/>
          </a:solidFill>
          <a:ln w="12700">
            <a:solidFill>
              <a:srgbClr val="E5E8E8"/>
            </a:solidFill>
            <a:prstDash val="solid"/>
          </a:ln>
        </p:spPr>
      </p:sp>
      <p:sp>
        <p:nvSpPr>
          <p:cNvPr id="24" name="Text 21"/>
          <p:cNvSpPr/>
          <p:nvPr/>
        </p:nvSpPr>
        <p:spPr>
          <a:xfrm>
            <a:off x="6446520" y="2523744"/>
            <a:ext cx="1371600" cy="365760"/>
          </a:xfrm>
          <a:prstGeom prst="rect">
            <a:avLst/>
          </a:prstGeom>
          <a:noFill/>
          <a:ln/>
        </p:spPr>
        <p:txBody>
          <a:bodyPr wrap="square" lIns="0" tIns="0" rIns="0" bIns="0" rtlCol="0" anchor="ctr"/>
          <a:lstStyle/>
          <a:p>
            <a:pPr algn="l" indent="0" marL="0">
              <a:buNone/>
            </a:pPr>
            <a:r>
              <a:rPr lang="en-US" sz="1150" b="1" dirty="0">
                <a:solidFill>
                  <a:srgbClr val="0D1B2A"/>
                </a:solidFill>
                <a:latin typeface="Calibri" pitchFamily="34" charset="0"/>
                <a:ea typeface="Calibri" pitchFamily="34" charset="-122"/>
                <a:cs typeface="Calibri" pitchFamily="34" charset="-120"/>
              </a:rPr>
              <a:t>Sales Uplift</a:t>
            </a:r>
            <a:endParaRPr lang="en-US" sz="1150" dirty="0"/>
          </a:p>
        </p:txBody>
      </p:sp>
      <p:sp>
        <p:nvSpPr>
          <p:cNvPr id="25" name="Text 22"/>
          <p:cNvSpPr/>
          <p:nvPr/>
        </p:nvSpPr>
        <p:spPr>
          <a:xfrm>
            <a:off x="7863840" y="2523744"/>
            <a:ext cx="1417320" cy="365760"/>
          </a:xfrm>
          <a:prstGeom prst="rect">
            <a:avLst/>
          </a:prstGeom>
          <a:noFill/>
          <a:ln/>
        </p:spPr>
        <p:txBody>
          <a:bodyPr wrap="square" lIns="0" tIns="0" rIns="0" bIns="0" rtlCol="0" anchor="ctr"/>
          <a:lstStyle/>
          <a:p>
            <a:pPr algn="ctr" indent="0" marL="0">
              <a:buNone/>
            </a:pPr>
            <a:r>
              <a:rPr lang="en-US" sz="1150" dirty="0">
                <a:solidFill>
                  <a:srgbClr val="0D1B2A"/>
                </a:solidFill>
                <a:latin typeface="Calibri" pitchFamily="34" charset="0"/>
                <a:ea typeface="Calibri" pitchFamily="34" charset="-122"/>
                <a:cs typeface="Calibri" pitchFamily="34" charset="-120"/>
              </a:rPr>
              <a:t>+26.2%</a:t>
            </a:r>
            <a:endParaRPr lang="en-US" sz="1150" dirty="0"/>
          </a:p>
        </p:txBody>
      </p:sp>
      <p:sp>
        <p:nvSpPr>
          <p:cNvPr id="26" name="Text 23"/>
          <p:cNvSpPr/>
          <p:nvPr/>
        </p:nvSpPr>
        <p:spPr>
          <a:xfrm>
            <a:off x="9326880" y="2523744"/>
            <a:ext cx="1417320" cy="365760"/>
          </a:xfrm>
          <a:prstGeom prst="rect">
            <a:avLst/>
          </a:prstGeom>
          <a:noFill/>
          <a:ln/>
        </p:spPr>
        <p:txBody>
          <a:bodyPr wrap="square" lIns="0" tIns="0" rIns="0" bIns="0" rtlCol="0" anchor="ctr"/>
          <a:lstStyle/>
          <a:p>
            <a:pPr algn="ctr" indent="0" marL="0">
              <a:buNone/>
            </a:pPr>
            <a:r>
              <a:rPr lang="en-US" sz="1150" dirty="0">
                <a:solidFill>
                  <a:srgbClr val="0D1B2A"/>
                </a:solidFill>
                <a:latin typeface="Calibri" pitchFamily="34" charset="0"/>
                <a:ea typeface="Calibri" pitchFamily="34" charset="-122"/>
                <a:cs typeface="Calibri" pitchFamily="34" charset="-120"/>
              </a:rPr>
              <a:t>+13.2%</a:t>
            </a:r>
            <a:endParaRPr lang="en-US" sz="1150" dirty="0"/>
          </a:p>
        </p:txBody>
      </p:sp>
      <p:sp>
        <p:nvSpPr>
          <p:cNvPr id="27" name="Text 24"/>
          <p:cNvSpPr/>
          <p:nvPr/>
        </p:nvSpPr>
        <p:spPr>
          <a:xfrm>
            <a:off x="10789920" y="2523744"/>
            <a:ext cx="1325880" cy="365760"/>
          </a:xfrm>
          <a:prstGeom prst="rect">
            <a:avLst/>
          </a:prstGeom>
          <a:noFill/>
          <a:ln/>
        </p:spPr>
        <p:txBody>
          <a:bodyPr wrap="square" lIns="0" tIns="0" rIns="0" bIns="0" rtlCol="0" anchor="ctr"/>
          <a:lstStyle/>
          <a:p>
            <a:pPr algn="ctr" indent="0" marL="0">
              <a:buNone/>
            </a:pPr>
            <a:r>
              <a:rPr lang="en-US" sz="1150" dirty="0">
                <a:solidFill>
                  <a:srgbClr val="0D1B2A"/>
                </a:solidFill>
                <a:latin typeface="Calibri" pitchFamily="34" charset="0"/>
                <a:ea typeface="Calibri" pitchFamily="34" charset="-122"/>
                <a:cs typeface="Calibri" pitchFamily="34" charset="-120"/>
              </a:rPr>
              <a:t>+4.0%</a:t>
            </a:r>
            <a:endParaRPr lang="en-US" sz="1150" dirty="0"/>
          </a:p>
        </p:txBody>
      </p:sp>
      <p:sp>
        <p:nvSpPr>
          <p:cNvPr id="28" name="Shape 25"/>
          <p:cNvSpPr/>
          <p:nvPr/>
        </p:nvSpPr>
        <p:spPr>
          <a:xfrm>
            <a:off x="6400800" y="2971800"/>
            <a:ext cx="5486400" cy="493776"/>
          </a:xfrm>
          <a:prstGeom prst="rect">
            <a:avLst/>
          </a:prstGeom>
          <a:solidFill>
            <a:srgbClr val="EAF4FB"/>
          </a:solidFill>
          <a:ln w="12700">
            <a:solidFill>
              <a:srgbClr val="E5E8E8"/>
            </a:solidFill>
            <a:prstDash val="solid"/>
          </a:ln>
        </p:spPr>
      </p:sp>
      <p:sp>
        <p:nvSpPr>
          <p:cNvPr id="29" name="Text 26"/>
          <p:cNvSpPr/>
          <p:nvPr/>
        </p:nvSpPr>
        <p:spPr>
          <a:xfrm>
            <a:off x="6446520" y="3026664"/>
            <a:ext cx="1371600" cy="365760"/>
          </a:xfrm>
          <a:prstGeom prst="rect">
            <a:avLst/>
          </a:prstGeom>
          <a:noFill/>
          <a:ln/>
        </p:spPr>
        <p:txBody>
          <a:bodyPr wrap="square" lIns="0" tIns="0" rIns="0" bIns="0" rtlCol="0" anchor="ctr"/>
          <a:lstStyle/>
          <a:p>
            <a:pPr algn="l" indent="0" marL="0">
              <a:buNone/>
            </a:pPr>
            <a:r>
              <a:rPr lang="en-US" sz="1150" b="1" dirty="0">
                <a:solidFill>
                  <a:srgbClr val="0D1B2A"/>
                </a:solidFill>
                <a:latin typeface="Calibri" pitchFamily="34" charset="0"/>
                <a:ea typeface="Calibri" pitchFamily="34" charset="-122"/>
                <a:cs typeface="Calibri" pitchFamily="34" charset="-120"/>
              </a:rPr>
              <a:t>p-value</a:t>
            </a:r>
            <a:endParaRPr lang="en-US" sz="1150" dirty="0"/>
          </a:p>
        </p:txBody>
      </p:sp>
      <p:sp>
        <p:nvSpPr>
          <p:cNvPr id="30" name="Text 27"/>
          <p:cNvSpPr/>
          <p:nvPr/>
        </p:nvSpPr>
        <p:spPr>
          <a:xfrm>
            <a:off x="7863840" y="3026664"/>
            <a:ext cx="1417320" cy="365760"/>
          </a:xfrm>
          <a:prstGeom prst="rect">
            <a:avLst/>
          </a:prstGeom>
          <a:noFill/>
          <a:ln/>
        </p:spPr>
        <p:txBody>
          <a:bodyPr wrap="square" lIns="0" tIns="0" rIns="0" bIns="0" rtlCol="0" anchor="ctr"/>
          <a:lstStyle/>
          <a:p>
            <a:pPr algn="ctr" indent="0" marL="0">
              <a:buNone/>
            </a:pPr>
            <a:r>
              <a:rPr lang="en-US" sz="1150" dirty="0">
                <a:solidFill>
                  <a:srgbClr val="0D1B2A"/>
                </a:solidFill>
                <a:latin typeface="Calibri" pitchFamily="34" charset="0"/>
                <a:ea typeface="Calibri" pitchFamily="34" charset="-122"/>
                <a:cs typeface="Calibri" pitchFamily="34" charset="-120"/>
              </a:rPr>
              <a:t>0.130</a:t>
            </a:r>
            <a:endParaRPr lang="en-US" sz="1150" dirty="0"/>
          </a:p>
        </p:txBody>
      </p:sp>
      <p:sp>
        <p:nvSpPr>
          <p:cNvPr id="31" name="Text 28"/>
          <p:cNvSpPr/>
          <p:nvPr/>
        </p:nvSpPr>
        <p:spPr>
          <a:xfrm>
            <a:off x="9326880" y="3026664"/>
            <a:ext cx="1417320" cy="365760"/>
          </a:xfrm>
          <a:prstGeom prst="rect">
            <a:avLst/>
          </a:prstGeom>
          <a:noFill/>
          <a:ln/>
        </p:spPr>
        <p:txBody>
          <a:bodyPr wrap="square" lIns="0" tIns="0" rIns="0" bIns="0" rtlCol="0" anchor="ctr"/>
          <a:lstStyle/>
          <a:p>
            <a:pPr algn="ctr" indent="0" marL="0">
              <a:buNone/>
            </a:pPr>
            <a:r>
              <a:rPr lang="en-US" sz="1150" dirty="0">
                <a:solidFill>
                  <a:srgbClr val="0D1B2A"/>
                </a:solidFill>
                <a:latin typeface="Calibri" pitchFamily="34" charset="0"/>
                <a:ea typeface="Calibri" pitchFamily="34" charset="-122"/>
                <a:cs typeface="Calibri" pitchFamily="34" charset="-120"/>
              </a:rPr>
              <a:t>0.134</a:t>
            </a:r>
            <a:endParaRPr lang="en-US" sz="1150" dirty="0"/>
          </a:p>
        </p:txBody>
      </p:sp>
      <p:sp>
        <p:nvSpPr>
          <p:cNvPr id="32" name="Text 29"/>
          <p:cNvSpPr/>
          <p:nvPr/>
        </p:nvSpPr>
        <p:spPr>
          <a:xfrm>
            <a:off x="10789920" y="3026664"/>
            <a:ext cx="1325880" cy="365760"/>
          </a:xfrm>
          <a:prstGeom prst="rect">
            <a:avLst/>
          </a:prstGeom>
          <a:noFill/>
          <a:ln/>
        </p:spPr>
        <p:txBody>
          <a:bodyPr wrap="square" lIns="0" tIns="0" rIns="0" bIns="0" rtlCol="0" anchor="ctr"/>
          <a:lstStyle/>
          <a:p>
            <a:pPr algn="ctr" indent="0" marL="0">
              <a:buNone/>
            </a:pPr>
            <a:r>
              <a:rPr lang="en-US" sz="1150" dirty="0">
                <a:solidFill>
                  <a:srgbClr val="0D1B2A"/>
                </a:solidFill>
                <a:latin typeface="Calibri" pitchFamily="34" charset="0"/>
                <a:ea typeface="Calibri" pitchFamily="34" charset="-122"/>
                <a:cs typeface="Calibri" pitchFamily="34" charset="-120"/>
              </a:rPr>
              <a:t>0.155</a:t>
            </a:r>
            <a:endParaRPr lang="en-US" sz="1150" dirty="0"/>
          </a:p>
        </p:txBody>
      </p:sp>
      <p:sp>
        <p:nvSpPr>
          <p:cNvPr id="33" name="Shape 30"/>
          <p:cNvSpPr/>
          <p:nvPr/>
        </p:nvSpPr>
        <p:spPr>
          <a:xfrm>
            <a:off x="6400800" y="3474720"/>
            <a:ext cx="5486400" cy="493776"/>
          </a:xfrm>
          <a:prstGeom prst="rect">
            <a:avLst/>
          </a:prstGeom>
          <a:solidFill>
            <a:srgbClr val="FFFFFF"/>
          </a:solidFill>
          <a:ln w="12700">
            <a:solidFill>
              <a:srgbClr val="E5E8E8"/>
            </a:solidFill>
            <a:prstDash val="solid"/>
          </a:ln>
        </p:spPr>
      </p:sp>
      <p:sp>
        <p:nvSpPr>
          <p:cNvPr id="34" name="Text 31"/>
          <p:cNvSpPr/>
          <p:nvPr/>
        </p:nvSpPr>
        <p:spPr>
          <a:xfrm>
            <a:off x="6446520" y="3529584"/>
            <a:ext cx="1371600" cy="365760"/>
          </a:xfrm>
          <a:prstGeom prst="rect">
            <a:avLst/>
          </a:prstGeom>
          <a:noFill/>
          <a:ln/>
        </p:spPr>
        <p:txBody>
          <a:bodyPr wrap="square" lIns="0" tIns="0" rIns="0" bIns="0" rtlCol="0" anchor="ctr"/>
          <a:lstStyle/>
          <a:p>
            <a:pPr algn="l" indent="0" marL="0">
              <a:buNone/>
            </a:pPr>
            <a:r>
              <a:rPr lang="en-US" sz="1150" b="1" dirty="0">
                <a:solidFill>
                  <a:srgbClr val="0D1B2A"/>
                </a:solidFill>
                <a:latin typeface="Calibri" pitchFamily="34" charset="0"/>
                <a:ea typeface="Calibri" pitchFamily="34" charset="-122"/>
                <a:cs typeface="Calibri" pitchFamily="34" charset="-120"/>
              </a:rPr>
              <a:t>Significance</a:t>
            </a:r>
            <a:endParaRPr lang="en-US" sz="1150" dirty="0"/>
          </a:p>
        </p:txBody>
      </p:sp>
      <p:sp>
        <p:nvSpPr>
          <p:cNvPr id="35" name="Text 32"/>
          <p:cNvSpPr/>
          <p:nvPr/>
        </p:nvSpPr>
        <p:spPr>
          <a:xfrm>
            <a:off x="7863840" y="3529584"/>
            <a:ext cx="1417320" cy="365760"/>
          </a:xfrm>
          <a:prstGeom prst="rect">
            <a:avLst/>
          </a:prstGeom>
          <a:noFill/>
          <a:ln/>
        </p:spPr>
        <p:txBody>
          <a:bodyPr wrap="square" lIns="0" tIns="0" rIns="0" bIns="0" rtlCol="0" anchor="ctr"/>
          <a:lstStyle/>
          <a:p>
            <a:pPr algn="ctr" indent="0" marL="0">
              <a:buNone/>
            </a:pPr>
            <a:r>
              <a:rPr lang="en-US" sz="1150" dirty="0">
                <a:solidFill>
                  <a:srgbClr val="0D1B2A"/>
                </a:solidFill>
                <a:latin typeface="Calibri" pitchFamily="34" charset="0"/>
                <a:ea typeface="Calibri" pitchFamily="34" charset="-122"/>
                <a:cs typeface="Calibri" pitchFamily="34" charset="-120"/>
              </a:rPr>
              <a:t>Positive</a:t>
            </a:r>
            <a:endParaRPr lang="en-US" sz="1150" dirty="0"/>
          </a:p>
        </p:txBody>
      </p:sp>
      <p:sp>
        <p:nvSpPr>
          <p:cNvPr id="36" name="Text 33"/>
          <p:cNvSpPr/>
          <p:nvPr/>
        </p:nvSpPr>
        <p:spPr>
          <a:xfrm>
            <a:off x="9326880" y="3529584"/>
            <a:ext cx="1417320" cy="365760"/>
          </a:xfrm>
          <a:prstGeom prst="rect">
            <a:avLst/>
          </a:prstGeom>
          <a:noFill/>
          <a:ln/>
        </p:spPr>
        <p:txBody>
          <a:bodyPr wrap="square" lIns="0" tIns="0" rIns="0" bIns="0" rtlCol="0" anchor="ctr"/>
          <a:lstStyle/>
          <a:p>
            <a:pPr algn="ctr" indent="0" marL="0">
              <a:buNone/>
            </a:pPr>
            <a:r>
              <a:rPr lang="en-US" sz="1150" dirty="0">
                <a:solidFill>
                  <a:srgbClr val="0D1B2A"/>
                </a:solidFill>
                <a:latin typeface="Calibri" pitchFamily="34" charset="0"/>
                <a:ea typeface="Calibri" pitchFamily="34" charset="-122"/>
                <a:cs typeface="Calibri" pitchFamily="34" charset="-120"/>
              </a:rPr>
              <a:t>Positive</a:t>
            </a:r>
            <a:endParaRPr lang="en-US" sz="1150" dirty="0"/>
          </a:p>
        </p:txBody>
      </p:sp>
      <p:sp>
        <p:nvSpPr>
          <p:cNvPr id="37" name="Text 34"/>
          <p:cNvSpPr/>
          <p:nvPr/>
        </p:nvSpPr>
        <p:spPr>
          <a:xfrm>
            <a:off x="10789920" y="3529584"/>
            <a:ext cx="1325880" cy="365760"/>
          </a:xfrm>
          <a:prstGeom prst="rect">
            <a:avLst/>
          </a:prstGeom>
          <a:noFill/>
          <a:ln/>
        </p:spPr>
        <p:txBody>
          <a:bodyPr wrap="square" lIns="0" tIns="0" rIns="0" bIns="0" rtlCol="0" anchor="ctr"/>
          <a:lstStyle/>
          <a:p>
            <a:pPr algn="ctr" indent="0" marL="0">
              <a:buNone/>
            </a:pPr>
            <a:r>
              <a:rPr lang="en-US" sz="1150" dirty="0">
                <a:solidFill>
                  <a:srgbClr val="0D1B2A"/>
                </a:solidFill>
                <a:latin typeface="Calibri" pitchFamily="34" charset="0"/>
                <a:ea typeface="Calibri" pitchFamily="34" charset="-122"/>
                <a:cs typeface="Calibri" pitchFamily="34" charset="-120"/>
              </a:rPr>
              <a:t>Monitor</a:t>
            </a:r>
            <a:endParaRPr lang="en-US" sz="1150" dirty="0"/>
          </a:p>
        </p:txBody>
      </p:sp>
      <p:sp>
        <p:nvSpPr>
          <p:cNvPr id="38" name="Shape 35"/>
          <p:cNvSpPr/>
          <p:nvPr/>
        </p:nvSpPr>
        <p:spPr>
          <a:xfrm>
            <a:off x="6400800" y="3977640"/>
            <a:ext cx="5486400" cy="493776"/>
          </a:xfrm>
          <a:prstGeom prst="rect">
            <a:avLst/>
          </a:prstGeom>
          <a:solidFill>
            <a:srgbClr val="EAF4FB"/>
          </a:solidFill>
          <a:ln w="12700">
            <a:solidFill>
              <a:srgbClr val="E5E8E8"/>
            </a:solidFill>
            <a:prstDash val="solid"/>
          </a:ln>
        </p:spPr>
      </p:sp>
      <p:sp>
        <p:nvSpPr>
          <p:cNvPr id="39" name="Text 36"/>
          <p:cNvSpPr/>
          <p:nvPr/>
        </p:nvSpPr>
        <p:spPr>
          <a:xfrm>
            <a:off x="6446520" y="4032504"/>
            <a:ext cx="1371600" cy="365760"/>
          </a:xfrm>
          <a:prstGeom prst="rect">
            <a:avLst/>
          </a:prstGeom>
          <a:noFill/>
          <a:ln/>
        </p:spPr>
        <p:txBody>
          <a:bodyPr wrap="square" lIns="0" tIns="0" rIns="0" bIns="0" rtlCol="0" anchor="ctr"/>
          <a:lstStyle/>
          <a:p>
            <a:pPr algn="l" indent="0" marL="0">
              <a:buNone/>
            </a:pPr>
            <a:r>
              <a:rPr lang="en-US" sz="1150" b="1" dirty="0">
                <a:solidFill>
                  <a:srgbClr val="0D1B2A"/>
                </a:solidFill>
                <a:latin typeface="Calibri" pitchFamily="34" charset="0"/>
                <a:ea typeface="Calibri" pitchFamily="34" charset="-122"/>
                <a:cs typeface="Calibri" pitchFamily="34" charset="-120"/>
              </a:rPr>
              <a:t>Recommendation</a:t>
            </a:r>
            <a:endParaRPr lang="en-US" sz="1150" dirty="0"/>
          </a:p>
        </p:txBody>
      </p:sp>
      <p:sp>
        <p:nvSpPr>
          <p:cNvPr id="40" name="Text 37"/>
          <p:cNvSpPr/>
          <p:nvPr/>
        </p:nvSpPr>
        <p:spPr>
          <a:xfrm>
            <a:off x="7863840" y="4032504"/>
            <a:ext cx="1417320" cy="365760"/>
          </a:xfrm>
          <a:prstGeom prst="rect">
            <a:avLst/>
          </a:prstGeom>
          <a:noFill/>
          <a:ln/>
        </p:spPr>
        <p:txBody>
          <a:bodyPr wrap="square" lIns="0" tIns="0" rIns="0" bIns="0" rtlCol="0" anchor="ctr"/>
          <a:lstStyle/>
          <a:p>
            <a:pPr algn="ctr" indent="0" marL="0">
              <a:buNone/>
            </a:pPr>
            <a:r>
              <a:rPr lang="en-US" sz="1150" b="1" dirty="0">
                <a:solidFill>
                  <a:srgbClr val="1E8449"/>
                </a:solidFill>
                <a:latin typeface="Calibri" pitchFamily="34" charset="0"/>
                <a:ea typeface="Calibri" pitchFamily="34" charset="-122"/>
                <a:cs typeface="Calibri" pitchFamily="34" charset="-120"/>
              </a:rPr>
              <a:t>Rollout ✓</a:t>
            </a:r>
            <a:endParaRPr lang="en-US" sz="1150" dirty="0"/>
          </a:p>
        </p:txBody>
      </p:sp>
      <p:sp>
        <p:nvSpPr>
          <p:cNvPr id="41" name="Text 38"/>
          <p:cNvSpPr/>
          <p:nvPr/>
        </p:nvSpPr>
        <p:spPr>
          <a:xfrm>
            <a:off x="9326880" y="4032504"/>
            <a:ext cx="1417320" cy="365760"/>
          </a:xfrm>
          <a:prstGeom prst="rect">
            <a:avLst/>
          </a:prstGeom>
          <a:noFill/>
          <a:ln/>
        </p:spPr>
        <p:txBody>
          <a:bodyPr wrap="square" lIns="0" tIns="0" rIns="0" bIns="0" rtlCol="0" anchor="ctr"/>
          <a:lstStyle/>
          <a:p>
            <a:pPr algn="ctr" indent="0" marL="0">
              <a:buNone/>
            </a:pPr>
            <a:r>
              <a:rPr lang="en-US" sz="1150" b="1" dirty="0">
                <a:solidFill>
                  <a:srgbClr val="1E8449"/>
                </a:solidFill>
                <a:latin typeface="Calibri" pitchFamily="34" charset="0"/>
                <a:ea typeface="Calibri" pitchFamily="34" charset="-122"/>
                <a:cs typeface="Calibri" pitchFamily="34" charset="-120"/>
              </a:rPr>
              <a:t>Rollout ✓</a:t>
            </a:r>
            <a:endParaRPr lang="en-US" sz="1150" dirty="0"/>
          </a:p>
        </p:txBody>
      </p:sp>
      <p:sp>
        <p:nvSpPr>
          <p:cNvPr id="42" name="Text 39"/>
          <p:cNvSpPr/>
          <p:nvPr/>
        </p:nvSpPr>
        <p:spPr>
          <a:xfrm>
            <a:off x="10789920" y="4032504"/>
            <a:ext cx="1325880" cy="365760"/>
          </a:xfrm>
          <a:prstGeom prst="rect">
            <a:avLst/>
          </a:prstGeom>
          <a:noFill/>
          <a:ln/>
        </p:spPr>
        <p:txBody>
          <a:bodyPr wrap="square" lIns="0" tIns="0" rIns="0" bIns="0" rtlCol="0" anchor="ctr"/>
          <a:lstStyle/>
          <a:p>
            <a:pPr algn="ctr" indent="0" marL="0">
              <a:buNone/>
            </a:pPr>
            <a:r>
              <a:rPr lang="en-US" sz="1150" b="1" dirty="0">
                <a:solidFill>
                  <a:srgbClr val="CA6F1E"/>
                </a:solidFill>
                <a:latin typeface="Calibri" pitchFamily="34" charset="0"/>
                <a:ea typeface="Calibri" pitchFamily="34" charset="-122"/>
                <a:cs typeface="Calibri" pitchFamily="34" charset="-120"/>
              </a:rPr>
              <a:t>Hold ⚠</a:t>
            </a:r>
            <a:endParaRPr lang="en-US" sz="1150" dirty="0"/>
          </a:p>
        </p:txBody>
      </p:sp>
      <p:sp>
        <p:nvSpPr>
          <p:cNvPr id="43" name="Text 40"/>
          <p:cNvSpPr/>
          <p:nvPr/>
        </p:nvSpPr>
        <p:spPr>
          <a:xfrm>
            <a:off x="6400800" y="6309360"/>
            <a:ext cx="5486400" cy="256032"/>
          </a:xfrm>
          <a:prstGeom prst="rect">
            <a:avLst/>
          </a:prstGeom>
          <a:noFill/>
          <a:ln/>
        </p:spPr>
        <p:txBody>
          <a:bodyPr wrap="square" lIns="0" tIns="0" rIns="0" bIns="0" rtlCol="0" anchor="ctr"/>
          <a:lstStyle/>
          <a:p>
            <a:pPr indent="0" marL="0">
              <a:buNone/>
            </a:pPr>
            <a:r>
              <a:rPr lang="en-US" sz="850" i="1" dirty="0">
                <a:solidFill>
                  <a:srgbClr val="BDC3C7"/>
                </a:solidFill>
                <a:latin typeface="Calibri" pitchFamily="34" charset="0"/>
                <a:ea typeface="Calibri" pitchFamily="34" charset="-122"/>
                <a:cs typeface="Calibri" pitchFamily="34" charset="-120"/>
              </a:rPr>
              <a:t>* p-values based on independent samples t-test over 3 trial months. Low sample size limits statistical power.</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D4AC0D"/>
          </a:solidFill>
          <a:ln w="12700">
            <a:solidFill>
              <a:srgbClr val="D4AC0D"/>
            </a:solidFill>
            <a:prstDash val="solid"/>
          </a:ln>
        </p:spPr>
      </p:sp>
      <p:sp>
        <p:nvSpPr>
          <p:cNvPr id="3" name="Shape 1"/>
          <p:cNvSpPr/>
          <p:nvPr/>
        </p:nvSpPr>
        <p:spPr>
          <a:xfrm>
            <a:off x="164592" y="0"/>
            <a:ext cx="11996928" cy="6858000"/>
          </a:xfrm>
          <a:prstGeom prst="rect">
            <a:avLst/>
          </a:prstGeom>
          <a:solidFill>
            <a:srgbClr val="0D1B2A"/>
          </a:solidFill>
          <a:ln w="12700">
            <a:solidFill>
              <a:srgbClr val="0D1B2A"/>
            </a:solidFill>
            <a:prstDash val="solid"/>
          </a:ln>
        </p:spPr>
      </p:sp>
      <p:sp>
        <p:nvSpPr>
          <p:cNvPr id="4" name="Text 2"/>
          <p:cNvSpPr/>
          <p:nvPr/>
        </p:nvSpPr>
        <p:spPr>
          <a:xfrm>
            <a:off x="914400" y="2377440"/>
            <a:ext cx="10058400" cy="1097280"/>
          </a:xfrm>
          <a:prstGeom prst="rect">
            <a:avLst/>
          </a:prstGeom>
          <a:noFill/>
          <a:ln/>
        </p:spPr>
        <p:txBody>
          <a:bodyPr wrap="square" rtlCol="0" anchor="ctr"/>
          <a:lstStyle/>
          <a:p>
            <a:pPr indent="0" marL="0">
              <a:buNone/>
            </a:pPr>
            <a:r>
              <a:rPr lang="en-US" sz="4200" b="1" dirty="0">
                <a:solidFill>
                  <a:srgbClr val="FFFFFF"/>
                </a:solidFill>
                <a:latin typeface="Calibri" pitchFamily="34" charset="0"/>
                <a:ea typeface="Calibri" pitchFamily="34" charset="-122"/>
                <a:cs typeface="Calibri" pitchFamily="34" charset="-120"/>
              </a:rPr>
              <a:t>Part 3: Recommendations</a:t>
            </a:r>
            <a:endParaRPr lang="en-US" sz="4200" dirty="0"/>
          </a:p>
        </p:txBody>
      </p:sp>
      <p:sp>
        <p:nvSpPr>
          <p:cNvPr id="5" name="Text 3"/>
          <p:cNvSpPr/>
          <p:nvPr/>
        </p:nvSpPr>
        <p:spPr>
          <a:xfrm>
            <a:off x="914400" y="3474720"/>
            <a:ext cx="10058400" cy="640080"/>
          </a:xfrm>
          <a:prstGeom prst="rect">
            <a:avLst/>
          </a:prstGeom>
          <a:noFill/>
          <a:ln/>
        </p:spPr>
        <p:txBody>
          <a:bodyPr wrap="square" rtlCol="0" anchor="ctr"/>
          <a:lstStyle/>
          <a:p>
            <a:pPr indent="0" marL="0">
              <a:buNone/>
            </a:pPr>
            <a:r>
              <a:rPr lang="en-US" sz="1800" i="1" dirty="0">
                <a:solidFill>
                  <a:srgbClr val="D4AC0D"/>
                </a:solidFill>
                <a:latin typeface="Calibri" pitchFamily="34" charset="0"/>
                <a:ea typeface="Calibri" pitchFamily="34" charset="-122"/>
                <a:cs typeface="Calibri" pitchFamily="34" charset="-120"/>
              </a:rPr>
              <a:t>Clear, actionable next steps for Julia's strategic plan</a:t>
            </a:r>
            <a:endParaRPr lang="en-US" sz="1800" dirty="0"/>
          </a:p>
        </p:txBody>
      </p:sp>
      <p:sp>
        <p:nvSpPr>
          <p:cNvPr id="6" name="Text 4"/>
          <p:cNvSpPr/>
          <p:nvPr/>
        </p:nvSpPr>
        <p:spPr>
          <a:xfrm>
            <a:off x="914400" y="6217920"/>
            <a:ext cx="5486400" cy="365760"/>
          </a:xfrm>
          <a:prstGeom prst="rect">
            <a:avLst/>
          </a:prstGeom>
          <a:noFill/>
          <a:ln/>
        </p:spPr>
        <p:txBody>
          <a:bodyPr wrap="square" rtlCol="0" anchor="ctr"/>
          <a:lstStyle/>
          <a:p>
            <a:pPr indent="0" marL="0">
              <a:buNone/>
            </a:pPr>
            <a:r>
              <a:rPr lang="en-US" sz="1000" dirty="0">
                <a:solidFill>
                  <a:srgbClr val="BDC3C7"/>
                </a:solidFill>
                <a:latin typeface="Calibri" pitchFamily="34" charset="0"/>
                <a:ea typeface="Calibri" pitchFamily="34" charset="-122"/>
                <a:cs typeface="Calibri" pitchFamily="34" charset="-120"/>
              </a:rPr>
              <a:t>QUANTIUM | RETAIL ANALYTICS</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0D1B2A"/>
          </a:solidFill>
          <a:ln w="12700">
            <a:solidFill>
              <a:srgbClr val="0D1B2A"/>
            </a:solidFill>
            <a:prstDash val="solid"/>
          </a:ln>
        </p:spPr>
      </p:sp>
      <p:sp>
        <p:nvSpPr>
          <p:cNvPr id="3" name="Shape 1"/>
          <p:cNvSpPr/>
          <p:nvPr/>
        </p:nvSpPr>
        <p:spPr>
          <a:xfrm>
            <a:off x="0" y="960120"/>
            <a:ext cx="12161520" cy="54864"/>
          </a:xfrm>
          <a:prstGeom prst="rect">
            <a:avLst/>
          </a:prstGeom>
          <a:solidFill>
            <a:srgbClr val="D4AC0D"/>
          </a:solidFill>
          <a:ln w="12700">
            <a:solidFill>
              <a:srgbClr val="D4AC0D"/>
            </a:solidFill>
            <a:prstDash val="solid"/>
          </a:ln>
        </p:spPr>
      </p:sp>
      <p:sp>
        <p:nvSpPr>
          <p:cNvPr id="4" name="Text 2"/>
          <p:cNvSpPr/>
          <p:nvPr/>
        </p:nvSpPr>
        <p:spPr>
          <a:xfrm>
            <a:off x="365760" y="64008"/>
            <a:ext cx="9601200" cy="41148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Recommendations for the Next Half Year</a:t>
            </a:r>
            <a:endParaRPr lang="en-US" sz="2200" dirty="0"/>
          </a:p>
        </p:txBody>
      </p:sp>
      <p:sp>
        <p:nvSpPr>
          <p:cNvPr id="5" name="Text 3"/>
          <p:cNvSpPr/>
          <p:nvPr/>
        </p:nvSpPr>
        <p:spPr>
          <a:xfrm>
            <a:off x="365760" y="512064"/>
            <a:ext cx="9601200" cy="347472"/>
          </a:xfrm>
          <a:prstGeom prst="rect">
            <a:avLst/>
          </a:prstGeom>
          <a:noFill/>
          <a:ln/>
        </p:spPr>
        <p:txBody>
          <a:bodyPr wrap="square" lIns="0" tIns="0" rIns="0" bIns="0" rtlCol="0" anchor="ctr"/>
          <a:lstStyle/>
          <a:p>
            <a:pPr indent="0" marL="0">
              <a:buNone/>
            </a:pPr>
            <a:r>
              <a:rPr lang="en-US" sz="1200" i="1" dirty="0">
                <a:solidFill>
                  <a:srgbClr val="A9CCE3"/>
                </a:solidFill>
                <a:latin typeface="Calibri" pitchFamily="34" charset="0"/>
                <a:ea typeface="Calibri" pitchFamily="34" charset="-122"/>
                <a:cs typeface="Calibri" pitchFamily="34" charset="-120"/>
              </a:rPr>
              <a:t>Three clear actions to drive chip category growth</a:t>
            </a:r>
            <a:endParaRPr lang="en-US" sz="1200" dirty="0"/>
          </a:p>
        </p:txBody>
      </p:sp>
      <p:sp>
        <p:nvSpPr>
          <p:cNvPr id="6" name="Text 4"/>
          <p:cNvSpPr/>
          <p:nvPr/>
        </p:nvSpPr>
        <p:spPr>
          <a:xfrm>
            <a:off x="9144000" y="109728"/>
            <a:ext cx="2834640" cy="320040"/>
          </a:xfrm>
          <a:prstGeom prst="rect">
            <a:avLst/>
          </a:prstGeom>
          <a:noFill/>
          <a:ln/>
        </p:spPr>
        <p:txBody>
          <a:bodyPr wrap="square" lIns="0" tIns="0" rIns="0" bIns="0" rtlCol="0" anchor="ctr"/>
          <a:lstStyle/>
          <a:p>
            <a:pPr algn="r" indent="0" marL="0">
              <a:buNone/>
            </a:pPr>
            <a:r>
              <a:rPr lang="en-US" sz="900" dirty="0">
                <a:solidFill>
                  <a:srgbClr val="BDC3C7"/>
                </a:solidFill>
                <a:latin typeface="Calibri" pitchFamily="34" charset="0"/>
                <a:ea typeface="Calibri" pitchFamily="34" charset="-122"/>
                <a:cs typeface="Calibri" pitchFamily="34" charset="-120"/>
              </a:rPr>
              <a:t>QUANTIUM | RETAIL ANALYTICS</a:t>
            </a:r>
            <a:endParaRPr lang="en-US" sz="900" dirty="0"/>
          </a:p>
        </p:txBody>
      </p:sp>
      <p:sp>
        <p:nvSpPr>
          <p:cNvPr id="7" name="Shape 5"/>
          <p:cNvSpPr/>
          <p:nvPr/>
        </p:nvSpPr>
        <p:spPr>
          <a:xfrm>
            <a:off x="274320" y="1005840"/>
            <a:ext cx="11612880" cy="1737360"/>
          </a:xfrm>
          <a:prstGeom prst="rect">
            <a:avLst/>
          </a:prstGeom>
          <a:solidFill>
            <a:srgbClr val="FFFFFF"/>
          </a:solidFill>
          <a:ln w="12700">
            <a:solidFill>
              <a:srgbClr val="E5E8E8"/>
            </a:solidFill>
            <a:prstDash val="solid"/>
          </a:ln>
          <a:effectLst>
            <a:outerShdw sx="100000" sy="100000" kx="0" ky="0" algn="bl" rotWithShape="0" blurRad="101600" dist="38100" dir="8100000">
              <a:srgbClr val="000000">
                <a:alpha val="12000"/>
              </a:srgbClr>
            </a:outerShdw>
          </a:effectLst>
        </p:spPr>
      </p:sp>
      <p:sp>
        <p:nvSpPr>
          <p:cNvPr id="8" name="Shape 6"/>
          <p:cNvSpPr/>
          <p:nvPr/>
        </p:nvSpPr>
        <p:spPr>
          <a:xfrm>
            <a:off x="274320" y="1005840"/>
            <a:ext cx="73152" cy="1737360"/>
          </a:xfrm>
          <a:prstGeom prst="rect">
            <a:avLst/>
          </a:prstGeom>
          <a:solidFill>
            <a:srgbClr val="1B4F72"/>
          </a:solidFill>
          <a:ln w="12700">
            <a:solidFill>
              <a:srgbClr val="1B4F72"/>
            </a:solidFill>
            <a:prstDash val="solid"/>
          </a:ln>
        </p:spPr>
      </p:sp>
      <p:sp>
        <p:nvSpPr>
          <p:cNvPr id="9" name="Shape 7"/>
          <p:cNvSpPr/>
          <p:nvPr/>
        </p:nvSpPr>
        <p:spPr>
          <a:xfrm>
            <a:off x="457200" y="1508760"/>
            <a:ext cx="685800" cy="685800"/>
          </a:xfrm>
          <a:prstGeom prst="ellipse">
            <a:avLst/>
          </a:prstGeom>
          <a:solidFill>
            <a:srgbClr val="1B4F72"/>
          </a:solidFill>
          <a:ln w="12700">
            <a:solidFill>
              <a:srgbClr val="1B4F72"/>
            </a:solidFill>
            <a:prstDash val="solid"/>
          </a:ln>
        </p:spPr>
      </p:sp>
      <p:sp>
        <p:nvSpPr>
          <p:cNvPr id="10" name="Text 8"/>
          <p:cNvSpPr/>
          <p:nvPr/>
        </p:nvSpPr>
        <p:spPr>
          <a:xfrm>
            <a:off x="457200" y="1508760"/>
            <a:ext cx="685800" cy="6858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01</a:t>
            </a:r>
            <a:endParaRPr lang="en-US" sz="1600" dirty="0"/>
          </a:p>
        </p:txBody>
      </p:sp>
      <p:sp>
        <p:nvSpPr>
          <p:cNvPr id="11" name="Text 9"/>
          <p:cNvSpPr/>
          <p:nvPr/>
        </p:nvSpPr>
        <p:spPr>
          <a:xfrm>
            <a:off x="1325880" y="1097280"/>
            <a:ext cx="9418320" cy="411480"/>
          </a:xfrm>
          <a:prstGeom prst="rect">
            <a:avLst/>
          </a:prstGeom>
          <a:noFill/>
          <a:ln/>
        </p:spPr>
        <p:txBody>
          <a:bodyPr wrap="square" lIns="0" tIns="0" rIns="0" bIns="0" rtlCol="0" anchor="ctr"/>
          <a:lstStyle/>
          <a:p>
            <a:pPr indent="0" marL="0">
              <a:buNone/>
            </a:pPr>
            <a:r>
              <a:rPr lang="en-US" sz="1350" b="1" dirty="0">
                <a:solidFill>
                  <a:srgbClr val="1B4F72"/>
                </a:solidFill>
                <a:latin typeface="Calibri" pitchFamily="34" charset="0"/>
                <a:ea typeface="Calibri" pitchFamily="34" charset="-122"/>
                <a:cs typeface="Calibri" pitchFamily="34" charset="-120"/>
              </a:rPr>
              <a:t>Roll Out Trial Format to Stores Matching Profile of Store 77 &amp; 86</a:t>
            </a:r>
            <a:endParaRPr lang="en-US" sz="1350" dirty="0"/>
          </a:p>
        </p:txBody>
      </p:sp>
      <p:sp>
        <p:nvSpPr>
          <p:cNvPr id="12" name="Text 10"/>
          <p:cNvSpPr/>
          <p:nvPr/>
        </p:nvSpPr>
        <p:spPr>
          <a:xfrm>
            <a:off x="1325880" y="1508760"/>
            <a:ext cx="8686800" cy="1143000"/>
          </a:xfrm>
          <a:prstGeom prst="rect">
            <a:avLst/>
          </a:prstGeom>
          <a:noFill/>
          <a:ln/>
        </p:spPr>
        <p:txBody>
          <a:bodyPr wrap="square" lIns="0" tIns="0" rIns="0" bIns="0" rtlCol="0" anchor="ctr"/>
          <a:lstStyle/>
          <a:p>
            <a:pPr indent="0" marL="0">
              <a:buNone/>
            </a:pPr>
            <a:r>
              <a:rPr lang="en-US" sz="1100" dirty="0">
                <a:solidFill>
                  <a:srgbClr val="0D1B2A"/>
                </a:solidFill>
                <a:latin typeface="Calibri" pitchFamily="34" charset="0"/>
                <a:ea typeface="Calibri" pitchFamily="34" charset="-122"/>
                <a:cs typeface="Calibri" pitchFamily="34" charset="-120"/>
              </a:rPr>
              <a:t>Both stores demonstrated positive, consistent sales uplift (up to +26%) with excellent control matches. We recommend Quantium identifies stores with similar customer demographics — particularly Mainstream and Budget households — and prioritises them for the next wave of rollout. This represents the clearest commercial opportunity from the trial.</a:t>
            </a:r>
            <a:endParaRPr lang="en-US" sz="1100" dirty="0"/>
          </a:p>
        </p:txBody>
      </p:sp>
      <p:sp>
        <p:nvSpPr>
          <p:cNvPr id="13" name="Shape 11"/>
          <p:cNvSpPr/>
          <p:nvPr/>
        </p:nvSpPr>
        <p:spPr>
          <a:xfrm>
            <a:off x="10149840" y="1572768"/>
            <a:ext cx="1554480" cy="347472"/>
          </a:xfrm>
          <a:prstGeom prst="rect">
            <a:avLst/>
          </a:prstGeom>
          <a:solidFill>
            <a:srgbClr val="1B4F72"/>
          </a:solidFill>
          <a:ln w="12700">
            <a:solidFill>
              <a:srgbClr val="1B4F72"/>
            </a:solidFill>
            <a:prstDash val="solid"/>
          </a:ln>
        </p:spPr>
      </p:sp>
      <p:sp>
        <p:nvSpPr>
          <p:cNvPr id="14" name="Text 12"/>
          <p:cNvSpPr/>
          <p:nvPr/>
        </p:nvSpPr>
        <p:spPr>
          <a:xfrm>
            <a:off x="10149840" y="1572768"/>
            <a:ext cx="1554480" cy="34747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HIGH IMPACT</a:t>
            </a:r>
            <a:endParaRPr lang="en-US" sz="900" dirty="0"/>
          </a:p>
        </p:txBody>
      </p:sp>
      <p:sp>
        <p:nvSpPr>
          <p:cNvPr id="15" name="Shape 13"/>
          <p:cNvSpPr/>
          <p:nvPr/>
        </p:nvSpPr>
        <p:spPr>
          <a:xfrm>
            <a:off x="274320" y="2880360"/>
            <a:ext cx="11612880" cy="1737360"/>
          </a:xfrm>
          <a:prstGeom prst="rect">
            <a:avLst/>
          </a:prstGeom>
          <a:solidFill>
            <a:srgbClr val="FFFFFF"/>
          </a:solidFill>
          <a:ln w="12700">
            <a:solidFill>
              <a:srgbClr val="E5E8E8"/>
            </a:solidFill>
            <a:prstDash val="solid"/>
          </a:ln>
          <a:effectLst>
            <a:outerShdw sx="100000" sy="100000" kx="0" ky="0" algn="bl" rotWithShape="0" blurRad="101600" dist="38100" dir="8100000">
              <a:srgbClr val="000000">
                <a:alpha val="12000"/>
              </a:srgbClr>
            </a:outerShdw>
          </a:effectLst>
        </p:spPr>
      </p:sp>
      <p:sp>
        <p:nvSpPr>
          <p:cNvPr id="16" name="Shape 14"/>
          <p:cNvSpPr/>
          <p:nvPr/>
        </p:nvSpPr>
        <p:spPr>
          <a:xfrm>
            <a:off x="274320" y="2880360"/>
            <a:ext cx="73152" cy="1737360"/>
          </a:xfrm>
          <a:prstGeom prst="rect">
            <a:avLst/>
          </a:prstGeom>
          <a:solidFill>
            <a:srgbClr val="148F77"/>
          </a:solidFill>
          <a:ln w="12700">
            <a:solidFill>
              <a:srgbClr val="148F77"/>
            </a:solidFill>
            <a:prstDash val="solid"/>
          </a:ln>
        </p:spPr>
      </p:sp>
      <p:sp>
        <p:nvSpPr>
          <p:cNvPr id="17" name="Shape 15"/>
          <p:cNvSpPr/>
          <p:nvPr/>
        </p:nvSpPr>
        <p:spPr>
          <a:xfrm>
            <a:off x="457200" y="3383280"/>
            <a:ext cx="685800" cy="685800"/>
          </a:xfrm>
          <a:prstGeom prst="ellipse">
            <a:avLst/>
          </a:prstGeom>
          <a:solidFill>
            <a:srgbClr val="148F77"/>
          </a:solidFill>
          <a:ln w="12700">
            <a:solidFill>
              <a:srgbClr val="148F77"/>
            </a:solidFill>
            <a:prstDash val="solid"/>
          </a:ln>
        </p:spPr>
      </p:sp>
      <p:sp>
        <p:nvSpPr>
          <p:cNvPr id="18" name="Text 16"/>
          <p:cNvSpPr/>
          <p:nvPr/>
        </p:nvSpPr>
        <p:spPr>
          <a:xfrm>
            <a:off x="457200" y="3383280"/>
            <a:ext cx="685800" cy="6858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02</a:t>
            </a:r>
            <a:endParaRPr lang="en-US" sz="1600" dirty="0"/>
          </a:p>
        </p:txBody>
      </p:sp>
      <p:sp>
        <p:nvSpPr>
          <p:cNvPr id="19" name="Text 17"/>
          <p:cNvSpPr/>
          <p:nvPr/>
        </p:nvSpPr>
        <p:spPr>
          <a:xfrm>
            <a:off x="1325880" y="2971800"/>
            <a:ext cx="9418320" cy="411480"/>
          </a:xfrm>
          <a:prstGeom prst="rect">
            <a:avLst/>
          </a:prstGeom>
          <a:noFill/>
          <a:ln/>
        </p:spPr>
        <p:txBody>
          <a:bodyPr wrap="square" lIns="0" tIns="0" rIns="0" bIns="0" rtlCol="0" anchor="ctr"/>
          <a:lstStyle/>
          <a:p>
            <a:pPr indent="0" marL="0">
              <a:buNone/>
            </a:pPr>
            <a:r>
              <a:rPr lang="en-US" sz="1350" b="1" dirty="0">
                <a:solidFill>
                  <a:srgbClr val="148F77"/>
                </a:solidFill>
                <a:latin typeface="Calibri" pitchFamily="34" charset="0"/>
                <a:ea typeface="Calibri" pitchFamily="34" charset="-122"/>
                <a:cs typeface="Calibri" pitchFamily="34" charset="-120"/>
              </a:rPr>
              <a:t>Double Down on Mainstream &amp; Budget Customer Marketing</a:t>
            </a:r>
            <a:endParaRPr lang="en-US" sz="1350" dirty="0"/>
          </a:p>
        </p:txBody>
      </p:sp>
      <p:sp>
        <p:nvSpPr>
          <p:cNvPr id="20" name="Text 18"/>
          <p:cNvSpPr/>
          <p:nvPr/>
        </p:nvSpPr>
        <p:spPr>
          <a:xfrm>
            <a:off x="1325880" y="3383280"/>
            <a:ext cx="8686800" cy="1143000"/>
          </a:xfrm>
          <a:prstGeom prst="rect">
            <a:avLst/>
          </a:prstGeom>
          <a:noFill/>
          <a:ln/>
        </p:spPr>
        <p:txBody>
          <a:bodyPr wrap="square" lIns="0" tIns="0" rIns="0" bIns="0" rtlCol="0" anchor="ctr"/>
          <a:lstStyle/>
          <a:p>
            <a:pPr indent="0" marL="0">
              <a:buNone/>
            </a:pPr>
            <a:r>
              <a:rPr lang="en-US" sz="1100" dirty="0">
                <a:solidFill>
                  <a:srgbClr val="0D1B2A"/>
                </a:solidFill>
                <a:latin typeface="Calibri" pitchFamily="34" charset="0"/>
                <a:ea typeface="Calibri" pitchFamily="34" charset="-122"/>
                <a:cs typeface="Calibri" pitchFamily="34" charset="-120"/>
              </a:rPr>
              <a:t>These two tiers account for 74% of chip revenue. Targeted promotions, shelf placement and pack-size strategies aimed at Mainstream Young Singles/Couples and Budget Older Families will deliver the greatest return. Premium customers are consistent buyers but have lower growth headroom in volume.</a:t>
            </a:r>
            <a:endParaRPr lang="en-US" sz="1100" dirty="0"/>
          </a:p>
        </p:txBody>
      </p:sp>
      <p:sp>
        <p:nvSpPr>
          <p:cNvPr id="21" name="Shape 19"/>
          <p:cNvSpPr/>
          <p:nvPr/>
        </p:nvSpPr>
        <p:spPr>
          <a:xfrm>
            <a:off x="10149840" y="3447288"/>
            <a:ext cx="1554480" cy="347472"/>
          </a:xfrm>
          <a:prstGeom prst="rect">
            <a:avLst/>
          </a:prstGeom>
          <a:solidFill>
            <a:srgbClr val="148F77"/>
          </a:solidFill>
          <a:ln w="12700">
            <a:solidFill>
              <a:srgbClr val="148F77"/>
            </a:solidFill>
            <a:prstDash val="solid"/>
          </a:ln>
        </p:spPr>
      </p:sp>
      <p:sp>
        <p:nvSpPr>
          <p:cNvPr id="22" name="Text 20"/>
          <p:cNvSpPr/>
          <p:nvPr/>
        </p:nvSpPr>
        <p:spPr>
          <a:xfrm>
            <a:off x="10149840" y="3447288"/>
            <a:ext cx="1554480" cy="34747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HIGH IMPACT</a:t>
            </a:r>
            <a:endParaRPr lang="en-US" sz="900" dirty="0"/>
          </a:p>
        </p:txBody>
      </p:sp>
      <p:sp>
        <p:nvSpPr>
          <p:cNvPr id="23" name="Shape 21"/>
          <p:cNvSpPr/>
          <p:nvPr/>
        </p:nvSpPr>
        <p:spPr>
          <a:xfrm>
            <a:off x="274320" y="4754880"/>
            <a:ext cx="11612880" cy="1737360"/>
          </a:xfrm>
          <a:prstGeom prst="rect">
            <a:avLst/>
          </a:prstGeom>
          <a:solidFill>
            <a:srgbClr val="FFFFFF"/>
          </a:solidFill>
          <a:ln w="12700">
            <a:solidFill>
              <a:srgbClr val="E5E8E8"/>
            </a:solidFill>
            <a:prstDash val="solid"/>
          </a:ln>
          <a:effectLst>
            <a:outerShdw sx="100000" sy="100000" kx="0" ky="0" algn="bl" rotWithShape="0" blurRad="101600" dist="38100" dir="8100000">
              <a:srgbClr val="000000">
                <a:alpha val="12000"/>
              </a:srgbClr>
            </a:outerShdw>
          </a:effectLst>
        </p:spPr>
      </p:sp>
      <p:sp>
        <p:nvSpPr>
          <p:cNvPr id="24" name="Shape 22"/>
          <p:cNvSpPr/>
          <p:nvPr/>
        </p:nvSpPr>
        <p:spPr>
          <a:xfrm>
            <a:off x="274320" y="4754880"/>
            <a:ext cx="73152" cy="1737360"/>
          </a:xfrm>
          <a:prstGeom prst="rect">
            <a:avLst/>
          </a:prstGeom>
          <a:solidFill>
            <a:srgbClr val="D4AC0D"/>
          </a:solidFill>
          <a:ln w="12700">
            <a:solidFill>
              <a:srgbClr val="D4AC0D"/>
            </a:solidFill>
            <a:prstDash val="solid"/>
          </a:ln>
        </p:spPr>
      </p:sp>
      <p:sp>
        <p:nvSpPr>
          <p:cNvPr id="25" name="Shape 23"/>
          <p:cNvSpPr/>
          <p:nvPr/>
        </p:nvSpPr>
        <p:spPr>
          <a:xfrm>
            <a:off x="457200" y="5257800"/>
            <a:ext cx="685800" cy="685800"/>
          </a:xfrm>
          <a:prstGeom prst="ellipse">
            <a:avLst/>
          </a:prstGeom>
          <a:solidFill>
            <a:srgbClr val="D4AC0D"/>
          </a:solidFill>
          <a:ln w="12700">
            <a:solidFill>
              <a:srgbClr val="D4AC0D"/>
            </a:solidFill>
            <a:prstDash val="solid"/>
          </a:ln>
        </p:spPr>
      </p:sp>
      <p:sp>
        <p:nvSpPr>
          <p:cNvPr id="26" name="Text 24"/>
          <p:cNvSpPr/>
          <p:nvPr/>
        </p:nvSpPr>
        <p:spPr>
          <a:xfrm>
            <a:off x="457200" y="5257800"/>
            <a:ext cx="685800" cy="6858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03</a:t>
            </a:r>
            <a:endParaRPr lang="en-US" sz="1600" dirty="0"/>
          </a:p>
        </p:txBody>
      </p:sp>
      <p:sp>
        <p:nvSpPr>
          <p:cNvPr id="27" name="Text 25"/>
          <p:cNvSpPr/>
          <p:nvPr/>
        </p:nvSpPr>
        <p:spPr>
          <a:xfrm>
            <a:off x="1325880" y="4846320"/>
            <a:ext cx="9418320" cy="411480"/>
          </a:xfrm>
          <a:prstGeom prst="rect">
            <a:avLst/>
          </a:prstGeom>
          <a:noFill/>
          <a:ln/>
        </p:spPr>
        <p:txBody>
          <a:bodyPr wrap="square" lIns="0" tIns="0" rIns="0" bIns="0" rtlCol="0" anchor="ctr"/>
          <a:lstStyle/>
          <a:p>
            <a:pPr indent="0" marL="0">
              <a:buNone/>
            </a:pPr>
            <a:r>
              <a:rPr lang="en-US" sz="1350" b="1" dirty="0">
                <a:solidFill>
                  <a:srgbClr val="D4AC0D"/>
                </a:solidFill>
                <a:latin typeface="Calibri" pitchFamily="34" charset="0"/>
                <a:ea typeface="Calibri" pitchFamily="34" charset="-122"/>
                <a:cs typeface="Calibri" pitchFamily="34" charset="-120"/>
              </a:rPr>
              <a:t>Monitor Store 88 — Extend Observation or Re-run with Better Control</a:t>
            </a:r>
            <a:endParaRPr lang="en-US" sz="1350" dirty="0"/>
          </a:p>
        </p:txBody>
      </p:sp>
      <p:sp>
        <p:nvSpPr>
          <p:cNvPr id="28" name="Text 26"/>
          <p:cNvSpPr/>
          <p:nvPr/>
        </p:nvSpPr>
        <p:spPr>
          <a:xfrm>
            <a:off x="1325880" y="5257800"/>
            <a:ext cx="8686800" cy="1143000"/>
          </a:xfrm>
          <a:prstGeom prst="rect">
            <a:avLst/>
          </a:prstGeom>
          <a:noFill/>
          <a:ln/>
        </p:spPr>
        <p:txBody>
          <a:bodyPr wrap="square" lIns="0" tIns="0" rIns="0" bIns="0" rtlCol="0" anchor="ctr"/>
          <a:lstStyle/>
          <a:p>
            <a:pPr indent="0" marL="0">
              <a:buNone/>
            </a:pPr>
            <a:r>
              <a:rPr lang="en-US" sz="1100" dirty="0">
                <a:solidFill>
                  <a:srgbClr val="0D1B2A"/>
                </a:solidFill>
                <a:latin typeface="Calibri" pitchFamily="34" charset="0"/>
                <a:ea typeface="Calibri" pitchFamily="34" charset="-122"/>
                <a:cs typeface="Calibri" pitchFamily="34" charset="-120"/>
              </a:rPr>
              <a:t>Store 88's 4% uplift is promising but the control store match was weaker (0.73). Before committing to rollout for stores with this profile, we recommend either a longer observation window (2 more quarters) or re-running the trial with a higher-matched control store to get a cleaner read of the format's true effect.</a:t>
            </a:r>
            <a:endParaRPr lang="en-US" sz="1100" dirty="0"/>
          </a:p>
        </p:txBody>
      </p:sp>
      <p:sp>
        <p:nvSpPr>
          <p:cNvPr id="29" name="Shape 27"/>
          <p:cNvSpPr/>
          <p:nvPr/>
        </p:nvSpPr>
        <p:spPr>
          <a:xfrm>
            <a:off x="10149840" y="5321808"/>
            <a:ext cx="1554480" cy="347472"/>
          </a:xfrm>
          <a:prstGeom prst="rect">
            <a:avLst/>
          </a:prstGeom>
          <a:solidFill>
            <a:srgbClr val="D4AC0D"/>
          </a:solidFill>
          <a:ln w="12700">
            <a:solidFill>
              <a:srgbClr val="D4AC0D"/>
            </a:solidFill>
            <a:prstDash val="solid"/>
          </a:ln>
        </p:spPr>
      </p:sp>
      <p:sp>
        <p:nvSpPr>
          <p:cNvPr id="30" name="Text 28"/>
          <p:cNvSpPr/>
          <p:nvPr/>
        </p:nvSpPr>
        <p:spPr>
          <a:xfrm>
            <a:off x="10149840" y="5321808"/>
            <a:ext cx="1554480" cy="34747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MEDIUM IMPACT</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0D1B2A"/>
          </a:solidFill>
          <a:ln w="12700">
            <a:solidFill>
              <a:srgbClr val="0D1B2A"/>
            </a:solidFill>
            <a:prstDash val="solid"/>
          </a:ln>
        </p:spPr>
      </p:sp>
      <p:sp>
        <p:nvSpPr>
          <p:cNvPr id="3" name="Shape 1"/>
          <p:cNvSpPr/>
          <p:nvPr/>
        </p:nvSpPr>
        <p:spPr>
          <a:xfrm>
            <a:off x="0" y="960120"/>
            <a:ext cx="12161520" cy="54864"/>
          </a:xfrm>
          <a:prstGeom prst="rect">
            <a:avLst/>
          </a:prstGeom>
          <a:solidFill>
            <a:srgbClr val="D4AC0D"/>
          </a:solidFill>
          <a:ln w="12700">
            <a:solidFill>
              <a:srgbClr val="D4AC0D"/>
            </a:solidFill>
            <a:prstDash val="solid"/>
          </a:ln>
        </p:spPr>
      </p:sp>
      <p:sp>
        <p:nvSpPr>
          <p:cNvPr id="4" name="Text 2"/>
          <p:cNvSpPr/>
          <p:nvPr/>
        </p:nvSpPr>
        <p:spPr>
          <a:xfrm>
            <a:off x="365760" y="64008"/>
            <a:ext cx="9601200" cy="41148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Next Steps</a:t>
            </a:r>
            <a:endParaRPr lang="en-US" sz="2200" dirty="0"/>
          </a:p>
        </p:txBody>
      </p:sp>
      <p:sp>
        <p:nvSpPr>
          <p:cNvPr id="5" name="Text 3"/>
          <p:cNvSpPr/>
          <p:nvPr/>
        </p:nvSpPr>
        <p:spPr>
          <a:xfrm>
            <a:off x="365760" y="512064"/>
            <a:ext cx="9601200" cy="347472"/>
          </a:xfrm>
          <a:prstGeom prst="rect">
            <a:avLst/>
          </a:prstGeom>
          <a:noFill/>
          <a:ln/>
        </p:spPr>
        <p:txBody>
          <a:bodyPr wrap="square" lIns="0" tIns="0" rIns="0" bIns="0" rtlCol="0" anchor="ctr"/>
          <a:lstStyle/>
          <a:p>
            <a:pPr indent="0" marL="0">
              <a:buNone/>
            </a:pPr>
            <a:r>
              <a:rPr lang="en-US" sz="1200" i="1" dirty="0">
                <a:solidFill>
                  <a:srgbClr val="A9CCE3"/>
                </a:solidFill>
                <a:latin typeface="Calibri" pitchFamily="34" charset="0"/>
                <a:ea typeface="Calibri" pitchFamily="34" charset="-122"/>
                <a:cs typeface="Calibri" pitchFamily="34" charset="-120"/>
              </a:rPr>
              <a:t>Proposed timeline to action the recommendations</a:t>
            </a:r>
            <a:endParaRPr lang="en-US" sz="1200" dirty="0"/>
          </a:p>
        </p:txBody>
      </p:sp>
      <p:sp>
        <p:nvSpPr>
          <p:cNvPr id="6" name="Text 4"/>
          <p:cNvSpPr/>
          <p:nvPr/>
        </p:nvSpPr>
        <p:spPr>
          <a:xfrm>
            <a:off x="9144000" y="109728"/>
            <a:ext cx="2834640" cy="320040"/>
          </a:xfrm>
          <a:prstGeom prst="rect">
            <a:avLst/>
          </a:prstGeom>
          <a:noFill/>
          <a:ln/>
        </p:spPr>
        <p:txBody>
          <a:bodyPr wrap="square" lIns="0" tIns="0" rIns="0" bIns="0" rtlCol="0" anchor="ctr"/>
          <a:lstStyle/>
          <a:p>
            <a:pPr algn="r" indent="0" marL="0">
              <a:buNone/>
            </a:pPr>
            <a:r>
              <a:rPr lang="en-US" sz="900" dirty="0">
                <a:solidFill>
                  <a:srgbClr val="BDC3C7"/>
                </a:solidFill>
                <a:latin typeface="Calibri" pitchFamily="34" charset="0"/>
                <a:ea typeface="Calibri" pitchFamily="34" charset="-122"/>
                <a:cs typeface="Calibri" pitchFamily="34" charset="-120"/>
              </a:rPr>
              <a:t>QUANTIUM | RETAIL ANALYTICS</a:t>
            </a:r>
            <a:endParaRPr lang="en-US" sz="900" dirty="0"/>
          </a:p>
        </p:txBody>
      </p:sp>
      <p:sp>
        <p:nvSpPr>
          <p:cNvPr id="7" name="Shape 5"/>
          <p:cNvSpPr/>
          <p:nvPr/>
        </p:nvSpPr>
        <p:spPr>
          <a:xfrm>
            <a:off x="274320" y="1005840"/>
            <a:ext cx="3749040" cy="5303520"/>
          </a:xfrm>
          <a:prstGeom prst="rect">
            <a:avLst/>
          </a:prstGeom>
          <a:solidFill>
            <a:srgbClr val="FFFFFF"/>
          </a:solidFill>
          <a:ln w="12700">
            <a:solidFill>
              <a:srgbClr val="E5E8E8"/>
            </a:solidFill>
            <a:prstDash val="solid"/>
          </a:ln>
          <a:effectLst>
            <a:outerShdw sx="100000" sy="100000" kx="0" ky="0" algn="bl" rotWithShape="0" blurRad="101600" dist="38100" dir="8100000">
              <a:srgbClr val="000000">
                <a:alpha val="12000"/>
              </a:srgbClr>
            </a:outerShdw>
          </a:effectLst>
        </p:spPr>
      </p:sp>
      <p:sp>
        <p:nvSpPr>
          <p:cNvPr id="8" name="Shape 6"/>
          <p:cNvSpPr/>
          <p:nvPr/>
        </p:nvSpPr>
        <p:spPr>
          <a:xfrm>
            <a:off x="274320" y="1005840"/>
            <a:ext cx="3749040" cy="777240"/>
          </a:xfrm>
          <a:prstGeom prst="rect">
            <a:avLst/>
          </a:prstGeom>
          <a:solidFill>
            <a:srgbClr val="1B4F72"/>
          </a:solidFill>
          <a:ln w="12700">
            <a:solidFill>
              <a:srgbClr val="1B4F72"/>
            </a:solidFill>
            <a:prstDash val="solid"/>
          </a:ln>
        </p:spPr>
      </p:sp>
      <p:sp>
        <p:nvSpPr>
          <p:cNvPr id="9" name="Text 7"/>
          <p:cNvSpPr/>
          <p:nvPr/>
        </p:nvSpPr>
        <p:spPr>
          <a:xfrm>
            <a:off x="365760" y="1024128"/>
            <a:ext cx="3566160" cy="7315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IMMEDIATE</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(Weeks 1–2)</a:t>
            </a:r>
            <a:endParaRPr lang="en-US" sz="1200" dirty="0"/>
          </a:p>
        </p:txBody>
      </p:sp>
      <p:sp>
        <p:nvSpPr>
          <p:cNvPr id="10" name="Shape 8"/>
          <p:cNvSpPr/>
          <p:nvPr/>
        </p:nvSpPr>
        <p:spPr>
          <a:xfrm>
            <a:off x="457200" y="1965960"/>
            <a:ext cx="320040" cy="320040"/>
          </a:xfrm>
          <a:prstGeom prst="ellipse">
            <a:avLst/>
          </a:prstGeom>
          <a:solidFill>
            <a:srgbClr val="1B4F72"/>
          </a:solidFill>
          <a:ln w="12700">
            <a:solidFill>
              <a:srgbClr val="1B4F72"/>
            </a:solidFill>
            <a:prstDash val="solid"/>
          </a:ln>
        </p:spPr>
      </p:sp>
      <p:sp>
        <p:nvSpPr>
          <p:cNvPr id="11" name="Text 9"/>
          <p:cNvSpPr/>
          <p:nvPr/>
        </p:nvSpPr>
        <p:spPr>
          <a:xfrm>
            <a:off x="457200" y="1965960"/>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2" name="Text 10"/>
          <p:cNvSpPr/>
          <p:nvPr/>
        </p:nvSpPr>
        <p:spPr>
          <a:xfrm>
            <a:off x="868680" y="1920240"/>
            <a:ext cx="3017520" cy="1188720"/>
          </a:xfrm>
          <a:prstGeom prst="rect">
            <a:avLst/>
          </a:prstGeom>
          <a:noFill/>
          <a:ln/>
        </p:spPr>
        <p:txBody>
          <a:bodyPr wrap="square" lIns="0" tIns="0" rIns="0" bIns="0" rtlCol="0" anchor="ctr"/>
          <a:lstStyle/>
          <a:p>
            <a:pPr indent="0" marL="0">
              <a:buNone/>
            </a:pPr>
            <a:r>
              <a:rPr lang="en-US" sz="1100" dirty="0">
                <a:solidFill>
                  <a:srgbClr val="0D1B2A"/>
                </a:solidFill>
                <a:latin typeface="Calibri" pitchFamily="34" charset="0"/>
                <a:ea typeface="Calibri" pitchFamily="34" charset="-122"/>
                <a:cs typeface="Calibri" pitchFamily="34" charset="-120"/>
              </a:rPr>
              <a:t>Share findings with store operations team</a:t>
            </a:r>
            <a:endParaRPr lang="en-US" sz="1100" dirty="0"/>
          </a:p>
        </p:txBody>
      </p:sp>
      <p:sp>
        <p:nvSpPr>
          <p:cNvPr id="13" name="Shape 11"/>
          <p:cNvSpPr/>
          <p:nvPr/>
        </p:nvSpPr>
        <p:spPr>
          <a:xfrm>
            <a:off x="457200" y="3383280"/>
            <a:ext cx="320040" cy="320040"/>
          </a:xfrm>
          <a:prstGeom prst="ellipse">
            <a:avLst/>
          </a:prstGeom>
          <a:solidFill>
            <a:srgbClr val="1B4F72"/>
          </a:solidFill>
          <a:ln w="12700">
            <a:solidFill>
              <a:srgbClr val="1B4F72"/>
            </a:solidFill>
            <a:prstDash val="solid"/>
          </a:ln>
        </p:spPr>
      </p:sp>
      <p:sp>
        <p:nvSpPr>
          <p:cNvPr id="14" name="Text 12"/>
          <p:cNvSpPr/>
          <p:nvPr/>
        </p:nvSpPr>
        <p:spPr>
          <a:xfrm>
            <a:off x="457200" y="3383280"/>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5" name="Text 13"/>
          <p:cNvSpPr/>
          <p:nvPr/>
        </p:nvSpPr>
        <p:spPr>
          <a:xfrm>
            <a:off x="868680" y="3337560"/>
            <a:ext cx="3017520" cy="1188720"/>
          </a:xfrm>
          <a:prstGeom prst="rect">
            <a:avLst/>
          </a:prstGeom>
          <a:noFill/>
          <a:ln/>
        </p:spPr>
        <p:txBody>
          <a:bodyPr wrap="square" lIns="0" tIns="0" rIns="0" bIns="0" rtlCol="0" anchor="ctr"/>
          <a:lstStyle/>
          <a:p>
            <a:pPr indent="0" marL="0">
              <a:buNone/>
            </a:pPr>
            <a:r>
              <a:rPr lang="en-US" sz="1100" dirty="0">
                <a:solidFill>
                  <a:srgbClr val="0D1B2A"/>
                </a:solidFill>
                <a:latin typeface="Calibri" pitchFamily="34" charset="0"/>
                <a:ea typeface="Calibri" pitchFamily="34" charset="-122"/>
                <a:cs typeface="Calibri" pitchFamily="34" charset="-120"/>
              </a:rPr>
              <a:t>Identify stores matching Store 77/86 demographic profile</a:t>
            </a:r>
            <a:endParaRPr lang="en-US" sz="1100" dirty="0"/>
          </a:p>
        </p:txBody>
      </p:sp>
      <p:sp>
        <p:nvSpPr>
          <p:cNvPr id="16" name="Shape 14"/>
          <p:cNvSpPr/>
          <p:nvPr/>
        </p:nvSpPr>
        <p:spPr>
          <a:xfrm>
            <a:off x="457200" y="4800600"/>
            <a:ext cx="320040" cy="320040"/>
          </a:xfrm>
          <a:prstGeom prst="ellipse">
            <a:avLst/>
          </a:prstGeom>
          <a:solidFill>
            <a:srgbClr val="1B4F72"/>
          </a:solidFill>
          <a:ln w="12700">
            <a:solidFill>
              <a:srgbClr val="1B4F72"/>
            </a:solidFill>
            <a:prstDash val="solid"/>
          </a:ln>
        </p:spPr>
      </p:sp>
      <p:sp>
        <p:nvSpPr>
          <p:cNvPr id="17" name="Text 15"/>
          <p:cNvSpPr/>
          <p:nvPr/>
        </p:nvSpPr>
        <p:spPr>
          <a:xfrm>
            <a:off x="457200" y="4800600"/>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8" name="Text 16"/>
          <p:cNvSpPr/>
          <p:nvPr/>
        </p:nvSpPr>
        <p:spPr>
          <a:xfrm>
            <a:off x="868680" y="4754880"/>
            <a:ext cx="3017520" cy="1188720"/>
          </a:xfrm>
          <a:prstGeom prst="rect">
            <a:avLst/>
          </a:prstGeom>
          <a:noFill/>
          <a:ln/>
        </p:spPr>
        <p:txBody>
          <a:bodyPr wrap="square" lIns="0" tIns="0" rIns="0" bIns="0" rtlCol="0" anchor="ctr"/>
          <a:lstStyle/>
          <a:p>
            <a:pPr indent="0" marL="0">
              <a:buNone/>
            </a:pPr>
            <a:r>
              <a:rPr lang="en-US" sz="1100" dirty="0">
                <a:solidFill>
                  <a:srgbClr val="0D1B2A"/>
                </a:solidFill>
                <a:latin typeface="Calibri" pitchFamily="34" charset="0"/>
                <a:ea typeface="Calibri" pitchFamily="34" charset="-122"/>
                <a:cs typeface="Calibri" pitchFamily="34" charset="-120"/>
              </a:rPr>
              <a:t>Brief marketing team on Mainstream &amp; Budget segment opportunity</a:t>
            </a:r>
            <a:endParaRPr lang="en-US" sz="1100" dirty="0"/>
          </a:p>
        </p:txBody>
      </p:sp>
      <p:sp>
        <p:nvSpPr>
          <p:cNvPr id="19" name="Shape 17"/>
          <p:cNvSpPr/>
          <p:nvPr/>
        </p:nvSpPr>
        <p:spPr>
          <a:xfrm>
            <a:off x="4251960" y="1005840"/>
            <a:ext cx="3749040" cy="5303520"/>
          </a:xfrm>
          <a:prstGeom prst="rect">
            <a:avLst/>
          </a:prstGeom>
          <a:solidFill>
            <a:srgbClr val="FFFFFF"/>
          </a:solidFill>
          <a:ln w="12700">
            <a:solidFill>
              <a:srgbClr val="E5E8E8"/>
            </a:solidFill>
            <a:prstDash val="solid"/>
          </a:ln>
          <a:effectLst>
            <a:outerShdw sx="100000" sy="100000" kx="0" ky="0" algn="bl" rotWithShape="0" blurRad="101600" dist="38100" dir="8100000">
              <a:srgbClr val="000000">
                <a:alpha val="12000"/>
              </a:srgbClr>
            </a:outerShdw>
          </a:effectLst>
        </p:spPr>
      </p:sp>
      <p:sp>
        <p:nvSpPr>
          <p:cNvPr id="20" name="Shape 18"/>
          <p:cNvSpPr/>
          <p:nvPr/>
        </p:nvSpPr>
        <p:spPr>
          <a:xfrm>
            <a:off x="4251960" y="1005840"/>
            <a:ext cx="3749040" cy="777240"/>
          </a:xfrm>
          <a:prstGeom prst="rect">
            <a:avLst/>
          </a:prstGeom>
          <a:solidFill>
            <a:srgbClr val="148F77"/>
          </a:solidFill>
          <a:ln w="12700">
            <a:solidFill>
              <a:srgbClr val="148F77"/>
            </a:solidFill>
            <a:prstDash val="solid"/>
          </a:ln>
        </p:spPr>
      </p:sp>
      <p:sp>
        <p:nvSpPr>
          <p:cNvPr id="21" name="Text 19"/>
          <p:cNvSpPr/>
          <p:nvPr/>
        </p:nvSpPr>
        <p:spPr>
          <a:xfrm>
            <a:off x="4343400" y="1024128"/>
            <a:ext cx="3566160" cy="7315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SHORT TERM</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(Month 1–2)</a:t>
            </a:r>
            <a:endParaRPr lang="en-US" sz="1200" dirty="0"/>
          </a:p>
        </p:txBody>
      </p:sp>
      <p:sp>
        <p:nvSpPr>
          <p:cNvPr id="22" name="Shape 20"/>
          <p:cNvSpPr/>
          <p:nvPr/>
        </p:nvSpPr>
        <p:spPr>
          <a:xfrm>
            <a:off x="4434840" y="1965960"/>
            <a:ext cx="320040" cy="320040"/>
          </a:xfrm>
          <a:prstGeom prst="ellipse">
            <a:avLst/>
          </a:prstGeom>
          <a:solidFill>
            <a:srgbClr val="148F77"/>
          </a:solidFill>
          <a:ln w="12700">
            <a:solidFill>
              <a:srgbClr val="148F77"/>
            </a:solidFill>
            <a:prstDash val="solid"/>
          </a:ln>
        </p:spPr>
      </p:sp>
      <p:sp>
        <p:nvSpPr>
          <p:cNvPr id="23" name="Text 21"/>
          <p:cNvSpPr/>
          <p:nvPr/>
        </p:nvSpPr>
        <p:spPr>
          <a:xfrm>
            <a:off x="4434840" y="1965960"/>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4" name="Text 22"/>
          <p:cNvSpPr/>
          <p:nvPr/>
        </p:nvSpPr>
        <p:spPr>
          <a:xfrm>
            <a:off x="4846320" y="1920240"/>
            <a:ext cx="3017520" cy="1188720"/>
          </a:xfrm>
          <a:prstGeom prst="rect">
            <a:avLst/>
          </a:prstGeom>
          <a:noFill/>
          <a:ln/>
        </p:spPr>
        <p:txBody>
          <a:bodyPr wrap="square" lIns="0" tIns="0" rIns="0" bIns="0" rtlCol="0" anchor="ctr"/>
          <a:lstStyle/>
          <a:p>
            <a:pPr indent="0" marL="0">
              <a:buNone/>
            </a:pPr>
            <a:r>
              <a:rPr lang="en-US" sz="1100" dirty="0">
                <a:solidFill>
                  <a:srgbClr val="0D1B2A"/>
                </a:solidFill>
                <a:latin typeface="Calibri" pitchFamily="34" charset="0"/>
                <a:ea typeface="Calibri" pitchFamily="34" charset="-122"/>
                <a:cs typeface="Calibri" pitchFamily="34" charset="-120"/>
              </a:rPr>
              <a:t>Confirm rollout plan for Wave 2 trial stores</a:t>
            </a:r>
            <a:endParaRPr lang="en-US" sz="1100" dirty="0"/>
          </a:p>
        </p:txBody>
      </p:sp>
      <p:sp>
        <p:nvSpPr>
          <p:cNvPr id="25" name="Shape 23"/>
          <p:cNvSpPr/>
          <p:nvPr/>
        </p:nvSpPr>
        <p:spPr>
          <a:xfrm>
            <a:off x="4434840" y="3383280"/>
            <a:ext cx="320040" cy="320040"/>
          </a:xfrm>
          <a:prstGeom prst="ellipse">
            <a:avLst/>
          </a:prstGeom>
          <a:solidFill>
            <a:srgbClr val="148F77"/>
          </a:solidFill>
          <a:ln w="12700">
            <a:solidFill>
              <a:srgbClr val="148F77"/>
            </a:solidFill>
            <a:prstDash val="solid"/>
          </a:ln>
        </p:spPr>
      </p:sp>
      <p:sp>
        <p:nvSpPr>
          <p:cNvPr id="26" name="Text 24"/>
          <p:cNvSpPr/>
          <p:nvPr/>
        </p:nvSpPr>
        <p:spPr>
          <a:xfrm>
            <a:off x="4434840" y="3383280"/>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7" name="Text 25"/>
          <p:cNvSpPr/>
          <p:nvPr/>
        </p:nvSpPr>
        <p:spPr>
          <a:xfrm>
            <a:off x="4846320" y="3337560"/>
            <a:ext cx="3017520" cy="1188720"/>
          </a:xfrm>
          <a:prstGeom prst="rect">
            <a:avLst/>
          </a:prstGeom>
          <a:noFill/>
          <a:ln/>
        </p:spPr>
        <p:txBody>
          <a:bodyPr wrap="square" lIns="0" tIns="0" rIns="0" bIns="0" rtlCol="0" anchor="ctr"/>
          <a:lstStyle/>
          <a:p>
            <a:pPr indent="0" marL="0">
              <a:buNone/>
            </a:pPr>
            <a:r>
              <a:rPr lang="en-US" sz="1100" dirty="0">
                <a:solidFill>
                  <a:srgbClr val="0D1B2A"/>
                </a:solidFill>
                <a:latin typeface="Calibri" pitchFamily="34" charset="0"/>
                <a:ea typeface="Calibri" pitchFamily="34" charset="-122"/>
                <a:cs typeface="Calibri" pitchFamily="34" charset="-120"/>
              </a:rPr>
              <a:t>Design targeted promotion calendar for Budget &amp; Mainstream customers</a:t>
            </a:r>
            <a:endParaRPr lang="en-US" sz="1100" dirty="0"/>
          </a:p>
        </p:txBody>
      </p:sp>
      <p:sp>
        <p:nvSpPr>
          <p:cNvPr id="28" name="Shape 26"/>
          <p:cNvSpPr/>
          <p:nvPr/>
        </p:nvSpPr>
        <p:spPr>
          <a:xfrm>
            <a:off x="4434840" y="4800600"/>
            <a:ext cx="320040" cy="320040"/>
          </a:xfrm>
          <a:prstGeom prst="ellipse">
            <a:avLst/>
          </a:prstGeom>
          <a:solidFill>
            <a:srgbClr val="148F77"/>
          </a:solidFill>
          <a:ln w="12700">
            <a:solidFill>
              <a:srgbClr val="148F77"/>
            </a:solidFill>
            <a:prstDash val="solid"/>
          </a:ln>
        </p:spPr>
      </p:sp>
      <p:sp>
        <p:nvSpPr>
          <p:cNvPr id="29" name="Text 27"/>
          <p:cNvSpPr/>
          <p:nvPr/>
        </p:nvSpPr>
        <p:spPr>
          <a:xfrm>
            <a:off x="4434840" y="4800600"/>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0" name="Text 28"/>
          <p:cNvSpPr/>
          <p:nvPr/>
        </p:nvSpPr>
        <p:spPr>
          <a:xfrm>
            <a:off x="4846320" y="4754880"/>
            <a:ext cx="3017520" cy="1188720"/>
          </a:xfrm>
          <a:prstGeom prst="rect">
            <a:avLst/>
          </a:prstGeom>
          <a:noFill/>
          <a:ln/>
        </p:spPr>
        <p:txBody>
          <a:bodyPr wrap="square" lIns="0" tIns="0" rIns="0" bIns="0" rtlCol="0" anchor="ctr"/>
          <a:lstStyle/>
          <a:p>
            <a:pPr indent="0" marL="0">
              <a:buNone/>
            </a:pPr>
            <a:r>
              <a:rPr lang="en-US" sz="1100" dirty="0">
                <a:solidFill>
                  <a:srgbClr val="0D1B2A"/>
                </a:solidFill>
                <a:latin typeface="Calibri" pitchFamily="34" charset="0"/>
                <a:ea typeface="Calibri" pitchFamily="34" charset="-122"/>
                <a:cs typeface="Calibri" pitchFamily="34" charset="-120"/>
              </a:rPr>
              <a:t>Define KPIs for Wave 2 evaluation (same methodology)</a:t>
            </a:r>
            <a:endParaRPr lang="en-US" sz="1100" dirty="0"/>
          </a:p>
        </p:txBody>
      </p:sp>
      <p:sp>
        <p:nvSpPr>
          <p:cNvPr id="31" name="Shape 29"/>
          <p:cNvSpPr/>
          <p:nvPr/>
        </p:nvSpPr>
        <p:spPr>
          <a:xfrm>
            <a:off x="8229600" y="1005840"/>
            <a:ext cx="3749040" cy="5303520"/>
          </a:xfrm>
          <a:prstGeom prst="rect">
            <a:avLst/>
          </a:prstGeom>
          <a:solidFill>
            <a:srgbClr val="FFFFFF"/>
          </a:solidFill>
          <a:ln w="12700">
            <a:solidFill>
              <a:srgbClr val="E5E8E8"/>
            </a:solidFill>
            <a:prstDash val="solid"/>
          </a:ln>
          <a:effectLst>
            <a:outerShdw sx="100000" sy="100000" kx="0" ky="0" algn="bl" rotWithShape="0" blurRad="101600" dist="38100" dir="8100000">
              <a:srgbClr val="000000">
                <a:alpha val="12000"/>
              </a:srgbClr>
            </a:outerShdw>
          </a:effectLst>
        </p:spPr>
      </p:sp>
      <p:sp>
        <p:nvSpPr>
          <p:cNvPr id="32" name="Shape 30"/>
          <p:cNvSpPr/>
          <p:nvPr/>
        </p:nvSpPr>
        <p:spPr>
          <a:xfrm>
            <a:off x="8229600" y="1005840"/>
            <a:ext cx="3749040" cy="777240"/>
          </a:xfrm>
          <a:prstGeom prst="rect">
            <a:avLst/>
          </a:prstGeom>
          <a:solidFill>
            <a:srgbClr val="D4AC0D"/>
          </a:solidFill>
          <a:ln w="12700">
            <a:solidFill>
              <a:srgbClr val="D4AC0D"/>
            </a:solidFill>
            <a:prstDash val="solid"/>
          </a:ln>
        </p:spPr>
      </p:sp>
      <p:sp>
        <p:nvSpPr>
          <p:cNvPr id="33" name="Text 31"/>
          <p:cNvSpPr/>
          <p:nvPr/>
        </p:nvSpPr>
        <p:spPr>
          <a:xfrm>
            <a:off x="8321040" y="1024128"/>
            <a:ext cx="3566160" cy="7315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MEDIUM TERM</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(Month 3–6)</a:t>
            </a:r>
            <a:endParaRPr lang="en-US" sz="1200" dirty="0"/>
          </a:p>
        </p:txBody>
      </p:sp>
      <p:sp>
        <p:nvSpPr>
          <p:cNvPr id="34" name="Shape 32"/>
          <p:cNvSpPr/>
          <p:nvPr/>
        </p:nvSpPr>
        <p:spPr>
          <a:xfrm>
            <a:off x="8412480" y="1965960"/>
            <a:ext cx="320040" cy="320040"/>
          </a:xfrm>
          <a:prstGeom prst="ellipse">
            <a:avLst/>
          </a:prstGeom>
          <a:solidFill>
            <a:srgbClr val="D4AC0D"/>
          </a:solidFill>
          <a:ln w="12700">
            <a:solidFill>
              <a:srgbClr val="D4AC0D"/>
            </a:solidFill>
            <a:prstDash val="solid"/>
          </a:ln>
        </p:spPr>
      </p:sp>
      <p:sp>
        <p:nvSpPr>
          <p:cNvPr id="35" name="Text 33"/>
          <p:cNvSpPr/>
          <p:nvPr/>
        </p:nvSpPr>
        <p:spPr>
          <a:xfrm>
            <a:off x="8412480" y="1965960"/>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36" name="Text 34"/>
          <p:cNvSpPr/>
          <p:nvPr/>
        </p:nvSpPr>
        <p:spPr>
          <a:xfrm>
            <a:off x="8823960" y="1920240"/>
            <a:ext cx="3017520" cy="1188720"/>
          </a:xfrm>
          <a:prstGeom prst="rect">
            <a:avLst/>
          </a:prstGeom>
          <a:noFill/>
          <a:ln/>
        </p:spPr>
        <p:txBody>
          <a:bodyPr wrap="square" lIns="0" tIns="0" rIns="0" bIns="0" rtlCol="0" anchor="ctr"/>
          <a:lstStyle/>
          <a:p>
            <a:pPr indent="0" marL="0">
              <a:buNone/>
            </a:pPr>
            <a:r>
              <a:rPr lang="en-US" sz="1100" dirty="0">
                <a:solidFill>
                  <a:srgbClr val="0D1B2A"/>
                </a:solidFill>
                <a:latin typeface="Calibri" pitchFamily="34" charset="0"/>
                <a:ea typeface="Calibri" pitchFamily="34" charset="-122"/>
                <a:cs typeface="Calibri" pitchFamily="34" charset="-120"/>
              </a:rPr>
              <a:t>Execute Wave 2 rollout</a:t>
            </a:r>
            <a:endParaRPr lang="en-US" sz="1100" dirty="0"/>
          </a:p>
        </p:txBody>
      </p:sp>
      <p:sp>
        <p:nvSpPr>
          <p:cNvPr id="37" name="Shape 35"/>
          <p:cNvSpPr/>
          <p:nvPr/>
        </p:nvSpPr>
        <p:spPr>
          <a:xfrm>
            <a:off x="8412480" y="3383280"/>
            <a:ext cx="320040" cy="320040"/>
          </a:xfrm>
          <a:prstGeom prst="ellipse">
            <a:avLst/>
          </a:prstGeom>
          <a:solidFill>
            <a:srgbClr val="D4AC0D"/>
          </a:solidFill>
          <a:ln w="12700">
            <a:solidFill>
              <a:srgbClr val="D4AC0D"/>
            </a:solidFill>
            <a:prstDash val="solid"/>
          </a:ln>
        </p:spPr>
      </p:sp>
      <p:sp>
        <p:nvSpPr>
          <p:cNvPr id="38" name="Text 36"/>
          <p:cNvSpPr/>
          <p:nvPr/>
        </p:nvSpPr>
        <p:spPr>
          <a:xfrm>
            <a:off x="8412480" y="3383280"/>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9" name="Text 37"/>
          <p:cNvSpPr/>
          <p:nvPr/>
        </p:nvSpPr>
        <p:spPr>
          <a:xfrm>
            <a:off x="8823960" y="3337560"/>
            <a:ext cx="3017520" cy="1188720"/>
          </a:xfrm>
          <a:prstGeom prst="rect">
            <a:avLst/>
          </a:prstGeom>
          <a:noFill/>
          <a:ln/>
        </p:spPr>
        <p:txBody>
          <a:bodyPr wrap="square" lIns="0" tIns="0" rIns="0" bIns="0" rtlCol="0" anchor="ctr"/>
          <a:lstStyle/>
          <a:p>
            <a:pPr indent="0" marL="0">
              <a:buNone/>
            </a:pPr>
            <a:r>
              <a:rPr lang="en-US" sz="1100" dirty="0">
                <a:solidFill>
                  <a:srgbClr val="0D1B2A"/>
                </a:solidFill>
                <a:latin typeface="Calibri" pitchFamily="34" charset="0"/>
                <a:ea typeface="Calibri" pitchFamily="34" charset="-122"/>
                <a:cs typeface="Calibri" pitchFamily="34" charset="-120"/>
              </a:rPr>
              <a:t>Re-run Store 88 analysis with extended data or improved control</a:t>
            </a:r>
            <a:endParaRPr lang="en-US" sz="1100" dirty="0"/>
          </a:p>
        </p:txBody>
      </p:sp>
      <p:sp>
        <p:nvSpPr>
          <p:cNvPr id="40" name="Shape 38"/>
          <p:cNvSpPr/>
          <p:nvPr/>
        </p:nvSpPr>
        <p:spPr>
          <a:xfrm>
            <a:off x="8412480" y="4800600"/>
            <a:ext cx="320040" cy="320040"/>
          </a:xfrm>
          <a:prstGeom prst="ellipse">
            <a:avLst/>
          </a:prstGeom>
          <a:solidFill>
            <a:srgbClr val="D4AC0D"/>
          </a:solidFill>
          <a:ln w="12700">
            <a:solidFill>
              <a:srgbClr val="D4AC0D"/>
            </a:solidFill>
            <a:prstDash val="solid"/>
          </a:ln>
        </p:spPr>
      </p:sp>
      <p:sp>
        <p:nvSpPr>
          <p:cNvPr id="41" name="Text 39"/>
          <p:cNvSpPr/>
          <p:nvPr/>
        </p:nvSpPr>
        <p:spPr>
          <a:xfrm>
            <a:off x="8412480" y="4800600"/>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2" name="Text 40"/>
          <p:cNvSpPr/>
          <p:nvPr/>
        </p:nvSpPr>
        <p:spPr>
          <a:xfrm>
            <a:off x="8823960" y="4754880"/>
            <a:ext cx="3017520" cy="1188720"/>
          </a:xfrm>
          <a:prstGeom prst="rect">
            <a:avLst/>
          </a:prstGeom>
          <a:noFill/>
          <a:ln/>
        </p:spPr>
        <p:txBody>
          <a:bodyPr wrap="square" lIns="0" tIns="0" rIns="0" bIns="0" rtlCol="0" anchor="ctr"/>
          <a:lstStyle/>
          <a:p>
            <a:pPr indent="0" marL="0">
              <a:buNone/>
            </a:pPr>
            <a:r>
              <a:rPr lang="en-US" sz="1100" dirty="0">
                <a:solidFill>
                  <a:srgbClr val="0D1B2A"/>
                </a:solidFill>
                <a:latin typeface="Calibri" pitchFamily="34" charset="0"/>
                <a:ea typeface="Calibri" pitchFamily="34" charset="-122"/>
                <a:cs typeface="Calibri" pitchFamily="34" charset="-120"/>
              </a:rPr>
              <a:t>Report back to Julia at mid-half-year review with updated metrics</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D4AC0D"/>
          </a:solidFill>
          <a:ln w="12700">
            <a:solidFill>
              <a:srgbClr val="D4AC0D"/>
            </a:solidFill>
            <a:prstDash val="solid"/>
          </a:ln>
        </p:spPr>
      </p:sp>
      <p:sp>
        <p:nvSpPr>
          <p:cNvPr id="3" name="Shape 1"/>
          <p:cNvSpPr/>
          <p:nvPr/>
        </p:nvSpPr>
        <p:spPr>
          <a:xfrm>
            <a:off x="164592" y="3291840"/>
            <a:ext cx="11996928" cy="54864"/>
          </a:xfrm>
          <a:prstGeom prst="rect">
            <a:avLst/>
          </a:prstGeom>
          <a:solidFill>
            <a:srgbClr val="148F77"/>
          </a:solidFill>
          <a:ln w="12700">
            <a:solidFill>
              <a:srgbClr val="148F77"/>
            </a:solidFill>
            <a:prstDash val="solid"/>
          </a:ln>
        </p:spPr>
      </p:sp>
      <p:sp>
        <p:nvSpPr>
          <p:cNvPr id="4" name="Text 2"/>
          <p:cNvSpPr/>
          <p:nvPr/>
        </p:nvSpPr>
        <p:spPr>
          <a:xfrm>
            <a:off x="914400" y="1280160"/>
            <a:ext cx="10058400" cy="1097280"/>
          </a:xfrm>
          <a:prstGeom prst="rect">
            <a:avLst/>
          </a:prstGeom>
          <a:noFill/>
          <a:ln/>
        </p:spPr>
        <p:txBody>
          <a:bodyPr wrap="square" rtlCol="0" anchor="ctr"/>
          <a:lstStyle/>
          <a:p>
            <a:pPr indent="0" marL="0">
              <a:buNone/>
            </a:pPr>
            <a:r>
              <a:rPr lang="en-US" sz="5200" b="1" dirty="0">
                <a:solidFill>
                  <a:srgbClr val="FFFFFF"/>
                </a:solidFill>
                <a:latin typeface="Calibri" pitchFamily="34" charset="0"/>
                <a:ea typeface="Calibri" pitchFamily="34" charset="-122"/>
                <a:cs typeface="Calibri" pitchFamily="34" charset="-120"/>
              </a:rPr>
              <a:t>Thank You</a:t>
            </a:r>
            <a:endParaRPr lang="en-US" sz="5200" dirty="0"/>
          </a:p>
        </p:txBody>
      </p:sp>
      <p:sp>
        <p:nvSpPr>
          <p:cNvPr id="5" name="Text 3"/>
          <p:cNvSpPr/>
          <p:nvPr/>
        </p:nvSpPr>
        <p:spPr>
          <a:xfrm>
            <a:off x="914400" y="2514600"/>
            <a:ext cx="8229600" cy="822960"/>
          </a:xfrm>
          <a:prstGeom prst="rect">
            <a:avLst/>
          </a:prstGeom>
          <a:noFill/>
          <a:ln/>
        </p:spPr>
        <p:txBody>
          <a:bodyPr wrap="square" rtlCol="0" anchor="ctr"/>
          <a:lstStyle/>
          <a:p>
            <a:pPr indent="0" marL="0">
              <a:buNone/>
            </a:pPr>
            <a:r>
              <a:rPr lang="en-US" sz="1600" i="1" dirty="0">
                <a:solidFill>
                  <a:srgbClr val="A9CCE3"/>
                </a:solidFill>
                <a:latin typeface="Calibri" pitchFamily="34" charset="0"/>
                <a:ea typeface="Calibri" pitchFamily="34" charset="-122"/>
                <a:cs typeface="Calibri" pitchFamily="34" charset="-120"/>
              </a:rPr>
              <a:t>We look forward to discussing these findings and supporting Julia's strategic plan for the chips category.</a:t>
            </a:r>
            <a:endParaRPr lang="en-US" sz="1600" dirty="0"/>
          </a:p>
        </p:txBody>
      </p:sp>
      <p:sp>
        <p:nvSpPr>
          <p:cNvPr id="6" name="Shape 4"/>
          <p:cNvSpPr/>
          <p:nvPr/>
        </p:nvSpPr>
        <p:spPr>
          <a:xfrm>
            <a:off x="914400" y="3429000"/>
            <a:ext cx="8229600" cy="0"/>
          </a:xfrm>
          <a:prstGeom prst="line">
            <a:avLst/>
          </a:prstGeom>
          <a:noFill/>
          <a:ln w="12700">
            <a:solidFill>
              <a:srgbClr val="D4AC0D"/>
            </a:solidFill>
            <a:prstDash val="solid"/>
          </a:ln>
        </p:spPr>
      </p:sp>
      <p:sp>
        <p:nvSpPr>
          <p:cNvPr id="7" name="Text 5"/>
          <p:cNvSpPr/>
          <p:nvPr/>
        </p:nvSpPr>
        <p:spPr>
          <a:xfrm>
            <a:off x="914400" y="3611880"/>
            <a:ext cx="8229600" cy="365760"/>
          </a:xfrm>
          <a:prstGeom prst="rect">
            <a:avLst/>
          </a:prstGeom>
          <a:noFill/>
          <a:ln/>
        </p:spPr>
        <p:txBody>
          <a:bodyPr wrap="square" rtlCol="0" anchor="ctr"/>
          <a:lstStyle/>
          <a:p>
            <a:pPr indent="0" marL="0">
              <a:buNone/>
            </a:pPr>
            <a:r>
              <a:rPr lang="en-US" sz="1300" b="1" dirty="0">
                <a:solidFill>
                  <a:srgbClr val="BDC3C7"/>
                </a:solidFill>
                <a:latin typeface="Calibri" pitchFamily="34" charset="0"/>
                <a:ea typeface="Calibri" pitchFamily="34" charset="-122"/>
                <a:cs typeface="Calibri" pitchFamily="34" charset="-120"/>
              </a:rPr>
              <a:t>Team: </a:t>
            </a:r>
            <a:pPr indent="0" marL="0">
              <a:buNone/>
            </a:pPr>
            <a:r>
              <a:rPr lang="en-US" sz="1300" dirty="0">
                <a:solidFill>
                  <a:srgbClr val="FFFFFF"/>
                </a:solidFill>
                <a:latin typeface="Calibri" pitchFamily="34" charset="0"/>
                <a:ea typeface="Calibri" pitchFamily="34" charset="-122"/>
                <a:cs typeface="Calibri" pitchFamily="34" charset="-120"/>
              </a:rPr>
              <a:t>Quantium Retail Analytics</a:t>
            </a:r>
            <a:endParaRPr lang="en-US" sz="1300" dirty="0"/>
          </a:p>
        </p:txBody>
      </p:sp>
      <p:sp>
        <p:nvSpPr>
          <p:cNvPr id="8" name="Text 6"/>
          <p:cNvSpPr/>
          <p:nvPr/>
        </p:nvSpPr>
        <p:spPr>
          <a:xfrm>
            <a:off x="914400" y="4069080"/>
            <a:ext cx="8229600" cy="365760"/>
          </a:xfrm>
          <a:prstGeom prst="rect">
            <a:avLst/>
          </a:prstGeom>
          <a:noFill/>
          <a:ln/>
        </p:spPr>
        <p:txBody>
          <a:bodyPr wrap="square" rtlCol="0" anchor="ctr"/>
          <a:lstStyle/>
          <a:p>
            <a:pPr indent="0" marL="0">
              <a:buNone/>
            </a:pPr>
            <a:r>
              <a:rPr lang="en-US" sz="1300" b="1" dirty="0">
                <a:solidFill>
                  <a:srgbClr val="BDC3C7"/>
                </a:solidFill>
                <a:latin typeface="Calibri" pitchFamily="34" charset="0"/>
                <a:ea typeface="Calibri" pitchFamily="34" charset="-122"/>
                <a:cs typeface="Calibri" pitchFamily="34" charset="-120"/>
              </a:rPr>
              <a:t>Project: </a:t>
            </a:r>
            <a:pPr indent="0" marL="0">
              <a:buNone/>
            </a:pPr>
            <a:r>
              <a:rPr lang="en-US" sz="1300" dirty="0">
                <a:solidFill>
                  <a:srgbClr val="FFFFFF"/>
                </a:solidFill>
                <a:latin typeface="Calibri" pitchFamily="34" charset="0"/>
                <a:ea typeface="Calibri" pitchFamily="34" charset="-122"/>
                <a:cs typeface="Calibri" pitchFamily="34" charset="-120"/>
              </a:rPr>
              <a:t>QVI Chips Category Review — Tasks 1, 2 &amp; 3</a:t>
            </a:r>
            <a:endParaRPr lang="en-US" sz="1300" dirty="0"/>
          </a:p>
        </p:txBody>
      </p:sp>
      <p:sp>
        <p:nvSpPr>
          <p:cNvPr id="9" name="Text 7"/>
          <p:cNvSpPr/>
          <p:nvPr/>
        </p:nvSpPr>
        <p:spPr>
          <a:xfrm>
            <a:off x="914400" y="4526280"/>
            <a:ext cx="8229600" cy="365760"/>
          </a:xfrm>
          <a:prstGeom prst="rect">
            <a:avLst/>
          </a:prstGeom>
          <a:noFill/>
          <a:ln/>
        </p:spPr>
        <p:txBody>
          <a:bodyPr wrap="square" rtlCol="0" anchor="ctr"/>
          <a:lstStyle/>
          <a:p>
            <a:pPr indent="0" marL="0">
              <a:buNone/>
            </a:pPr>
            <a:r>
              <a:rPr lang="en-US" sz="1300" b="1" dirty="0">
                <a:solidFill>
                  <a:srgbClr val="BDC3C7"/>
                </a:solidFill>
                <a:latin typeface="Calibri" pitchFamily="34" charset="0"/>
                <a:ea typeface="Calibri" pitchFamily="34" charset="-122"/>
                <a:cs typeface="Calibri" pitchFamily="34" charset="-120"/>
              </a:rPr>
              <a:t>Date: </a:t>
            </a:r>
            <a:pPr indent="0" marL="0">
              <a:buNone/>
            </a:pPr>
            <a:r>
              <a:rPr lang="en-US" sz="1300" dirty="0">
                <a:solidFill>
                  <a:srgbClr val="FFFFFF"/>
                </a:solidFill>
                <a:latin typeface="Calibri" pitchFamily="34" charset="0"/>
                <a:ea typeface="Calibri" pitchFamily="34" charset="-122"/>
                <a:cs typeface="Calibri" pitchFamily="34" charset="-120"/>
              </a:rPr>
              <a:t>March 2026</a:t>
            </a:r>
            <a:endParaRPr lang="en-US" sz="1300" dirty="0"/>
          </a:p>
        </p:txBody>
      </p:sp>
      <p:sp>
        <p:nvSpPr>
          <p:cNvPr id="10" name="Text 8"/>
          <p:cNvSpPr/>
          <p:nvPr/>
        </p:nvSpPr>
        <p:spPr>
          <a:xfrm>
            <a:off x="914400" y="6309360"/>
            <a:ext cx="5486400" cy="320040"/>
          </a:xfrm>
          <a:prstGeom prst="rect">
            <a:avLst/>
          </a:prstGeom>
          <a:noFill/>
          <a:ln/>
        </p:spPr>
        <p:txBody>
          <a:bodyPr wrap="square" rtlCol="0" anchor="ctr"/>
          <a:lstStyle/>
          <a:p>
            <a:pPr indent="0" marL="0">
              <a:buNone/>
            </a:pPr>
            <a:r>
              <a:rPr lang="en-US" sz="900" spc="200" kern="0" dirty="0">
                <a:solidFill>
                  <a:srgbClr val="BDC3C7"/>
                </a:solidFill>
                <a:latin typeface="Calibri" pitchFamily="34" charset="0"/>
                <a:ea typeface="Calibri" pitchFamily="34" charset="-122"/>
                <a:cs typeface="Calibri" pitchFamily="34" charset="-120"/>
              </a:rPr>
              <a:t>CONFIDENTIAL | For internal use only</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2026-03-01T15:29:56Z</dcterms:created>
  <dcterms:modified xsi:type="dcterms:W3CDTF">2026-03-01T15:29:56Z</dcterms:modified>
</cp:coreProperties>
</file>